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  <p:sldId id="511" r:id="rId258"/>
    <p:sldId id="512" r:id="rId259"/>
    <p:sldId id="513" r:id="rId260"/>
    <p:sldId id="514" r:id="rId261"/>
    <p:sldId id="515" r:id="rId262"/>
    <p:sldId id="516" r:id="rId263"/>
    <p:sldId id="517" r:id="rId264"/>
    <p:sldId id="518" r:id="rId265"/>
    <p:sldId id="519" r:id="rId266"/>
    <p:sldId id="520" r:id="rId267"/>
    <p:sldId id="521" r:id="rId268"/>
    <p:sldId id="522" r:id="rId269"/>
    <p:sldId id="523" r:id="rId270"/>
    <p:sldId id="524" r:id="rId271"/>
    <p:sldId id="525" r:id="rId272"/>
    <p:sldId id="526" r:id="rId273"/>
    <p:sldId id="527" r:id="rId274"/>
    <p:sldId id="528" r:id="rId275"/>
    <p:sldId id="529" r:id="rId276"/>
    <p:sldId id="530" r:id="rId277"/>
    <p:sldId id="531" r:id="rId278"/>
    <p:sldId id="532" r:id="rId279"/>
    <p:sldId id="533" r:id="rId280"/>
    <p:sldId id="534" r:id="rId281"/>
    <p:sldId id="535" r:id="rId282"/>
    <p:sldId id="536" r:id="rId283"/>
    <p:sldId id="537" r:id="rId284"/>
    <p:sldId id="538" r:id="rId285"/>
    <p:sldId id="539" r:id="rId286"/>
    <p:sldId id="540" r:id="rId287"/>
    <p:sldId id="541" r:id="rId288"/>
    <p:sldId id="542" r:id="rId289"/>
    <p:sldId id="543" r:id="rId290"/>
    <p:sldId id="544" r:id="rId291"/>
    <p:sldId id="545" r:id="rId292"/>
    <p:sldId id="546" r:id="rId293"/>
    <p:sldId id="547" r:id="rId294"/>
    <p:sldId id="548" r:id="rId295"/>
    <p:sldId id="549" r:id="rId296"/>
    <p:sldId id="550" r:id="rId297"/>
    <p:sldId id="551" r:id="rId298"/>
    <p:sldId id="552" r:id="rId299"/>
    <p:sldId id="553" r:id="rId300"/>
    <p:sldId id="554" r:id="rId301"/>
    <p:sldId id="555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568" r:id="rId315"/>
    <p:sldId id="569" r:id="rId316"/>
    <p:sldId id="570" r:id="rId317"/>
    <p:sldId id="571" r:id="rId318"/>
    <p:sldId id="572" r:id="rId319"/>
    <p:sldId id="573" r:id="rId320"/>
    <p:sldId id="574" r:id="rId321"/>
    <p:sldId id="575" r:id="rId322"/>
    <p:sldId id="576" r:id="rId323"/>
    <p:sldId id="577" r:id="rId324"/>
    <p:sldId id="578" r:id="rId325"/>
    <p:sldId id="579" r:id="rId326"/>
    <p:sldId id="580" r:id="rId327"/>
    <p:sldId id="581" r:id="rId328"/>
    <p:sldId id="582" r:id="rId329"/>
    <p:sldId id="583" r:id="rId330"/>
    <p:sldId id="584" r:id="rId331"/>
    <p:sldId id="585" r:id="rId332"/>
    <p:sldId id="586" r:id="rId333"/>
    <p:sldId id="587" r:id="rId334"/>
    <p:sldId id="588" r:id="rId335"/>
    <p:sldId id="589" r:id="rId336"/>
    <p:sldId id="590" r:id="rId337"/>
    <p:sldId id="591" r:id="rId338"/>
    <p:sldId id="592" r:id="rId339"/>
    <p:sldId id="593" r:id="rId340"/>
    <p:sldId id="594" r:id="rId341"/>
    <p:sldId id="595" r:id="rId342"/>
    <p:sldId id="596" r:id="rId343"/>
    <p:sldId id="597" r:id="rId344"/>
    <p:sldId id="598" r:id="rId345"/>
    <p:sldId id="599" r:id="rId346"/>
    <p:sldId id="600" r:id="rId347"/>
    <p:sldId id="601" r:id="rId348"/>
    <p:sldId id="602" r:id="rId349"/>
    <p:sldId id="603" r:id="rId350"/>
    <p:sldId id="604" r:id="rId351"/>
    <p:sldId id="605" r:id="rId352"/>
    <p:sldId id="606" r:id="rId353"/>
    <p:sldId id="607" r:id="rId354"/>
    <p:sldId id="608" r:id="rId355"/>
    <p:sldId id="609" r:id="rId356"/>
    <p:sldId id="610" r:id="rId357"/>
    <p:sldId id="611" r:id="rId358"/>
    <p:sldId id="612" r:id="rId359"/>
    <p:sldId id="613" r:id="rId36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Relationship Id="rId150" Type="http://schemas.openxmlformats.org/officeDocument/2006/relationships/slide" Target="slides/slide148.xml"/><Relationship Id="rId151" Type="http://schemas.openxmlformats.org/officeDocument/2006/relationships/slide" Target="slides/slide149.xml"/><Relationship Id="rId152" Type="http://schemas.openxmlformats.org/officeDocument/2006/relationships/slide" Target="slides/slide150.xml"/><Relationship Id="rId153" Type="http://schemas.openxmlformats.org/officeDocument/2006/relationships/slide" Target="slides/slide151.xml"/><Relationship Id="rId154" Type="http://schemas.openxmlformats.org/officeDocument/2006/relationships/slide" Target="slides/slide152.xml"/><Relationship Id="rId155" Type="http://schemas.openxmlformats.org/officeDocument/2006/relationships/slide" Target="slides/slide153.xml"/><Relationship Id="rId156" Type="http://schemas.openxmlformats.org/officeDocument/2006/relationships/slide" Target="slides/slide154.xml"/><Relationship Id="rId157" Type="http://schemas.openxmlformats.org/officeDocument/2006/relationships/slide" Target="slides/slide155.xml"/><Relationship Id="rId158" Type="http://schemas.openxmlformats.org/officeDocument/2006/relationships/slide" Target="slides/slide156.xml"/><Relationship Id="rId159" Type="http://schemas.openxmlformats.org/officeDocument/2006/relationships/slide" Target="slides/slide157.xml"/><Relationship Id="rId160" Type="http://schemas.openxmlformats.org/officeDocument/2006/relationships/slide" Target="slides/slide158.xml"/><Relationship Id="rId161" Type="http://schemas.openxmlformats.org/officeDocument/2006/relationships/slide" Target="slides/slide159.xml"/><Relationship Id="rId162" Type="http://schemas.openxmlformats.org/officeDocument/2006/relationships/slide" Target="slides/slide160.xml"/><Relationship Id="rId163" Type="http://schemas.openxmlformats.org/officeDocument/2006/relationships/slide" Target="slides/slide161.xml"/><Relationship Id="rId164" Type="http://schemas.openxmlformats.org/officeDocument/2006/relationships/slide" Target="slides/slide162.xml"/><Relationship Id="rId165" Type="http://schemas.openxmlformats.org/officeDocument/2006/relationships/slide" Target="slides/slide163.xml"/><Relationship Id="rId166" Type="http://schemas.openxmlformats.org/officeDocument/2006/relationships/slide" Target="slides/slide164.xml"/><Relationship Id="rId167" Type="http://schemas.openxmlformats.org/officeDocument/2006/relationships/slide" Target="slides/slide165.xml"/><Relationship Id="rId168" Type="http://schemas.openxmlformats.org/officeDocument/2006/relationships/slide" Target="slides/slide166.xml"/><Relationship Id="rId169" Type="http://schemas.openxmlformats.org/officeDocument/2006/relationships/slide" Target="slides/slide167.xml"/><Relationship Id="rId170" Type="http://schemas.openxmlformats.org/officeDocument/2006/relationships/slide" Target="slides/slide168.xml"/><Relationship Id="rId171" Type="http://schemas.openxmlformats.org/officeDocument/2006/relationships/slide" Target="slides/slide169.xml"/><Relationship Id="rId172" Type="http://schemas.openxmlformats.org/officeDocument/2006/relationships/slide" Target="slides/slide170.xml"/><Relationship Id="rId173" Type="http://schemas.openxmlformats.org/officeDocument/2006/relationships/slide" Target="slides/slide171.xml"/><Relationship Id="rId174" Type="http://schemas.openxmlformats.org/officeDocument/2006/relationships/slide" Target="slides/slide172.xml"/><Relationship Id="rId175" Type="http://schemas.openxmlformats.org/officeDocument/2006/relationships/slide" Target="slides/slide173.xml"/><Relationship Id="rId176" Type="http://schemas.openxmlformats.org/officeDocument/2006/relationships/slide" Target="slides/slide174.xml"/><Relationship Id="rId177" Type="http://schemas.openxmlformats.org/officeDocument/2006/relationships/slide" Target="slides/slide175.xml"/><Relationship Id="rId178" Type="http://schemas.openxmlformats.org/officeDocument/2006/relationships/slide" Target="slides/slide176.xml"/><Relationship Id="rId179" Type="http://schemas.openxmlformats.org/officeDocument/2006/relationships/slide" Target="slides/slide177.xml"/><Relationship Id="rId180" Type="http://schemas.openxmlformats.org/officeDocument/2006/relationships/slide" Target="slides/slide178.xml"/><Relationship Id="rId181" Type="http://schemas.openxmlformats.org/officeDocument/2006/relationships/slide" Target="slides/slide179.xml"/><Relationship Id="rId182" Type="http://schemas.openxmlformats.org/officeDocument/2006/relationships/slide" Target="slides/slide180.xml"/><Relationship Id="rId183" Type="http://schemas.openxmlformats.org/officeDocument/2006/relationships/slide" Target="slides/slide181.xml"/><Relationship Id="rId184" Type="http://schemas.openxmlformats.org/officeDocument/2006/relationships/slide" Target="slides/slide182.xml"/><Relationship Id="rId185" Type="http://schemas.openxmlformats.org/officeDocument/2006/relationships/slide" Target="slides/slide183.xml"/><Relationship Id="rId186" Type="http://schemas.openxmlformats.org/officeDocument/2006/relationships/slide" Target="slides/slide184.xml"/><Relationship Id="rId187" Type="http://schemas.openxmlformats.org/officeDocument/2006/relationships/slide" Target="slides/slide185.xml"/><Relationship Id="rId188" Type="http://schemas.openxmlformats.org/officeDocument/2006/relationships/slide" Target="slides/slide186.xml"/><Relationship Id="rId189" Type="http://schemas.openxmlformats.org/officeDocument/2006/relationships/slide" Target="slides/slide187.xml"/><Relationship Id="rId190" Type="http://schemas.openxmlformats.org/officeDocument/2006/relationships/slide" Target="slides/slide188.xml"/><Relationship Id="rId191" Type="http://schemas.openxmlformats.org/officeDocument/2006/relationships/slide" Target="slides/slide189.xml"/><Relationship Id="rId192" Type="http://schemas.openxmlformats.org/officeDocument/2006/relationships/slide" Target="slides/slide190.xml"/><Relationship Id="rId193" Type="http://schemas.openxmlformats.org/officeDocument/2006/relationships/slide" Target="slides/slide191.xml"/><Relationship Id="rId194" Type="http://schemas.openxmlformats.org/officeDocument/2006/relationships/slide" Target="slides/slide192.xml"/><Relationship Id="rId195" Type="http://schemas.openxmlformats.org/officeDocument/2006/relationships/slide" Target="slides/slide193.xml"/><Relationship Id="rId196" Type="http://schemas.openxmlformats.org/officeDocument/2006/relationships/slide" Target="slides/slide194.xml"/><Relationship Id="rId197" Type="http://schemas.openxmlformats.org/officeDocument/2006/relationships/slide" Target="slides/slide195.xml"/><Relationship Id="rId198" Type="http://schemas.openxmlformats.org/officeDocument/2006/relationships/slide" Target="slides/slide196.xml"/><Relationship Id="rId199" Type="http://schemas.openxmlformats.org/officeDocument/2006/relationships/slide" Target="slides/slide197.xml"/><Relationship Id="rId200" Type="http://schemas.openxmlformats.org/officeDocument/2006/relationships/slide" Target="slides/slide198.xml"/><Relationship Id="rId201" Type="http://schemas.openxmlformats.org/officeDocument/2006/relationships/slide" Target="slides/slide199.xml"/><Relationship Id="rId202" Type="http://schemas.openxmlformats.org/officeDocument/2006/relationships/slide" Target="slides/slide200.xml"/><Relationship Id="rId203" Type="http://schemas.openxmlformats.org/officeDocument/2006/relationships/slide" Target="slides/slide201.xml"/><Relationship Id="rId204" Type="http://schemas.openxmlformats.org/officeDocument/2006/relationships/slide" Target="slides/slide202.xml"/><Relationship Id="rId205" Type="http://schemas.openxmlformats.org/officeDocument/2006/relationships/slide" Target="slides/slide203.xml"/><Relationship Id="rId206" Type="http://schemas.openxmlformats.org/officeDocument/2006/relationships/slide" Target="slides/slide204.xml"/><Relationship Id="rId207" Type="http://schemas.openxmlformats.org/officeDocument/2006/relationships/slide" Target="slides/slide205.xml"/><Relationship Id="rId208" Type="http://schemas.openxmlformats.org/officeDocument/2006/relationships/slide" Target="slides/slide206.xml"/><Relationship Id="rId209" Type="http://schemas.openxmlformats.org/officeDocument/2006/relationships/slide" Target="slides/slide207.xml"/><Relationship Id="rId210" Type="http://schemas.openxmlformats.org/officeDocument/2006/relationships/slide" Target="slides/slide208.xml"/><Relationship Id="rId211" Type="http://schemas.openxmlformats.org/officeDocument/2006/relationships/slide" Target="slides/slide209.xml"/><Relationship Id="rId212" Type="http://schemas.openxmlformats.org/officeDocument/2006/relationships/slide" Target="slides/slide210.xml"/><Relationship Id="rId213" Type="http://schemas.openxmlformats.org/officeDocument/2006/relationships/slide" Target="slides/slide211.xml"/><Relationship Id="rId214" Type="http://schemas.openxmlformats.org/officeDocument/2006/relationships/slide" Target="slides/slide212.xml"/><Relationship Id="rId215" Type="http://schemas.openxmlformats.org/officeDocument/2006/relationships/slide" Target="slides/slide213.xml"/><Relationship Id="rId216" Type="http://schemas.openxmlformats.org/officeDocument/2006/relationships/slide" Target="slides/slide214.xml"/><Relationship Id="rId217" Type="http://schemas.openxmlformats.org/officeDocument/2006/relationships/slide" Target="slides/slide215.xml"/><Relationship Id="rId218" Type="http://schemas.openxmlformats.org/officeDocument/2006/relationships/slide" Target="slides/slide216.xml"/><Relationship Id="rId219" Type="http://schemas.openxmlformats.org/officeDocument/2006/relationships/slide" Target="slides/slide217.xml"/><Relationship Id="rId220" Type="http://schemas.openxmlformats.org/officeDocument/2006/relationships/slide" Target="slides/slide218.xml"/><Relationship Id="rId221" Type="http://schemas.openxmlformats.org/officeDocument/2006/relationships/slide" Target="slides/slide219.xml"/><Relationship Id="rId222" Type="http://schemas.openxmlformats.org/officeDocument/2006/relationships/slide" Target="slides/slide220.xml"/><Relationship Id="rId223" Type="http://schemas.openxmlformats.org/officeDocument/2006/relationships/slide" Target="slides/slide221.xml"/><Relationship Id="rId224" Type="http://schemas.openxmlformats.org/officeDocument/2006/relationships/slide" Target="slides/slide222.xml"/><Relationship Id="rId225" Type="http://schemas.openxmlformats.org/officeDocument/2006/relationships/slide" Target="slides/slide223.xml"/><Relationship Id="rId226" Type="http://schemas.openxmlformats.org/officeDocument/2006/relationships/slide" Target="slides/slide224.xml"/><Relationship Id="rId227" Type="http://schemas.openxmlformats.org/officeDocument/2006/relationships/slide" Target="slides/slide225.xml"/><Relationship Id="rId228" Type="http://schemas.openxmlformats.org/officeDocument/2006/relationships/slide" Target="slides/slide226.xml"/><Relationship Id="rId229" Type="http://schemas.openxmlformats.org/officeDocument/2006/relationships/slide" Target="slides/slide227.xml"/><Relationship Id="rId230" Type="http://schemas.openxmlformats.org/officeDocument/2006/relationships/slide" Target="slides/slide228.xml"/><Relationship Id="rId231" Type="http://schemas.openxmlformats.org/officeDocument/2006/relationships/slide" Target="slides/slide229.xml"/><Relationship Id="rId232" Type="http://schemas.openxmlformats.org/officeDocument/2006/relationships/slide" Target="slides/slide230.xml"/><Relationship Id="rId233" Type="http://schemas.openxmlformats.org/officeDocument/2006/relationships/slide" Target="slides/slide231.xml"/><Relationship Id="rId234" Type="http://schemas.openxmlformats.org/officeDocument/2006/relationships/slide" Target="slides/slide232.xml"/><Relationship Id="rId235" Type="http://schemas.openxmlformats.org/officeDocument/2006/relationships/slide" Target="slides/slide233.xml"/><Relationship Id="rId236" Type="http://schemas.openxmlformats.org/officeDocument/2006/relationships/slide" Target="slides/slide234.xml"/><Relationship Id="rId237" Type="http://schemas.openxmlformats.org/officeDocument/2006/relationships/slide" Target="slides/slide235.xml"/><Relationship Id="rId238" Type="http://schemas.openxmlformats.org/officeDocument/2006/relationships/slide" Target="slides/slide236.xml"/><Relationship Id="rId239" Type="http://schemas.openxmlformats.org/officeDocument/2006/relationships/slide" Target="slides/slide237.xml"/><Relationship Id="rId240" Type="http://schemas.openxmlformats.org/officeDocument/2006/relationships/slide" Target="slides/slide238.xml"/><Relationship Id="rId241" Type="http://schemas.openxmlformats.org/officeDocument/2006/relationships/slide" Target="slides/slide239.xml"/><Relationship Id="rId242" Type="http://schemas.openxmlformats.org/officeDocument/2006/relationships/slide" Target="slides/slide240.xml"/><Relationship Id="rId243" Type="http://schemas.openxmlformats.org/officeDocument/2006/relationships/slide" Target="slides/slide241.xml"/><Relationship Id="rId244" Type="http://schemas.openxmlformats.org/officeDocument/2006/relationships/slide" Target="slides/slide242.xml"/><Relationship Id="rId245" Type="http://schemas.openxmlformats.org/officeDocument/2006/relationships/slide" Target="slides/slide243.xml"/><Relationship Id="rId246" Type="http://schemas.openxmlformats.org/officeDocument/2006/relationships/slide" Target="slides/slide244.xml"/><Relationship Id="rId247" Type="http://schemas.openxmlformats.org/officeDocument/2006/relationships/slide" Target="slides/slide245.xml"/><Relationship Id="rId248" Type="http://schemas.openxmlformats.org/officeDocument/2006/relationships/slide" Target="slides/slide246.xml"/><Relationship Id="rId249" Type="http://schemas.openxmlformats.org/officeDocument/2006/relationships/slide" Target="slides/slide247.xml"/><Relationship Id="rId250" Type="http://schemas.openxmlformats.org/officeDocument/2006/relationships/slide" Target="slides/slide248.xml"/><Relationship Id="rId251" Type="http://schemas.openxmlformats.org/officeDocument/2006/relationships/slide" Target="slides/slide249.xml"/><Relationship Id="rId252" Type="http://schemas.openxmlformats.org/officeDocument/2006/relationships/slide" Target="slides/slide250.xml"/><Relationship Id="rId253" Type="http://schemas.openxmlformats.org/officeDocument/2006/relationships/slide" Target="slides/slide251.xml"/><Relationship Id="rId254" Type="http://schemas.openxmlformats.org/officeDocument/2006/relationships/slide" Target="slides/slide252.xml"/><Relationship Id="rId255" Type="http://schemas.openxmlformats.org/officeDocument/2006/relationships/slide" Target="slides/slide253.xml"/><Relationship Id="rId256" Type="http://schemas.openxmlformats.org/officeDocument/2006/relationships/slide" Target="slides/slide254.xml"/><Relationship Id="rId257" Type="http://schemas.openxmlformats.org/officeDocument/2006/relationships/slide" Target="slides/slide255.xml"/><Relationship Id="rId258" Type="http://schemas.openxmlformats.org/officeDocument/2006/relationships/slide" Target="slides/slide256.xml"/><Relationship Id="rId259" Type="http://schemas.openxmlformats.org/officeDocument/2006/relationships/slide" Target="slides/slide257.xml"/><Relationship Id="rId260" Type="http://schemas.openxmlformats.org/officeDocument/2006/relationships/slide" Target="slides/slide258.xml"/><Relationship Id="rId261" Type="http://schemas.openxmlformats.org/officeDocument/2006/relationships/slide" Target="slides/slide259.xml"/><Relationship Id="rId262" Type="http://schemas.openxmlformats.org/officeDocument/2006/relationships/slide" Target="slides/slide260.xml"/><Relationship Id="rId263" Type="http://schemas.openxmlformats.org/officeDocument/2006/relationships/slide" Target="slides/slide261.xml"/><Relationship Id="rId264" Type="http://schemas.openxmlformats.org/officeDocument/2006/relationships/slide" Target="slides/slide262.xml"/><Relationship Id="rId265" Type="http://schemas.openxmlformats.org/officeDocument/2006/relationships/slide" Target="slides/slide263.xml"/><Relationship Id="rId266" Type="http://schemas.openxmlformats.org/officeDocument/2006/relationships/slide" Target="slides/slide264.xml"/><Relationship Id="rId267" Type="http://schemas.openxmlformats.org/officeDocument/2006/relationships/slide" Target="slides/slide265.xml"/><Relationship Id="rId268" Type="http://schemas.openxmlformats.org/officeDocument/2006/relationships/slide" Target="slides/slide266.xml"/><Relationship Id="rId269" Type="http://schemas.openxmlformats.org/officeDocument/2006/relationships/slide" Target="slides/slide267.xml"/><Relationship Id="rId270" Type="http://schemas.openxmlformats.org/officeDocument/2006/relationships/slide" Target="slides/slide268.xml"/><Relationship Id="rId271" Type="http://schemas.openxmlformats.org/officeDocument/2006/relationships/slide" Target="slides/slide269.xml"/><Relationship Id="rId272" Type="http://schemas.openxmlformats.org/officeDocument/2006/relationships/slide" Target="slides/slide270.xml"/><Relationship Id="rId273" Type="http://schemas.openxmlformats.org/officeDocument/2006/relationships/slide" Target="slides/slide271.xml"/><Relationship Id="rId274" Type="http://schemas.openxmlformats.org/officeDocument/2006/relationships/slide" Target="slides/slide272.xml"/><Relationship Id="rId275" Type="http://schemas.openxmlformats.org/officeDocument/2006/relationships/slide" Target="slides/slide273.xml"/><Relationship Id="rId276" Type="http://schemas.openxmlformats.org/officeDocument/2006/relationships/slide" Target="slides/slide274.xml"/><Relationship Id="rId277" Type="http://schemas.openxmlformats.org/officeDocument/2006/relationships/slide" Target="slides/slide275.xml"/><Relationship Id="rId278" Type="http://schemas.openxmlformats.org/officeDocument/2006/relationships/slide" Target="slides/slide276.xml"/><Relationship Id="rId279" Type="http://schemas.openxmlformats.org/officeDocument/2006/relationships/slide" Target="slides/slide277.xml"/><Relationship Id="rId280" Type="http://schemas.openxmlformats.org/officeDocument/2006/relationships/slide" Target="slides/slide278.xml"/><Relationship Id="rId281" Type="http://schemas.openxmlformats.org/officeDocument/2006/relationships/slide" Target="slides/slide279.xml"/><Relationship Id="rId282" Type="http://schemas.openxmlformats.org/officeDocument/2006/relationships/slide" Target="slides/slide280.xml"/><Relationship Id="rId283" Type="http://schemas.openxmlformats.org/officeDocument/2006/relationships/slide" Target="slides/slide281.xml"/><Relationship Id="rId284" Type="http://schemas.openxmlformats.org/officeDocument/2006/relationships/slide" Target="slides/slide282.xml"/><Relationship Id="rId285" Type="http://schemas.openxmlformats.org/officeDocument/2006/relationships/slide" Target="slides/slide283.xml"/><Relationship Id="rId286" Type="http://schemas.openxmlformats.org/officeDocument/2006/relationships/slide" Target="slides/slide284.xml"/><Relationship Id="rId287" Type="http://schemas.openxmlformats.org/officeDocument/2006/relationships/slide" Target="slides/slide285.xml"/><Relationship Id="rId288" Type="http://schemas.openxmlformats.org/officeDocument/2006/relationships/slide" Target="slides/slide286.xml"/><Relationship Id="rId289" Type="http://schemas.openxmlformats.org/officeDocument/2006/relationships/slide" Target="slides/slide287.xml"/><Relationship Id="rId290" Type="http://schemas.openxmlformats.org/officeDocument/2006/relationships/slide" Target="slides/slide288.xml"/><Relationship Id="rId291" Type="http://schemas.openxmlformats.org/officeDocument/2006/relationships/slide" Target="slides/slide289.xml"/><Relationship Id="rId292" Type="http://schemas.openxmlformats.org/officeDocument/2006/relationships/slide" Target="slides/slide290.xml"/><Relationship Id="rId293" Type="http://schemas.openxmlformats.org/officeDocument/2006/relationships/slide" Target="slides/slide291.xml"/><Relationship Id="rId294" Type="http://schemas.openxmlformats.org/officeDocument/2006/relationships/slide" Target="slides/slide292.xml"/><Relationship Id="rId295" Type="http://schemas.openxmlformats.org/officeDocument/2006/relationships/slide" Target="slides/slide293.xml"/><Relationship Id="rId296" Type="http://schemas.openxmlformats.org/officeDocument/2006/relationships/slide" Target="slides/slide294.xml"/><Relationship Id="rId297" Type="http://schemas.openxmlformats.org/officeDocument/2006/relationships/slide" Target="slides/slide295.xml"/><Relationship Id="rId298" Type="http://schemas.openxmlformats.org/officeDocument/2006/relationships/slide" Target="slides/slide296.xml"/><Relationship Id="rId299" Type="http://schemas.openxmlformats.org/officeDocument/2006/relationships/slide" Target="slides/slide297.xml"/><Relationship Id="rId300" Type="http://schemas.openxmlformats.org/officeDocument/2006/relationships/slide" Target="slides/slide298.xml"/><Relationship Id="rId301" Type="http://schemas.openxmlformats.org/officeDocument/2006/relationships/slide" Target="slides/slide299.xml"/><Relationship Id="rId302" Type="http://schemas.openxmlformats.org/officeDocument/2006/relationships/slide" Target="slides/slide300.xml"/><Relationship Id="rId303" Type="http://schemas.openxmlformats.org/officeDocument/2006/relationships/slide" Target="slides/slide301.xml"/><Relationship Id="rId304" Type="http://schemas.openxmlformats.org/officeDocument/2006/relationships/slide" Target="slides/slide302.xml"/><Relationship Id="rId305" Type="http://schemas.openxmlformats.org/officeDocument/2006/relationships/slide" Target="slides/slide303.xml"/><Relationship Id="rId306" Type="http://schemas.openxmlformats.org/officeDocument/2006/relationships/slide" Target="slides/slide304.xml"/><Relationship Id="rId307" Type="http://schemas.openxmlformats.org/officeDocument/2006/relationships/slide" Target="slides/slide305.xml"/><Relationship Id="rId308" Type="http://schemas.openxmlformats.org/officeDocument/2006/relationships/slide" Target="slides/slide306.xml"/><Relationship Id="rId309" Type="http://schemas.openxmlformats.org/officeDocument/2006/relationships/slide" Target="slides/slide307.xml"/><Relationship Id="rId310" Type="http://schemas.openxmlformats.org/officeDocument/2006/relationships/slide" Target="slides/slide308.xml"/><Relationship Id="rId311" Type="http://schemas.openxmlformats.org/officeDocument/2006/relationships/slide" Target="slides/slide309.xml"/><Relationship Id="rId312" Type="http://schemas.openxmlformats.org/officeDocument/2006/relationships/slide" Target="slides/slide310.xml"/><Relationship Id="rId313" Type="http://schemas.openxmlformats.org/officeDocument/2006/relationships/slide" Target="slides/slide311.xml"/><Relationship Id="rId314" Type="http://schemas.openxmlformats.org/officeDocument/2006/relationships/slide" Target="slides/slide312.xml"/><Relationship Id="rId315" Type="http://schemas.openxmlformats.org/officeDocument/2006/relationships/slide" Target="slides/slide313.xml"/><Relationship Id="rId316" Type="http://schemas.openxmlformats.org/officeDocument/2006/relationships/slide" Target="slides/slide314.xml"/><Relationship Id="rId317" Type="http://schemas.openxmlformats.org/officeDocument/2006/relationships/slide" Target="slides/slide315.xml"/><Relationship Id="rId318" Type="http://schemas.openxmlformats.org/officeDocument/2006/relationships/slide" Target="slides/slide316.xml"/><Relationship Id="rId319" Type="http://schemas.openxmlformats.org/officeDocument/2006/relationships/slide" Target="slides/slide317.xml"/><Relationship Id="rId320" Type="http://schemas.openxmlformats.org/officeDocument/2006/relationships/slide" Target="slides/slide318.xml"/><Relationship Id="rId321" Type="http://schemas.openxmlformats.org/officeDocument/2006/relationships/slide" Target="slides/slide319.xml"/><Relationship Id="rId322" Type="http://schemas.openxmlformats.org/officeDocument/2006/relationships/slide" Target="slides/slide320.xml"/><Relationship Id="rId323" Type="http://schemas.openxmlformats.org/officeDocument/2006/relationships/slide" Target="slides/slide321.xml"/><Relationship Id="rId324" Type="http://schemas.openxmlformats.org/officeDocument/2006/relationships/slide" Target="slides/slide322.xml"/><Relationship Id="rId325" Type="http://schemas.openxmlformats.org/officeDocument/2006/relationships/slide" Target="slides/slide323.xml"/><Relationship Id="rId326" Type="http://schemas.openxmlformats.org/officeDocument/2006/relationships/slide" Target="slides/slide324.xml"/><Relationship Id="rId327" Type="http://schemas.openxmlformats.org/officeDocument/2006/relationships/slide" Target="slides/slide325.xml"/><Relationship Id="rId328" Type="http://schemas.openxmlformats.org/officeDocument/2006/relationships/slide" Target="slides/slide326.xml"/><Relationship Id="rId329" Type="http://schemas.openxmlformats.org/officeDocument/2006/relationships/slide" Target="slides/slide327.xml"/><Relationship Id="rId330" Type="http://schemas.openxmlformats.org/officeDocument/2006/relationships/slide" Target="slides/slide328.xml"/><Relationship Id="rId331" Type="http://schemas.openxmlformats.org/officeDocument/2006/relationships/slide" Target="slides/slide329.xml"/><Relationship Id="rId332" Type="http://schemas.openxmlformats.org/officeDocument/2006/relationships/slide" Target="slides/slide330.xml"/><Relationship Id="rId333" Type="http://schemas.openxmlformats.org/officeDocument/2006/relationships/slide" Target="slides/slide331.xml"/><Relationship Id="rId334" Type="http://schemas.openxmlformats.org/officeDocument/2006/relationships/slide" Target="slides/slide332.xml"/><Relationship Id="rId335" Type="http://schemas.openxmlformats.org/officeDocument/2006/relationships/slide" Target="slides/slide333.xml"/><Relationship Id="rId336" Type="http://schemas.openxmlformats.org/officeDocument/2006/relationships/slide" Target="slides/slide334.xml"/><Relationship Id="rId337" Type="http://schemas.openxmlformats.org/officeDocument/2006/relationships/slide" Target="slides/slide335.xml"/><Relationship Id="rId338" Type="http://schemas.openxmlformats.org/officeDocument/2006/relationships/slide" Target="slides/slide336.xml"/><Relationship Id="rId339" Type="http://schemas.openxmlformats.org/officeDocument/2006/relationships/slide" Target="slides/slide337.xml"/><Relationship Id="rId340" Type="http://schemas.openxmlformats.org/officeDocument/2006/relationships/slide" Target="slides/slide338.xml"/><Relationship Id="rId341" Type="http://schemas.openxmlformats.org/officeDocument/2006/relationships/slide" Target="slides/slide339.xml"/><Relationship Id="rId342" Type="http://schemas.openxmlformats.org/officeDocument/2006/relationships/slide" Target="slides/slide340.xml"/><Relationship Id="rId343" Type="http://schemas.openxmlformats.org/officeDocument/2006/relationships/slide" Target="slides/slide341.xml"/><Relationship Id="rId344" Type="http://schemas.openxmlformats.org/officeDocument/2006/relationships/slide" Target="slides/slide342.xml"/><Relationship Id="rId345" Type="http://schemas.openxmlformats.org/officeDocument/2006/relationships/slide" Target="slides/slide343.xml"/><Relationship Id="rId346" Type="http://schemas.openxmlformats.org/officeDocument/2006/relationships/slide" Target="slides/slide344.xml"/><Relationship Id="rId347" Type="http://schemas.openxmlformats.org/officeDocument/2006/relationships/slide" Target="slides/slide345.xml"/><Relationship Id="rId348" Type="http://schemas.openxmlformats.org/officeDocument/2006/relationships/slide" Target="slides/slide346.xml"/><Relationship Id="rId349" Type="http://schemas.openxmlformats.org/officeDocument/2006/relationships/slide" Target="slides/slide347.xml"/><Relationship Id="rId350" Type="http://schemas.openxmlformats.org/officeDocument/2006/relationships/slide" Target="slides/slide348.xml"/><Relationship Id="rId351" Type="http://schemas.openxmlformats.org/officeDocument/2006/relationships/slide" Target="slides/slide349.xml"/><Relationship Id="rId352" Type="http://schemas.openxmlformats.org/officeDocument/2006/relationships/slide" Target="slides/slide350.xml"/><Relationship Id="rId353" Type="http://schemas.openxmlformats.org/officeDocument/2006/relationships/slide" Target="slides/slide351.xml"/><Relationship Id="rId354" Type="http://schemas.openxmlformats.org/officeDocument/2006/relationships/slide" Target="slides/slide352.xml"/><Relationship Id="rId355" Type="http://schemas.openxmlformats.org/officeDocument/2006/relationships/slide" Target="slides/slide353.xml"/><Relationship Id="rId356" Type="http://schemas.openxmlformats.org/officeDocument/2006/relationships/slide" Target="slides/slide354.xml"/><Relationship Id="rId357" Type="http://schemas.openxmlformats.org/officeDocument/2006/relationships/slide" Target="slides/slide355.xml"/><Relationship Id="rId358" Type="http://schemas.openxmlformats.org/officeDocument/2006/relationships/slide" Target="slides/slide356.xml"/><Relationship Id="rId359" Type="http://schemas.openxmlformats.org/officeDocument/2006/relationships/slide" Target="slides/slide357.xml"/><Relationship Id="rId360" Type="http://schemas.openxmlformats.org/officeDocument/2006/relationships/slide" Target="slides/slide358.xml"/><Relationship Id="rId36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196200" y="2674620"/>
            <a:ext cx="579960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814420" y="3320740"/>
            <a:ext cx="656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AI-Assisted Development with Cursor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164980" y="3843180"/>
            <a:ext cx="7862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Springpeople · 2-day instructor-led course · Modules 1–10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Springpeople · Cursor Training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 txBox="1"/>
          <p:nvPr/>
        </p:nvSpPr>
        <p:spPr>
          <a:xfrm>
            <a:off x="747720" y="1200000"/>
            <a:ext cx="2928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Course 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459880" y="207792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459880" y="252540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459880" y="298260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459880" y="343044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459880" y="388764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459880" y="433512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459880" y="479232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459880" y="524016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459880" y="569736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459880" y="6154560"/>
            <a:ext cx="244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47720" y="5557671"/>
            <a:ext cx="913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Total: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~11.5 hours across 2 days (hands-on labs + demonstrations)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Springpeople · Cursor Training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58" name="Table 257"/>
          <p:cNvGraphicFramePr>
            <a:graphicFrameLocks noGrp="1"/>
          </p:cNvGraphicFramePr>
          <p:nvPr/>
        </p:nvGraphicFramePr>
        <p:xfrm>
          <a:off x="2623200" y="1792440"/>
          <a:ext cx="6945600" cy="3685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4510080"/>
                <a:gridCol w="669600"/>
                <a:gridCol w="989640"/>
              </a:tblGrid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1">
                          <a:solidFill>
                            <a:srgbClr val="CC0000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1">
                          <a:solidFill>
                            <a:srgbClr val="CC0000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1">
                          <a:solidFill>
                            <a:srgbClr val="CC0000"/>
                          </a:solidFill>
                        </a:rPr>
                        <a:t>Day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1">
                          <a:solidFill>
                            <a:srgbClr val="CC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Mental Models for AI-Assisted Development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Cursor Editor Essentials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~90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Agent Modes and Tools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Customizing Cursor for Your Team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Cursor CLI and Local Automation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Cloud Agents in the UI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~90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Cursor API Foundations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2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Cloud Agents API and Webhooks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Admin and Analytics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2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~75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35021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AI Code Tracking and Reporting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Day 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17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8" b="0">
                          <a:solidFill>
                            <a:srgbClr val="000000"/>
                          </a:solidFill>
                        </a:rPr>
                        <a:t>~20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 txBox="1"/>
          <p:nvPr/>
        </p:nvSpPr>
        <p:spPr>
          <a:xfrm>
            <a:off x="747720" y="1200000"/>
            <a:ext cx="7815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Day 1 — Foundations &amp; Editor Workflows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509480" y="278280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1509480" y="323028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509480" y="368748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509480" y="413532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509480" y="459252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47720" y="4366040"/>
            <a:ext cx="10606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blocks, hands-on exercises, team customization, and CLI automation.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Springpeople · Cursor Training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96" name="Table 395"/>
          <p:cNvGraphicFramePr>
            <a:graphicFrameLocks noGrp="1"/>
          </p:cNvGraphicFramePr>
          <p:nvPr/>
        </p:nvGraphicFramePr>
        <p:xfrm>
          <a:off x="1716420" y="1792440"/>
          <a:ext cx="875916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4510080"/>
                <a:gridCol w="2483160"/>
                <a:gridCol w="989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Mental Models for AI-Assisted Development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Foundations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Editor Essentials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~90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Modes and Tools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+ Concept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Customizing Cursor for Your Team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+ Walkthrough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CLI and Local Automation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 txBox="1"/>
          <p:nvPr/>
        </p:nvSpPr>
        <p:spPr>
          <a:xfrm>
            <a:off x="747720" y="1200000"/>
            <a:ext cx="7619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Day 2 — Cloud Agents, APIs &amp; Analytics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866960" y="278280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866960" y="323028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866960" y="368748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866960" y="4135320"/>
            <a:ext cx="219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866960" y="4592520"/>
            <a:ext cx="244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47720" y="4366040"/>
            <a:ext cx="986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Cloud agents, programmatic APIs, admin analytics, and AI code tracking.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Springpeople · Cursor Training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2143140" y="1792440"/>
          <a:ext cx="790572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336600"/>
                <a:gridCol w="2803200"/>
                <a:gridCol w="989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Agents in the UI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+ Demonstration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~90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API Foundations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Concept + Hands-On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Agents API and 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and Analytics APIs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+ Demonstrations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~75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Code Tracking and Reporting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+ Take-Home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 txBox="1"/>
          <p:nvPr/>
        </p:nvSpPr>
        <p:spPr>
          <a:xfrm>
            <a:off x="1014780" y="2674620"/>
            <a:ext cx="1016244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Mental Models for AI-Assisted Development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3309600" y="3320740"/>
            <a:ext cx="5572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· Day 1 (Foundations)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635680" y="3843180"/>
            <a:ext cx="6920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Concept block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08" name="Table 607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Concept block (foundational theory)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 – this is the starting point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Build accurate mental models of how AI coding assistants work, their limitations, and how to use them effectively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743712" y="1862640"/>
            <a:ext cx="769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Explain why AI outputs are probabilistic, not deterministic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357200" y="2282840"/>
            <a:ext cx="718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Identify and mitigate hallucinations in coding contexts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357200" y="2703040"/>
            <a:ext cx="7269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 token-based pricing and cost optimization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1357200" y="3123240"/>
            <a:ext cx="672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context as the single most valuable AI skill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743712" y="3543440"/>
            <a:ext cx="8540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Distinguish between tool calling, MCP, and autonomous agents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357200" y="3963640"/>
            <a:ext cx="681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Define the developer's evolving role with AI agents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246140" y="3331520"/>
            <a:ext cx="3699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How AI Models Work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4647180" y="3853960"/>
            <a:ext cx="289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12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"/>
          <p:cNvSpPr txBox="1"/>
          <p:nvPr/>
        </p:nvSpPr>
        <p:spPr>
          <a:xfrm>
            <a:off x="743712" y="850000"/>
            <a:ext cx="5724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Outputs Are Probabilistic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743712" y="1442440"/>
            <a:ext cx="975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Unlike traditional software that gives the same output for the same input,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743712" y="1862640"/>
            <a:ext cx="9131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models generate responses based on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probability distributions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747720" y="2282840"/>
            <a:ext cx="796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 its simplest, an LLM is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next-token prediction engine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743712" y="2703040"/>
            <a:ext cx="9996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Given a sequence of tokens, it predicts what comes next — then samples,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747720" y="3123240"/>
            <a:ext cx="2440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appends, repeats.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"/>
          <p:cNvSpPr txBox="1"/>
          <p:nvPr/>
        </p:nvSpPr>
        <p:spPr>
          <a:xfrm>
            <a:off x="743712" y="850000"/>
            <a:ext cx="4205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Next-Token Prediction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TextBox 666"/>
          <p:cNvSpPr txBox="1"/>
          <p:nvPr/>
        </p:nvSpPr>
        <p:spPr>
          <a:xfrm>
            <a:off x="923760" y="1442440"/>
            <a:ext cx="566800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Input: "def calculate_sum(a, b):"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Model thinks: "What's most likely next?"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Probabilities: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"return" → 85%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"print"  → 8%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"pass"   → 4%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"for"    → 2%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Other    → 1%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 txBox="1"/>
          <p:nvPr/>
        </p:nvSpPr>
        <p:spPr>
          <a:xfrm>
            <a:off x="743712" y="850000"/>
            <a:ext cx="5548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Traditional Code vs. AI Model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747720" y="3600440"/>
            <a:ext cx="716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Implication: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Never trust a single run as ground truth.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32" name="Table 731"/>
          <p:cNvGraphicFramePr>
            <a:graphicFrameLocks noGrp="1"/>
          </p:cNvGraphicFramePr>
          <p:nvPr/>
        </p:nvGraphicFramePr>
        <p:xfrm>
          <a:off x="743712" y="1442440"/>
          <a:ext cx="90201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400"/>
                <a:gridCol w="4616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Traditional Code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AI 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Deterministic (same input → same output)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Probabilistic (different outputs possible)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 control the logic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 influence, but don't control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Errors are bugs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Errors are features of probability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Predictable behavior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Needs management via parameters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 txBox="1"/>
          <p:nvPr/>
        </p:nvSpPr>
        <p:spPr>
          <a:xfrm>
            <a:off x="743712" y="850000"/>
            <a:ext cx="5394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Determines AI Output?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TextBox 751"/>
          <p:cNvSpPr txBox="1"/>
          <p:nvPr/>
        </p:nvSpPr>
        <p:spPr>
          <a:xfrm>
            <a:off x="743712" y="1442440"/>
            <a:ext cx="895984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                 Factors That Shape Output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1. Training Data      → What the model "learned"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2. Prompt             → Your instruction (most influential)│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3. Temperature        → Randomness level (0 = deterministic)│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4. Top-p / Top-k      → Token selection pool size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5. System Prompt      → Persistent behavioral guidelines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6. Context Window     → What the model can "see"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7. Model Architecture → Different models, different biases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"/>
          <p:cNvSpPr txBox="1"/>
          <p:nvPr/>
        </p:nvSpPr>
        <p:spPr>
          <a:xfrm>
            <a:off x="743712" y="850000"/>
            <a:ext cx="5373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Parameters You Control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31" name="Table 830"/>
          <p:cNvGraphicFramePr>
            <a:graphicFrameLocks noGrp="1"/>
          </p:cNvGraphicFramePr>
          <p:nvPr/>
        </p:nvGraphicFramePr>
        <p:xfrm>
          <a:off x="743712" y="1442440"/>
          <a:ext cx="1022316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4830120"/>
                <a:gridCol w="4083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Randomness (0 = deterministic, 1 = creative)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Bug fixes (low), brainstorming (high)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Top-p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Nucleus sampling – limits token pool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Balanced responses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Max Tokens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Limits response length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Controlling cost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32" name="TextBox 831"/>
          <p:cNvSpPr txBox="1"/>
          <p:nvPr/>
        </p:nvSpPr>
        <p:spPr>
          <a:xfrm>
            <a:off x="923760" y="3184840"/>
            <a:ext cx="44335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temperature: 0.2   # focused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top_p: 0.9         # balanced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max_tokens: 4000   # cap length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Temperature Impact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747720" y="1442440"/>
            <a:ext cx="685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Same prompt: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"Write a function to reverse a string"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TextBox 849"/>
          <p:cNvSpPr txBox="1"/>
          <p:nvPr/>
        </p:nvSpPr>
        <p:spPr>
          <a:xfrm>
            <a:off x="923760" y="1862640"/>
            <a:ext cx="70396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Temperature 0.1 — very deterministic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reverse_string(s):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s[::-1]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Temperature 0.7 — balanced (adds edge cases)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reverse_string(s):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not s: return 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s[::-1]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Temperature 1.2 — creative, potentially unstable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flip_the_text(text): ...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"/>
          <p:cNvSpPr txBox="1"/>
          <p:nvPr/>
        </p:nvSpPr>
        <p:spPr>
          <a:xfrm>
            <a:off x="743712" y="850000"/>
            <a:ext cx="3258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Training Gap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747720" y="1442440"/>
            <a:ext cx="8513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are frozen at their training cutoff date. They don't know: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1357200" y="1862640"/>
            <a:ext cx="4846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 written after their training date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357200" y="2282840"/>
            <a:ext cx="3989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Your company's internal APIs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357200" y="2703040"/>
            <a:ext cx="477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Your specific architecture decisions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357200" y="3123240"/>
            <a:ext cx="560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Recent library updates (unless in context)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743712" y="3543440"/>
            <a:ext cx="969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Implication: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You must provide this information in the prompt or context.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4862280" y="3331520"/>
            <a:ext cx="2467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4647180" y="3853960"/>
            <a:ext cx="289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"/>
          <p:cNvSpPr txBox="1"/>
          <p:nvPr/>
        </p:nvSpPr>
        <p:spPr>
          <a:xfrm>
            <a:off x="743712" y="850000"/>
            <a:ext cx="4800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Hallucinations?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743712" y="1442440"/>
            <a:ext cx="969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Confident-sounding outputs that are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factually wrong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made up, or don't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1090440" y="1862640"/>
            <a:ext cx="712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exist.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743712" y="2282840"/>
            <a:ext cx="1019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dangerous form: the model sounds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completely confident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while being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747720" y="2703040"/>
            <a:ext cx="2676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completely wrong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"/>
          <p:cNvSpPr txBox="1"/>
          <p:nvPr/>
        </p:nvSpPr>
        <p:spPr>
          <a:xfrm>
            <a:off x="743712" y="850000"/>
            <a:ext cx="4271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Hallucinations in Code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96" name="Table 995"/>
          <p:cNvGraphicFramePr>
            <a:graphicFrameLocks noGrp="1"/>
          </p:cNvGraphicFramePr>
          <p:nvPr/>
        </p:nvGraphicFramePr>
        <p:xfrm>
          <a:off x="743712" y="1442440"/>
          <a:ext cx="81962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3336600"/>
                <a:gridCol w="28032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to Spot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Fake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import nonexistent_library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 docs; import fails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Wrong parameters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Incorrect function signature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Type checking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Invented methods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list.reverse_in_place()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Know the standard library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Confident nonsense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"This is the standard way to…"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Cross-reference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Outdated syntax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Old Python 2 style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Know version differences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"/>
          <p:cNvSpPr txBox="1"/>
          <p:nvPr/>
        </p:nvSpPr>
        <p:spPr>
          <a:xfrm>
            <a:off x="743712" y="850000"/>
            <a:ext cx="4536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Models Hallucinate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743712" y="1442440"/>
            <a:ext cx="895984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               Root Causes of Hallucination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Training Data Gaps     → Model "guesses" when uncertain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Probability Pressure   → Must output SOMETHING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Pattern Overfitting    → Sees patterns that don't exist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No True/False Circuit  → Models don't have truth checking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Confidence Calibration → Sounds confident when wrong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"/>
          <p:cNvSpPr txBox="1"/>
          <p:nvPr/>
        </p:nvSpPr>
        <p:spPr>
          <a:xfrm>
            <a:off x="743712" y="850000"/>
            <a:ext cx="5085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Example: Confident Wrong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TextBox 1028"/>
          <p:cNvSpPr txBox="1"/>
          <p:nvPr/>
        </p:nvSpPr>
        <p:spPr>
          <a:xfrm>
            <a:off x="743712" y="1442440"/>
            <a:ext cx="868552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"How do I use requests for async calls?"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Hallucinated (confident, wrong)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import requests.async as async_requests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await async_requests.get('https://api.example.com')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Reality: requests does NOT have async support.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Correct answer: Use httpx or aiohttp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"/>
          <p:cNvSpPr txBox="1"/>
          <p:nvPr/>
        </p:nvSpPr>
        <p:spPr>
          <a:xfrm>
            <a:off x="743712" y="850000"/>
            <a:ext cx="6495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 Mitigation Strategies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52" name="Table 1151"/>
          <p:cNvGraphicFramePr>
            <a:graphicFrameLocks noGrp="1"/>
          </p:cNvGraphicFramePr>
          <p:nvPr/>
        </p:nvGraphicFramePr>
        <p:xfrm>
          <a:off x="743712" y="1442440"/>
          <a:ext cx="926304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3016560"/>
                <a:gridCol w="39766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Grounding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Provide source material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Paste library docs into context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Verification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for citations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"Which line of the docs shows this?"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Constrained decoding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 possible outputs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JSON mode, regex patterns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Self-consistency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multiple times, compare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 same prompt 3×, take majority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 temperature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Reduce randomness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temperature: 0.1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 use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Let model search/lookup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Enable web search for docs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"/>
          <p:cNvSpPr txBox="1"/>
          <p:nvPr/>
        </p:nvSpPr>
        <p:spPr>
          <a:xfrm>
            <a:off x="743712" y="850000"/>
            <a:ext cx="6275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 Detection Checklist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747720" y="1442440"/>
            <a:ext cx="586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accepting AI-generated code, verify: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1357200" y="1862640"/>
            <a:ext cx="420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 the imported libraries exist?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1357200" y="2282840"/>
            <a:ext cx="430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function signatures correct?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1357200" y="2703040"/>
            <a:ext cx="616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the syntax match my language version?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1357200" y="3123240"/>
            <a:ext cx="415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there obvious logic errors?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1357200" y="3543440"/>
            <a:ext cx="398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Would this code actually run?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1357200" y="3963640"/>
            <a:ext cx="598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the model cite sources you can verify?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"/>
          <p:cNvSpPr txBox="1"/>
          <p:nvPr/>
        </p:nvSpPr>
        <p:spPr>
          <a:xfrm>
            <a:off x="743712" y="850000"/>
            <a:ext cx="4653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Developer's Mindset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743712" y="1442440"/>
            <a:ext cx="8908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"Trust, but verify – especially when the AI sounds most confident."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743712" y="1862640"/>
            <a:ext cx="757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Hallucinations decrease with better prompts and context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1357200" y="2282840"/>
            <a:ext cx="357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They never fully disappear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743712" y="2703040"/>
            <a:ext cx="7760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are the human-in-the-loop responsible for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1357200" y="3123240"/>
            <a:ext cx="709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Experience helps you "smell" potential hallucinations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4399680" y="3331520"/>
            <a:ext cx="3392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Tokens and Pricing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4647180" y="3853960"/>
            <a:ext cx="289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"/>
          <p:cNvSpPr txBox="1"/>
          <p:nvPr/>
        </p:nvSpPr>
        <p:spPr>
          <a:xfrm>
            <a:off x="743712" y="850000"/>
            <a:ext cx="3259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a Token?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743712" y="1442440"/>
            <a:ext cx="931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token is the atomic unit of processing for LLMs — not a word, not 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747720" y="1862640"/>
            <a:ext cx="135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character.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743712" y="4440840"/>
            <a:ext cx="10249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 tokens matter: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You pay per token · Context windows are measured 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747720" y="4861040"/>
            <a:ext cx="8704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tokens · Token limits determine how much code the AI can "see"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95" name="Table 1294"/>
          <p:cNvGraphicFramePr>
            <a:graphicFrameLocks noGrp="1"/>
          </p:cNvGraphicFramePr>
          <p:nvPr/>
        </p:nvGraphicFramePr>
        <p:xfrm>
          <a:off x="743712" y="2282840"/>
          <a:ext cx="691608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640"/>
                <a:gridCol w="280320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Token Count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English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"Hello world"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 tokens (~0.75 words/token)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"Congratulations"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 token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function calculateTotal()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~5 tokens (~2–4 chars/token)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Chinese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"你好世界"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4–8 tokens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"/>
          <p:cNvSpPr txBox="1"/>
          <p:nvPr/>
        </p:nvSpPr>
        <p:spPr>
          <a:xfrm>
            <a:off x="743712" y="850000"/>
            <a:ext cx="4491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Input vs. Output Pricing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743712" y="1442440"/>
            <a:ext cx="10062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Input tokens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(prompt, code context, retrieved docs) cost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less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than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747720" y="1862640"/>
            <a:ext cx="586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(generated code and explanations).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743712" y="2282840"/>
            <a:ext cx="949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 is often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5–8× more expensive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generation is more compute-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747720" y="2703040"/>
            <a:ext cx="306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intensive than reading.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"/>
          <p:cNvSpPr txBox="1"/>
          <p:nvPr/>
        </p:nvSpPr>
        <p:spPr>
          <a:xfrm>
            <a:off x="743712" y="850000"/>
            <a:ext cx="4558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Model Pricing Examples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485" name="Table 1484"/>
          <p:cNvGraphicFramePr>
            <a:graphicFrameLocks noGrp="1"/>
          </p:cNvGraphicFramePr>
          <p:nvPr/>
        </p:nvGraphicFramePr>
        <p:xfrm>
          <a:off x="743712" y="1442440"/>
          <a:ext cx="673224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760"/>
                <a:gridCol w="1629720"/>
                <a:gridCol w="1736400"/>
                <a:gridCol w="1416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Input (per 1M)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Output (per 1M)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Output/Input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 Mini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$0.25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4.5 Haiku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5×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GPT-5.3 Codex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$1.75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$14.00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Gemini 3.1 Pro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$12.00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6×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4.6 Sonnet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$3.00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$15.00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4.7 Opus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$25.00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5×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$30.00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"/>
          <p:cNvSpPr txBox="1"/>
          <p:nvPr/>
        </p:nvSpPr>
        <p:spPr>
          <a:xfrm>
            <a:off x="743712" y="850000"/>
            <a:ext cx="6341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1 Million Tokens Looks Like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549" name="Table 1548"/>
          <p:cNvGraphicFramePr>
            <a:graphicFrameLocks noGrp="1"/>
          </p:cNvGraphicFramePr>
          <p:nvPr/>
        </p:nvGraphicFramePr>
        <p:xfrm>
          <a:off x="743712" y="1442440"/>
          <a:ext cx="54997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32299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Content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Approximate Amount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Plain English 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~750,000 words (~1,500 pages)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Python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~250,000–500,000 lines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Average conversation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5–10 sessions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Full codebase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Small to medium 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"/>
          <p:cNvSpPr txBox="1"/>
          <p:nvPr/>
        </p:nvSpPr>
        <p:spPr>
          <a:xfrm>
            <a:off x="743712" y="850000"/>
            <a:ext cx="4866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Cost Calculation Example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TextBox 1565"/>
          <p:cNvSpPr txBox="1"/>
          <p:nvPr/>
        </p:nvSpPr>
        <p:spPr>
          <a:xfrm>
            <a:off x="743712" y="1442440"/>
            <a:ext cx="86855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prompt_tokens = 5000    # instructions + context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output_tokens = 2000    # AI response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model = "claude-4.6-sonnet"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input_price  = 3.00     # per 1M tokens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output_price = 15.00    # per 1M tokens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input_cost  = (5000 / 1_000_000) * 3.00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output_cost = (2000 / 1_000_000) * 15.00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total_cost  = input_cost + output_cost   # ~$0.045 (4.5 cents)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"/>
          <p:cNvSpPr txBox="1"/>
          <p:nvPr/>
        </p:nvSpPr>
        <p:spPr>
          <a:xfrm>
            <a:off x="743712" y="850000"/>
            <a:ext cx="5416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Cost Optimization Strategies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688" name="Table 1687"/>
          <p:cNvGraphicFramePr>
            <a:graphicFrameLocks noGrp="1"/>
          </p:cNvGraphicFramePr>
          <p:nvPr/>
        </p:nvGraphicFramePr>
        <p:xfrm>
          <a:off x="743712" y="1442440"/>
          <a:ext cx="712944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3016560"/>
                <a:gridCol w="20564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cheaper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Mini/Haiku for simple tasks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5–20× reduction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Reduce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Only send relevant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2–5× reduction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Cache responses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Reuse common answers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Batch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Combine multiple tasks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30–50% reduction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Monitor usage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Track spending per user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Prevents surprises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 limits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Monthly spending caps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Budget protection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"/>
          <p:cNvSpPr txBox="1"/>
          <p:nvPr/>
        </p:nvSpPr>
        <p:spPr>
          <a:xfrm>
            <a:off x="743712" y="850000"/>
            <a:ext cx="4667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Real-World Cost Bounds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778" name="Table 1777"/>
          <p:cNvGraphicFramePr>
            <a:graphicFrameLocks noGrp="1"/>
          </p:cNvGraphicFramePr>
          <p:nvPr/>
        </p:nvGraphicFramePr>
        <p:xfrm>
          <a:off x="743712" y="1442440"/>
          <a:ext cx="71294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1416360"/>
                <a:gridCol w="44034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Usage Level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Monthly Cost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You Can Do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Light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$10–20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Occasional questions, small fixes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$50–100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coding, regular agent use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Heavy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$200–500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Full-time AI assistance, multiple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$1000+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usage, automation, CI/CD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"/>
          <p:cNvSpPr txBox="1"/>
          <p:nvPr/>
        </p:nvSpPr>
        <p:spPr>
          <a:xfrm>
            <a:off x="743712" y="850000"/>
            <a:ext cx="3215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Cache Effect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 txBox="1"/>
          <p:nvPr/>
        </p:nvSpPr>
        <p:spPr>
          <a:xfrm>
            <a:off x="747720" y="1442440"/>
            <a:ext cx="579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can cache frequently used content: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1357200" y="1862640"/>
            <a:ext cx="4675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Cache Write: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Cost to initially store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 txBox="1"/>
          <p:nvPr/>
        </p:nvSpPr>
        <p:spPr>
          <a:xfrm>
            <a:off x="743712" y="2282840"/>
            <a:ext cx="8691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Cache Read: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Much cheaper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than fresh input (80–95% savings)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 txBox="1"/>
          <p:nvPr/>
        </p:nvSpPr>
        <p:spPr>
          <a:xfrm>
            <a:off x="747720" y="3574240"/>
            <a:ext cx="471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 discipline = cost discipline.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TextBox 1794"/>
          <p:cNvSpPr txBox="1"/>
          <p:nvPr/>
        </p:nvSpPr>
        <p:spPr>
          <a:xfrm>
            <a:off x="923760" y="2703040"/>
            <a:ext cx="77254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First request  → pays full input price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Second request → same context → pays cache read price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 txBox="1"/>
          <p:nvPr/>
        </p:nvSpPr>
        <p:spPr>
          <a:xfrm>
            <a:off x="5412900" y="3331520"/>
            <a:ext cx="1366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 txBox="1"/>
          <p:nvPr/>
        </p:nvSpPr>
        <p:spPr>
          <a:xfrm>
            <a:off x="2343180" y="3853960"/>
            <a:ext cx="750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12 minutes · The single most valuable AI skill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"/>
          <p:cNvSpPr txBox="1"/>
          <p:nvPr/>
        </p:nvSpPr>
        <p:spPr>
          <a:xfrm>
            <a:off x="743712" y="850000"/>
            <a:ext cx="3236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Context?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743712" y="1442440"/>
            <a:ext cx="976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 = all the information the model has access to when generating 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747720" y="1862640"/>
            <a:ext cx="133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TextBox 1825"/>
          <p:cNvSpPr txBox="1"/>
          <p:nvPr/>
        </p:nvSpPr>
        <p:spPr>
          <a:xfrm>
            <a:off x="743712" y="2282840"/>
            <a:ext cx="90970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                 What Goes Into Context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System Prompt   → "You are a helpful coding assistant"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User Prompt     → "Fix this bug: ..."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Code Files      → Current file, related files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Conversation    → Previous exchanges 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Retrieved Docs  → Library documentation, examples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Tool Outputs    → Results from search, file reads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Constraints     → "Only use standard library"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"/>
          <p:cNvSpPr txBox="1"/>
          <p:nvPr/>
        </p:nvSpPr>
        <p:spPr>
          <a:xfrm>
            <a:off x="743712" y="850000"/>
            <a:ext cx="4975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Context Window Limit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 txBox="1"/>
          <p:nvPr/>
        </p:nvSpPr>
        <p:spPr>
          <a:xfrm>
            <a:off x="743712" y="2769240"/>
            <a:ext cx="9114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you exceed context: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Oldest content gets truncated · Critical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 txBox="1"/>
          <p:nvPr/>
        </p:nvSpPr>
        <p:spPr>
          <a:xfrm>
            <a:off x="747720" y="3189440"/>
            <a:ext cx="3795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information may be dropped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743712" y="3609640"/>
            <a:ext cx="1044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 engineering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knowing what to put in, what to leave out, and how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747720" y="4029840"/>
            <a:ext cx="1508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structure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904" name="Table 1903"/>
          <p:cNvGraphicFramePr>
            <a:graphicFrameLocks noGrp="1"/>
          </p:cNvGraphicFramePr>
          <p:nvPr/>
        </p:nvGraphicFramePr>
        <p:xfrm>
          <a:off x="743712" y="1442440"/>
          <a:ext cx="822576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9960"/>
                <a:gridCol w="1629720"/>
                <a:gridCol w="1523040"/>
                <a:gridCol w="15230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Context Window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Pages of Text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Lines of Code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 (Haiku / Sonnet / Opus)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200k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~150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~50,000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 Mini / GPT-5.3 Codex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272k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~70,000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"/>
          <p:cNvSpPr txBox="1"/>
          <p:nvPr/>
        </p:nvSpPr>
        <p:spPr>
          <a:xfrm>
            <a:off x="743712" y="850000"/>
            <a:ext cx="3347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 Checklist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 txBox="1"/>
          <p:nvPr/>
        </p:nvSpPr>
        <p:spPr>
          <a:xfrm>
            <a:off x="747720" y="1442440"/>
            <a:ext cx="432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every AI interaction, 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 txBox="1"/>
          <p:nvPr/>
        </p:nvSpPr>
        <p:spPr>
          <a:xfrm>
            <a:off x="1357200" y="1862640"/>
            <a:ext cx="4710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problem am I trying to solve?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 txBox="1"/>
          <p:nvPr/>
        </p:nvSpPr>
        <p:spPr>
          <a:xfrm>
            <a:off x="1357200" y="2282840"/>
            <a:ext cx="610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files/code does the model need to see?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 txBox="1"/>
          <p:nvPr/>
        </p:nvSpPr>
        <p:spPr>
          <a:xfrm>
            <a:off x="1357200" y="2703040"/>
            <a:ext cx="6439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would a human need to know to help me?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1357200" y="3123240"/>
            <a:ext cx="542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information can I safely leave out?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1357200" y="3543440"/>
            <a:ext cx="4795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Is my context under the token limit?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1357200" y="3963640"/>
            <a:ext cx="5642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Have I included relevant error messages?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 txBox="1"/>
          <p:nvPr/>
        </p:nvSpPr>
        <p:spPr>
          <a:xfrm>
            <a:off x="1357200" y="4383840"/>
            <a:ext cx="7200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Have I specified constraints (libraries, version, style)?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"/>
          <p:cNvSpPr txBox="1"/>
          <p:nvPr/>
        </p:nvSpPr>
        <p:spPr>
          <a:xfrm>
            <a:off x="743712" y="850000"/>
            <a:ext cx="4139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Good vs. Bad Context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 txBox="1"/>
          <p:nvPr/>
        </p:nvSpPr>
        <p:spPr>
          <a:xfrm>
            <a:off x="747720" y="1442440"/>
            <a:ext cx="193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BAD (vague):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 txBox="1"/>
          <p:nvPr/>
        </p:nvSpPr>
        <p:spPr>
          <a:xfrm>
            <a:off x="923760" y="1862640"/>
            <a:ext cx="4344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"Fix this bug: my code doesn't work"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747720" y="2162600"/>
            <a:ext cx="245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(specific):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TextBox 1943"/>
          <p:cNvSpPr txBox="1"/>
          <p:nvPr/>
        </p:nvSpPr>
        <p:spPr>
          <a:xfrm>
            <a:off x="923760" y="2582800"/>
            <a:ext cx="786256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function sorts dicts by key but raises KeyError.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Code: def sort_by_key(data, key): 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Input: [{'name': 'Alice'}, {'age': 30}]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Using Python 3.11. Expected: skip dicts without the key.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"/>
          <p:cNvSpPr txBox="1"/>
          <p:nvPr/>
        </p:nvSpPr>
        <p:spPr>
          <a:xfrm>
            <a:off x="743712" y="850000"/>
            <a:ext cx="5681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 Prioritization Pyramid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TextBox 1961"/>
          <p:cNvSpPr txBox="1"/>
          <p:nvPr/>
        </p:nvSpPr>
        <p:spPr>
          <a:xfrm>
            <a:off x="743712" y="1442440"/>
            <a:ext cx="854836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┌─────────────┐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│  Critical   │  MUST include (~10–20%)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┌┴─────────────┴┐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│   Important   │  Should include (~20–30%)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┌┴───────────────┴┐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│     Helpful     │  Nice to have (~30–40%)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┌┴─────────────────┴┐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│    Low Value        │  Omit if possible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└───────────────────┘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"/>
          <p:cNvSpPr txBox="1"/>
          <p:nvPr/>
        </p:nvSpPr>
        <p:spPr>
          <a:xfrm>
            <a:off x="743712" y="850000"/>
            <a:ext cx="5636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 Window Management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068" name="Table 2067"/>
          <p:cNvGraphicFramePr>
            <a:graphicFrameLocks noGrp="1"/>
          </p:cNvGraphicFramePr>
          <p:nvPr/>
        </p:nvGraphicFramePr>
        <p:xfrm>
          <a:off x="743712" y="1442440"/>
          <a:ext cx="84096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3976680"/>
                <a:gridCol w="22698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Summarization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Compress earlier conversation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Long sessions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Selective inclusion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Only relevant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Large codebases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Chunking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Split across multiple calls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Exceeding limit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Hierarchical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Summaries + details on demand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 projects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Vector retrieval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Semantic search for relevant context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Very large codebases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"/>
          <p:cNvSpPr txBox="1"/>
          <p:nvPr/>
        </p:nvSpPr>
        <p:spPr>
          <a:xfrm>
            <a:off x="743712" y="850000"/>
            <a:ext cx="6254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"Lost in the Middle" Problem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 txBox="1"/>
          <p:nvPr/>
        </p:nvSpPr>
        <p:spPr>
          <a:xfrm>
            <a:off x="743712" y="1442440"/>
            <a:ext cx="1058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pay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attention to the beginning and end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of context, and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less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 txBox="1"/>
          <p:nvPr/>
        </p:nvSpPr>
        <p:spPr>
          <a:xfrm>
            <a:off x="747720" y="1862640"/>
            <a:ext cx="1609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middle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 txBox="1"/>
          <p:nvPr/>
        </p:nvSpPr>
        <p:spPr>
          <a:xfrm>
            <a:off x="743712" y="4373240"/>
            <a:ext cx="10351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Implication: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Put critical information at the beginning OR end, not the middle.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TextBox 2085"/>
          <p:cNvSpPr txBox="1"/>
          <p:nvPr/>
        </p:nvSpPr>
        <p:spPr>
          <a:xfrm>
            <a:off x="923760" y="2282840"/>
            <a:ext cx="827404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Context Position Attention: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BEGINNING  ████████████████████████████████  (high)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MIDDLE     ████████                           (low)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END        ████████████████████████████████  (high)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4168560" y="3331520"/>
            <a:ext cx="3854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Tool Calling and MCP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4731780" y="3853960"/>
            <a:ext cx="272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"/>
          <p:cNvSpPr txBox="1"/>
          <p:nvPr/>
        </p:nvSpPr>
        <p:spPr>
          <a:xfrm>
            <a:off x="743712" y="850000"/>
            <a:ext cx="4028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Tool Calling?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743712" y="1442440"/>
            <a:ext cx="10674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Tool calling (function calling) lets the AI request execution of external functions.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 txBox="1"/>
          <p:nvPr/>
        </p:nvSpPr>
        <p:spPr>
          <a:xfrm>
            <a:off x="743712" y="1862640"/>
            <a:ext cx="9915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AI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doesn't execute 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it outputs a structured request that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 txBox="1"/>
          <p:nvPr/>
        </p:nvSpPr>
        <p:spPr>
          <a:xfrm>
            <a:off x="747720" y="2282840"/>
            <a:ext cx="2440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executes.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TextBox 2112"/>
          <p:cNvSpPr txBox="1"/>
          <p:nvPr/>
        </p:nvSpPr>
        <p:spPr>
          <a:xfrm>
            <a:off x="743712" y="2703040"/>
            <a:ext cx="1033144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"What's the weather in Tokyo?"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AI decides: need weather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AI outputs: tool_call { name: "get_weather", args: { city: "Tokyo" }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Your system executes get_weather("Tokyo")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Result returned to AI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AI: "The weather in Tokyo is 22°C and sunny"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"/>
          <p:cNvSpPr txBox="1"/>
          <p:nvPr/>
        </p:nvSpPr>
        <p:spPr>
          <a:xfrm>
            <a:off x="743712" y="850000"/>
            <a:ext cx="6979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Common Tool Types in Development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51" name="Table 2250"/>
          <p:cNvGraphicFramePr>
            <a:graphicFrameLocks noGrp="1"/>
          </p:cNvGraphicFramePr>
          <p:nvPr/>
        </p:nvGraphicFramePr>
        <p:xfrm>
          <a:off x="743712" y="1442440"/>
          <a:ext cx="702276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60"/>
                <a:gridCol w="2056440"/>
                <a:gridCol w="35499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read_file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 code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"Show me the auth module"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edit_file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Modify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error handling to line 42"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search_code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Find patterns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"Find all uses of this function"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run_terminal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Execute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"Run the tests"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web_search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Find documentation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"Look up pandas DataFrame API"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 web pages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"Open the PR and review it"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Version control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"Create a branch and commit"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"/>
          <p:cNvSpPr txBox="1"/>
          <p:nvPr/>
        </p:nvSpPr>
        <p:spPr>
          <a:xfrm>
            <a:off x="743712" y="850000"/>
            <a:ext cx="5702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MCP (Model Context Protocol)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 txBox="1"/>
          <p:nvPr/>
        </p:nvSpPr>
        <p:spPr>
          <a:xfrm>
            <a:off x="743712" y="1442440"/>
            <a:ext cx="858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"USB-C for AI — one protocol that works across different tools."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 txBox="1"/>
          <p:nvPr/>
        </p:nvSpPr>
        <p:spPr>
          <a:xfrm>
            <a:off x="747720" y="1862640"/>
            <a:ext cx="684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Without MCP: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Each tool needs custom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 txBox="1"/>
          <p:nvPr/>
        </p:nvSpPr>
        <p:spPr>
          <a:xfrm>
            <a:off x="743712" y="2282840"/>
            <a:ext cx="10214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MCP: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Tools advertise their capabilities; AI discovers them dynamically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TextBox 2269"/>
          <p:cNvSpPr txBox="1"/>
          <p:nvPr/>
        </p:nvSpPr>
        <p:spPr>
          <a:xfrm>
            <a:off x="923760" y="2703040"/>
            <a:ext cx="81368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┌──────────────┐     ┌──────────────┐     ┌──────────────┐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AI Model   │ ←→ │   MCP Host   │ ←→ │   Tools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(Claude,    │     │  (Cursor,    │     │  (Files,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GPT, etc)  │     │   etc)       │     │   Terminal,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└──────────────┘     └──────────────┘     │   Web, etc)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        └──────────────┘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"/>
          <p:cNvSpPr txBox="1"/>
          <p:nvPr/>
        </p:nvSpPr>
        <p:spPr>
          <a:xfrm>
            <a:off x="743712" y="850000"/>
            <a:ext cx="3346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MCP Matters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334" name="Table 2333"/>
          <p:cNvGraphicFramePr>
            <a:graphicFrameLocks noGrp="1"/>
          </p:cNvGraphicFramePr>
          <p:nvPr/>
        </p:nvGraphicFramePr>
        <p:xfrm>
          <a:off x="743712" y="1442440"/>
          <a:ext cx="64598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616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Benefit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Explanation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Interoperability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Same tools work across different AI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Discoverability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can learn what tools are available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Standardization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 protocol, not dozens of custom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Extensibility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Add new tools without changing AI logic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"/>
          <p:cNvSpPr txBox="1"/>
          <p:nvPr/>
        </p:nvSpPr>
        <p:spPr>
          <a:xfrm>
            <a:off x="743712" y="850000"/>
            <a:ext cx="5109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Tool Calling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743712" y="1442440"/>
            <a:ext cx="869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Define clear tool schemas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name, description, parameters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743712" y="1862640"/>
            <a:ext cx="956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Validate tool calls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before execution — allowlist + parameter checks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 txBox="1"/>
          <p:nvPr/>
        </p:nvSpPr>
        <p:spPr>
          <a:xfrm>
            <a:off x="1018440" y="2282840"/>
            <a:ext cx="6641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Set timeouts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e.g., 30 seconds max per tool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 txBox="1"/>
          <p:nvPr/>
        </p:nvSpPr>
        <p:spPr>
          <a:xfrm>
            <a:off x="1018440" y="2703040"/>
            <a:ext cx="638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Log all tool calls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audit trail for debugging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 txBox="1"/>
          <p:nvPr/>
        </p:nvSpPr>
        <p:spPr>
          <a:xfrm>
            <a:off x="743712" y="3123240"/>
            <a:ext cx="941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 human approval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destructive actions — never auto-run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 txBox="1"/>
          <p:nvPr/>
        </p:nvSpPr>
        <p:spPr>
          <a:xfrm>
            <a:off x="1357200" y="3543440"/>
            <a:ext cx="1864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writes/deletes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 txBox="1"/>
          <p:nvPr/>
        </p:nvSpPr>
        <p:spPr>
          <a:xfrm>
            <a:off x="5478780" y="3331520"/>
            <a:ext cx="1234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 txBox="1"/>
          <p:nvPr/>
        </p:nvSpPr>
        <p:spPr>
          <a:xfrm>
            <a:off x="4731780" y="3853960"/>
            <a:ext cx="272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"/>
          <p:cNvSpPr txBox="1"/>
          <p:nvPr/>
        </p:nvSpPr>
        <p:spPr>
          <a:xfrm>
            <a:off x="743712" y="850000"/>
            <a:ext cx="3390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vs. Chatbot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478" name="Table 2477"/>
          <p:cNvGraphicFramePr>
            <a:graphicFrameLocks noGrp="1"/>
          </p:cNvGraphicFramePr>
          <p:nvPr/>
        </p:nvGraphicFramePr>
        <p:xfrm>
          <a:off x="743712" y="1442440"/>
          <a:ext cx="894300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3976680"/>
                <a:gridCol w="3656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Chatbot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turn or simple back-and-forth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Multi-step, goal-oriented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drives each step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plans and executes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Limited to conversation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maintain state across steps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 (text only)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call tools, modify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Autonomy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Goal-directed autonomy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"Explain this code"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"Fix all bugs in this repository"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"/>
          <p:cNvSpPr txBox="1"/>
          <p:nvPr/>
        </p:nvSpPr>
        <p:spPr>
          <a:xfrm>
            <a:off x="743712" y="7560"/>
            <a:ext cx="301608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Agent Loop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6" name="TextBox 2505"/>
          <p:cNvSpPr txBox="1"/>
          <p:nvPr/>
        </p:nvSpPr>
        <p:spPr>
          <a:xfrm>
            <a:off x="923760" y="600000"/>
            <a:ext cx="7725400" cy="521788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GOAL    │  "Add dark mode to the entire app"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PLAN    │  Break goal into steps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 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ACT     │ ←→  │  OBSERVE │  (Tool call → result)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     └──────────┘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THINK   │  Evaluate progress, adjust plan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REPEAT  │  Until goal achieved or blocked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"/>
          <p:cNvSpPr txBox="1"/>
          <p:nvPr/>
        </p:nvSpPr>
        <p:spPr>
          <a:xfrm>
            <a:off x="743712" y="850000"/>
            <a:ext cx="5020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Levels of Agent Autonomy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643" name="Table 2642"/>
          <p:cNvGraphicFramePr>
            <a:graphicFrameLocks noGrp="1"/>
          </p:cNvGraphicFramePr>
          <p:nvPr/>
        </p:nvGraphicFramePr>
        <p:xfrm>
          <a:off x="743712" y="1442440"/>
          <a:ext cx="90792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00"/>
                <a:gridCol w="1309680"/>
                <a:gridCol w="4190040"/>
                <a:gridCol w="29098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Responds, needs step-by-step guidance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Basic chatbot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Tool-caller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request tools, human approves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Agent with approval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Planner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Makes plans, executes with supervision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Auto-code review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Autonomous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Self-directed, minimal supervision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CI/CD agent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Full 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Complete task ownership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Enterprise automation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"/>
          <p:cNvSpPr txBox="1"/>
          <p:nvPr/>
        </p:nvSpPr>
        <p:spPr>
          <a:xfrm>
            <a:off x="743712" y="850000"/>
            <a:ext cx="5834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How Agents Change Your Role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7" name=""/>
          <p:cNvSpPr txBox="1"/>
          <p:nvPr/>
        </p:nvSpPr>
        <p:spPr>
          <a:xfrm>
            <a:off x="747720" y="1442440"/>
            <a:ext cx="166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Traditional: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8" name=""/>
          <p:cNvSpPr txBox="1"/>
          <p:nvPr/>
        </p:nvSpPr>
        <p:spPr>
          <a:xfrm>
            <a:off x="923760" y="1862640"/>
            <a:ext cx="5430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Developer writes every line → tests → deploys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9" name=""/>
          <p:cNvSpPr txBox="1"/>
          <p:nvPr/>
        </p:nvSpPr>
        <p:spPr>
          <a:xfrm>
            <a:off x="747720" y="2162600"/>
            <a:ext cx="233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Agent-Assisted: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0" name=""/>
          <p:cNvSpPr txBox="1"/>
          <p:nvPr/>
        </p:nvSpPr>
        <p:spPr>
          <a:xfrm>
            <a:off x="743712" y="2582800"/>
            <a:ext cx="9412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Developer defines intent → Agent executes → Developer reviews → Agent iterates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726" name="Table 2725"/>
          <p:cNvGraphicFramePr>
            <a:graphicFrameLocks noGrp="1"/>
          </p:cNvGraphicFramePr>
          <p:nvPr/>
        </p:nvGraphicFramePr>
        <p:xfrm>
          <a:off x="743712" y="2882760"/>
          <a:ext cx="368616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720"/>
                <a:gridCol w="20564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Old Role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New Role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writer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Intent specifier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Debugger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Quality reviewer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Orchestration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Manual testing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Acceptance testing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Problem solver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Problem framer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"/>
          <p:cNvSpPr txBox="1"/>
          <p:nvPr/>
        </p:nvSpPr>
        <p:spPr>
          <a:xfrm>
            <a:off x="743712" y="850000"/>
            <a:ext cx="3853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1" name=""/>
          <p:cNvSpPr txBox="1"/>
          <p:nvPr/>
        </p:nvSpPr>
        <p:spPr>
          <a:xfrm>
            <a:off x="747720" y="1442440"/>
            <a:ext cx="2455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for agents: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3" name=""/>
          <p:cNvSpPr txBox="1"/>
          <p:nvPr/>
        </p:nvSpPr>
        <p:spPr>
          <a:xfrm>
            <a:off x="1357200" y="1862640"/>
            <a:ext cx="5879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Large, multi-step tasks · Repetitive patterns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5" name=""/>
          <p:cNvSpPr txBox="1"/>
          <p:nvPr/>
        </p:nvSpPr>
        <p:spPr>
          <a:xfrm>
            <a:off x="1357200" y="2282840"/>
            <a:ext cx="5251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Well-defined with clear success criteria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6" name=""/>
          <p:cNvSpPr txBox="1"/>
          <p:nvPr/>
        </p:nvSpPr>
        <p:spPr>
          <a:xfrm>
            <a:off x="1357200" y="2703040"/>
            <a:ext cx="586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Low-risk changes · Documentation updates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8" name=""/>
          <p:cNvSpPr txBox="1"/>
          <p:nvPr/>
        </p:nvSpPr>
        <p:spPr>
          <a:xfrm>
            <a:off x="747720" y="3123240"/>
            <a:ext cx="223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Bad for agents: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0" name=""/>
          <p:cNvSpPr txBox="1"/>
          <p:nvPr/>
        </p:nvSpPr>
        <p:spPr>
          <a:xfrm>
            <a:off x="1357200" y="3543440"/>
            <a:ext cx="657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Security-critical systems · Unrecoverable 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2" name=""/>
          <p:cNvSpPr txBox="1"/>
          <p:nvPr/>
        </p:nvSpPr>
        <p:spPr>
          <a:xfrm>
            <a:off x="1357200" y="3963640"/>
            <a:ext cx="6201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Poorly defined goals · Real-time requirements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3" name=""/>
          <p:cNvSpPr txBox="1"/>
          <p:nvPr/>
        </p:nvSpPr>
        <p:spPr>
          <a:xfrm>
            <a:off x="1357200" y="4383840"/>
            <a:ext cx="252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cost of failure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869" name="Table 2868"/>
          <p:cNvGraphicFramePr>
            <a:graphicFrameLocks noGrp="1"/>
          </p:cNvGraphicFramePr>
          <p:nvPr/>
        </p:nvGraphicFramePr>
        <p:xfrm>
          <a:off x="743712" y="1442440"/>
          <a:ext cx="7662840" cy="402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0564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Insight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How AI Models Work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Probabilistic, not deterministic – manage with temperature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Hallucinations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Models invent confidently – always verify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Tokens and Pricing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Output costs more – optimize context, use cheaper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most valuable skill – quality in = quality out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 Calling &amp; MCP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requests actions, you control execution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Goal-directed action – changes developer role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"/>
          <p:cNvSpPr txBox="1"/>
          <p:nvPr/>
        </p:nvSpPr>
        <p:spPr>
          <a:xfrm>
            <a:off x="3250020" y="2674620"/>
            <a:ext cx="56919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Editor Essentials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3" name=""/>
          <p:cNvSpPr txBox="1"/>
          <p:nvPr/>
        </p:nvSpPr>
        <p:spPr>
          <a:xfrm>
            <a:off x="3496980" y="3320740"/>
            <a:ext cx="519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· Day 1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4" name=""/>
          <p:cNvSpPr txBox="1"/>
          <p:nvPr/>
        </p:nvSpPr>
        <p:spPr>
          <a:xfrm>
            <a:off x="2330760" y="3843180"/>
            <a:ext cx="753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Hands-on exercise · ~90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5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942" name="Table 2941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~90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1 completed, Cursor installed, Git repository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the core workflows of AI-assisted coding in Cursor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7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9" name=""/>
          <p:cNvSpPr txBox="1"/>
          <p:nvPr/>
        </p:nvSpPr>
        <p:spPr>
          <a:xfrm>
            <a:off x="1357200" y="1862640"/>
            <a:ext cx="6049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Orient an AI agent to an unfamiliar codebase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1" name=""/>
          <p:cNvSpPr txBox="1"/>
          <p:nvPr/>
        </p:nvSpPr>
        <p:spPr>
          <a:xfrm>
            <a:off x="1357200" y="2282840"/>
            <a:ext cx="711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Get targeted explanations of specific files or symbols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3" name=""/>
          <p:cNvSpPr txBox="1"/>
          <p:nvPr/>
        </p:nvSpPr>
        <p:spPr>
          <a:xfrm>
            <a:off x="1357200" y="2703040"/>
            <a:ext cx="654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Make safe, reviewable changes using diff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5" name=""/>
          <p:cNvSpPr txBox="1"/>
          <p:nvPr/>
        </p:nvSpPr>
        <p:spPr>
          <a:xfrm>
            <a:off x="1357200" y="3123240"/>
            <a:ext cx="5574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Design complex changes with Plan Mode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7" name=""/>
          <p:cNvSpPr txBox="1"/>
          <p:nvPr/>
        </p:nvSpPr>
        <p:spPr>
          <a:xfrm>
            <a:off x="1357200" y="3543440"/>
            <a:ext cx="7336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Compare models to choose the right one for each task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9" name=""/>
          <p:cNvSpPr txBox="1"/>
          <p:nvPr/>
        </p:nvSpPr>
        <p:spPr>
          <a:xfrm>
            <a:off x="1357200" y="3963640"/>
            <a:ext cx="574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@mentions for precise context 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1" name=""/>
          <p:cNvSpPr txBox="1"/>
          <p:nvPr/>
        </p:nvSpPr>
        <p:spPr>
          <a:xfrm>
            <a:off x="1357200" y="4383840"/>
            <a:ext cx="4965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Navigate checkpoints as a safety net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2" name=""/>
          <p:cNvSpPr txBox="1"/>
          <p:nvPr/>
        </p:nvSpPr>
        <p:spPr>
          <a:xfrm>
            <a:off x="1357200" y="4804040"/>
            <a:ext cx="7320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 agents run terminal commands and react to 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120" name="Table 3119"/>
          <p:cNvGraphicFramePr>
            <a:graphicFrameLocks noGrp="1"/>
          </p:cNvGraphicFramePr>
          <p:nvPr/>
        </p:nvGraphicFramePr>
        <p:xfrm>
          <a:off x="743712" y="1442440"/>
          <a:ext cx="424908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69652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Codebase Understanding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Explaining Files/Symbols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 Reviewable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Plan Mode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Comparing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@mentions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Checkpoints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Integration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4" name=""/>
          <p:cNvSpPr txBox="1"/>
          <p:nvPr/>
        </p:nvSpPr>
        <p:spPr>
          <a:xfrm>
            <a:off x="3848700" y="3331520"/>
            <a:ext cx="4494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Codebase Understanding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5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"/>
          <p:cNvSpPr txBox="1"/>
          <p:nvPr/>
        </p:nvSpPr>
        <p:spPr>
          <a:xfrm>
            <a:off x="743712" y="850000"/>
            <a:ext cx="5306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Problem &amp; The Solution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4" name=""/>
          <p:cNvSpPr txBox="1"/>
          <p:nvPr/>
        </p:nvSpPr>
        <p:spPr>
          <a:xfrm>
            <a:off x="743712" y="1442440"/>
            <a:ext cx="1067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Problem: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Opening a new codebase is overwhelming. Where do you start?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5" name=""/>
          <p:cNvSpPr txBox="1"/>
          <p:nvPr/>
        </p:nvSpPr>
        <p:spPr>
          <a:xfrm>
            <a:off x="747720" y="1862640"/>
            <a:ext cx="310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What's the entry point?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6" name=""/>
          <p:cNvSpPr txBox="1"/>
          <p:nvPr/>
        </p:nvSpPr>
        <p:spPr>
          <a:xfrm>
            <a:off x="743712" y="2282840"/>
            <a:ext cx="10181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Cursor Solution: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the agent to explain the codebase. It reads files,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7" name=""/>
          <p:cNvSpPr txBox="1"/>
          <p:nvPr/>
        </p:nvSpPr>
        <p:spPr>
          <a:xfrm>
            <a:off x="747720" y="2703040"/>
            <a:ext cx="5879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traces connections, and returns a roadmap.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8" name=""/>
          <p:cNvSpPr txBox="1"/>
          <p:nvPr/>
        </p:nvSpPr>
        <p:spPr>
          <a:xfrm>
            <a:off x="743712" y="3123240"/>
            <a:ext cx="945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"Drop an agent into a codebase you've never seen and get a coherent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9" name=""/>
          <p:cNvSpPr txBox="1"/>
          <p:nvPr/>
        </p:nvSpPr>
        <p:spPr>
          <a:xfrm>
            <a:off x="1090440" y="3543440"/>
            <a:ext cx="385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explanation of how it works."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9" name=""/>
          <p:cNvSpPr txBox="1"/>
          <p:nvPr/>
        </p:nvSpPr>
        <p:spPr>
          <a:xfrm>
            <a:off x="747720" y="1442440"/>
            <a:ext cx="6420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an unfamiliar repository in Cursor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4" name=""/>
          <p:cNvSpPr txBox="1"/>
          <p:nvPr/>
        </p:nvSpPr>
        <p:spPr>
          <a:xfrm>
            <a:off x="747720" y="3038640"/>
            <a:ext cx="34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the Agent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5" name=""/>
          <p:cNvSpPr txBox="1"/>
          <p:nvPr/>
        </p:nvSpPr>
        <p:spPr>
          <a:xfrm>
            <a:off x="4221720" y="429924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Cmd+I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7" name=""/>
          <p:cNvSpPr txBox="1"/>
          <p:nvPr/>
        </p:nvSpPr>
        <p:spPr>
          <a:xfrm>
            <a:off x="743712" y="3458840"/>
            <a:ext cx="44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8" name=""/>
          <p:cNvSpPr txBox="1"/>
          <p:nvPr/>
        </p:nvSpPr>
        <p:spPr>
          <a:xfrm>
            <a:off x="743712" y="465392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Ctrl+I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9" name=""/>
          <p:cNvSpPr txBox="1"/>
          <p:nvPr/>
        </p:nvSpPr>
        <p:spPr>
          <a:xfrm>
            <a:off x="743712" y="38790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3" name="TextBox 3162"/>
          <p:cNvSpPr txBox="1"/>
          <p:nvPr/>
        </p:nvSpPr>
        <p:spPr>
          <a:xfrm>
            <a:off x="923760" y="1862640"/>
            <a:ext cx="78625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git clone https://github.com/facebookresearch/detectron2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cd detectron2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cursor 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"/>
          <p:cNvSpPr txBox="1"/>
          <p:nvPr/>
        </p:nvSpPr>
        <p:spPr>
          <a:xfrm>
            <a:off x="743712" y="850000"/>
            <a:ext cx="7949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2.1 — Step 3: Orientation Prompt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9" name="TextBox 3178"/>
          <p:cNvSpPr txBox="1"/>
          <p:nvPr/>
        </p:nvSpPr>
        <p:spPr>
          <a:xfrm>
            <a:off x="743712" y="1442440"/>
            <a:ext cx="90970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Explain this codebase to me as if I'm a new team member.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Specifically tell me: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What is the main purpose of this project?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What are the entry points (main scripts, CLI, API)?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What are the key modules and how do they relate?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What are the main dependencies?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5. What files should I read first to understand the architecture?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2.1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7" name=""/>
          <p:cNvSpPr txBox="1"/>
          <p:nvPr/>
        </p:nvSpPr>
        <p:spPr>
          <a:xfrm>
            <a:off x="747720" y="144244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Follow up — trace data flow: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0" name=""/>
          <p:cNvSpPr txBox="1"/>
          <p:nvPr/>
        </p:nvSpPr>
        <p:spPr>
          <a:xfrm>
            <a:off x="747720" y="2733840"/>
            <a:ext cx="454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for a visual overview: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1" name=""/>
          <p:cNvSpPr txBox="1"/>
          <p:nvPr/>
        </p:nvSpPr>
        <p:spPr>
          <a:xfrm>
            <a:off x="743712" y="3154040"/>
            <a:ext cx="8929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Create an ASCII diagram showing the module relationships in this codebase.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5" name="TextBox 3194"/>
          <p:cNvSpPr txBox="1"/>
          <p:nvPr/>
        </p:nvSpPr>
        <p:spPr>
          <a:xfrm>
            <a:off x="743712" y="1862640"/>
            <a:ext cx="90970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Based on what you just told me, trace the flow of data from input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 output. What functions get called in order?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"/>
          <p:cNvSpPr txBox="1"/>
          <p:nvPr/>
        </p:nvSpPr>
        <p:spPr>
          <a:xfrm>
            <a:off x="743712" y="850000"/>
            <a:ext cx="6186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Expected Agent Output (Sample)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4" name="TextBox 3213"/>
          <p:cNvSpPr txBox="1"/>
          <p:nvPr/>
        </p:nvSpPr>
        <p:spPr>
          <a:xfrm>
            <a:off x="743712" y="1442440"/>
            <a:ext cx="9645640" cy="4144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PURPOSE: Object detection and segmentation library (PyTorch)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ENTRY 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• train_net.py — Main training script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• demo.py — Inference demo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KEY MODULES: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config/ ←→ model_zoo ←→ engine/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↓           ↓         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structures ←→ modeling/ ←→ data/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DATA FLOW: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Config → build_model() → DataLoader → Training Loop → Loss → Backprop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"/>
          <p:cNvSpPr txBox="1"/>
          <p:nvPr/>
        </p:nvSpPr>
        <p:spPr>
          <a:xfrm>
            <a:off x="743712" y="850000"/>
            <a:ext cx="4977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Pro Tip &amp; Success Criteria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0" name=""/>
          <p:cNvSpPr txBox="1"/>
          <p:nvPr/>
        </p:nvSpPr>
        <p:spPr>
          <a:xfrm>
            <a:off x="747720" y="1442440"/>
            <a:ext cx="7564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 Tip: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Save the agent's explanation as a project note: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4" name=""/>
          <p:cNvSpPr txBox="1"/>
          <p:nvPr/>
        </p:nvSpPr>
        <p:spPr>
          <a:xfrm>
            <a:off x="747720" y="27338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6" name=""/>
          <p:cNvSpPr txBox="1"/>
          <p:nvPr/>
        </p:nvSpPr>
        <p:spPr>
          <a:xfrm>
            <a:off x="1357200" y="3154040"/>
            <a:ext cx="438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described project purpose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8" name=""/>
          <p:cNvSpPr txBox="1"/>
          <p:nvPr/>
        </p:nvSpPr>
        <p:spPr>
          <a:xfrm>
            <a:off x="1357200" y="3574240"/>
            <a:ext cx="6151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identified entry points and key modules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9" name=""/>
          <p:cNvSpPr txBox="1"/>
          <p:nvPr/>
        </p:nvSpPr>
        <p:spPr>
          <a:xfrm>
            <a:off x="1357200" y="3994440"/>
            <a:ext cx="452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suggested first files to 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3" name="TextBox 3232"/>
          <p:cNvSpPr txBox="1"/>
          <p:nvPr/>
        </p:nvSpPr>
        <p:spPr>
          <a:xfrm>
            <a:off x="743712" y="18626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Save this explanation as .cursor/project-overview.md so future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team members can read it.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7" name=""/>
          <p:cNvSpPr txBox="1"/>
          <p:nvPr/>
        </p:nvSpPr>
        <p:spPr>
          <a:xfrm>
            <a:off x="2946360" y="3331520"/>
            <a:ext cx="6299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Explaining a Specific File or Symbol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8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" name=""/>
          <p:cNvSpPr txBox="1"/>
          <p:nvPr/>
        </p:nvSpPr>
        <p:spPr>
          <a:xfrm>
            <a:off x="743712" y="850000"/>
            <a:ext cx="4250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Targeted Explanations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7" name=""/>
          <p:cNvSpPr txBox="1"/>
          <p:nvPr/>
        </p:nvSpPr>
        <p:spPr>
          <a:xfrm>
            <a:off x="743712" y="1442440"/>
            <a:ext cx="9537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"Don't make the agent read the whole codebase when you just need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8" name=""/>
          <p:cNvSpPr txBox="1"/>
          <p:nvPr/>
        </p:nvSpPr>
        <p:spPr>
          <a:xfrm>
            <a:off x="1090440" y="1862640"/>
            <a:ext cx="346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 one function."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9" name=""/>
          <p:cNvSpPr txBox="1"/>
          <p:nvPr/>
        </p:nvSpPr>
        <p:spPr>
          <a:xfrm>
            <a:off x="743712" y="2282840"/>
            <a:ext cx="106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precise context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select a function or class, then ask focused questions.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2.2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9" name=""/>
          <p:cNvSpPr txBox="1"/>
          <p:nvPr/>
        </p:nvSpPr>
        <p:spPr>
          <a:xfrm>
            <a:off x="747720" y="1442440"/>
            <a:ext cx="5675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a specific file in your project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0" name=""/>
          <p:cNvSpPr txBox="1"/>
          <p:nvPr/>
        </p:nvSpPr>
        <p:spPr>
          <a:xfrm>
            <a:off x="747720" y="1862640"/>
            <a:ext cx="718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Select a function or class you want explained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1" name=""/>
          <p:cNvSpPr txBox="1"/>
          <p:nvPr/>
        </p:nvSpPr>
        <p:spPr>
          <a:xfrm>
            <a:off x="747720" y="2282840"/>
            <a:ext cx="5879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Use the Agent with precise context: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0" name="TextBox 3269"/>
          <p:cNvSpPr txBox="1"/>
          <p:nvPr/>
        </p:nvSpPr>
        <p:spPr>
          <a:xfrm>
            <a:off x="743712" y="2703040"/>
            <a:ext cx="978280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Explain the function I have selected. For each major section, tell me: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What it does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Why it's designed that way (trade-offs)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Potential edge cases or bugs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How it could be improved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2.2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8" name=""/>
          <p:cNvSpPr txBox="1"/>
          <p:nvPr/>
        </p:nvSpPr>
        <p:spPr>
          <a:xfrm>
            <a:off x="747720" y="1442440"/>
            <a:ext cx="4879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for a concrete example: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1" name=""/>
          <p:cNvSpPr txBox="1"/>
          <p:nvPr/>
        </p:nvSpPr>
        <p:spPr>
          <a:xfrm>
            <a:off x="747720" y="2733840"/>
            <a:ext cx="4524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about dependencies: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7" name="TextBox 3286"/>
          <p:cNvSpPr txBox="1"/>
          <p:nvPr/>
        </p:nvSpPr>
        <p:spPr>
          <a:xfrm>
            <a:off x="743712" y="1862640"/>
            <a:ext cx="93713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Give me a concrete example of inputs and outputs for this function.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Show me what happens in the normal case and one edge case.</a:t>
            </a:r>
          </a:p>
        </p:txBody>
      </p:sp>
      <p:sp>
        <p:nvSpPr>
          <p:cNvPr id="3288" name="TextBox 3287"/>
          <p:cNvSpPr txBox="1"/>
          <p:nvPr/>
        </p:nvSpPr>
        <p:spPr>
          <a:xfrm>
            <a:off x="743712" y="31540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other functions does this call? What calls this function?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Trace the call chain two levels in each direction.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"/>
          <p:cNvSpPr txBox="1"/>
          <p:nvPr/>
        </p:nvSpPr>
        <p:spPr>
          <a:xfrm>
            <a:off x="743712" y="850000"/>
            <a:ext cx="5130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Inline Explanation Shortcut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6" name=""/>
          <p:cNvSpPr txBox="1"/>
          <p:nvPr/>
        </p:nvSpPr>
        <p:spPr>
          <a:xfrm>
            <a:off x="747720" y="23136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8" name=""/>
          <p:cNvSpPr txBox="1"/>
          <p:nvPr/>
        </p:nvSpPr>
        <p:spPr>
          <a:xfrm>
            <a:off x="1357200" y="2733840"/>
            <a:ext cx="7286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Selected specific code · Agent explained the selection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9" name=""/>
          <p:cNvSpPr txBox="1"/>
          <p:nvPr/>
        </p:nvSpPr>
        <p:spPr>
          <a:xfrm>
            <a:off x="743712" y="3154040"/>
            <a:ext cx="964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provided input/output examples · Agent traced call dependencies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3" name="TextBox 3302"/>
          <p:cNvSpPr txBox="1"/>
          <p:nvPr/>
        </p:nvSpPr>
        <p:spPr>
          <a:xfrm>
            <a:off x="923760" y="1442440"/>
            <a:ext cx="78625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Select code, press Cmd+L (or Ctrl+L)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The agent explains the selected code in the chat panel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7" name=""/>
          <p:cNvSpPr txBox="1"/>
          <p:nvPr/>
        </p:nvSpPr>
        <p:spPr>
          <a:xfrm>
            <a:off x="2945820" y="3331520"/>
            <a:ext cx="6300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Making a Safe, Reviewable Change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8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"/>
          <p:cNvSpPr txBox="1"/>
          <p:nvPr/>
        </p:nvSpPr>
        <p:spPr>
          <a:xfrm>
            <a:off x="743712" y="850000"/>
            <a:ext cx="4844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Diff Review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7" name=""/>
          <p:cNvSpPr txBox="1"/>
          <p:nvPr/>
        </p:nvSpPr>
        <p:spPr>
          <a:xfrm>
            <a:off x="1018440" y="1442440"/>
            <a:ext cx="455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Ask agent to propose a change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8" name=""/>
          <p:cNvSpPr txBox="1"/>
          <p:nvPr/>
        </p:nvSpPr>
        <p:spPr>
          <a:xfrm>
            <a:off x="1018440" y="1862640"/>
            <a:ext cx="5683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Review the diff (what's added/removed)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9" name=""/>
          <p:cNvSpPr txBox="1"/>
          <p:nvPr/>
        </p:nvSpPr>
        <p:spPr>
          <a:xfrm>
            <a:off x="1018440" y="2282840"/>
            <a:ext cx="3694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Accept or reject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0" name=""/>
          <p:cNvSpPr txBox="1"/>
          <p:nvPr/>
        </p:nvSpPr>
        <p:spPr>
          <a:xfrm>
            <a:off x="1018440" y="2703040"/>
            <a:ext cx="327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Test after acceptance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1" name=""/>
          <p:cNvSpPr txBox="1"/>
          <p:nvPr/>
        </p:nvSpPr>
        <p:spPr>
          <a:xfrm>
            <a:off x="743712" y="3123240"/>
            <a:ext cx="983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"Before AI changes your code, see exactly what will change and approve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2" name=""/>
          <p:cNvSpPr txBox="1"/>
          <p:nvPr/>
        </p:nvSpPr>
        <p:spPr>
          <a:xfrm>
            <a:off x="1090440" y="3543440"/>
            <a:ext cx="34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2.3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4" name=""/>
          <p:cNvSpPr txBox="1"/>
          <p:nvPr/>
        </p:nvSpPr>
        <p:spPr>
          <a:xfrm>
            <a:off x="747720" y="1442440"/>
            <a:ext cx="5015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for a small, safe change: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6" name=""/>
          <p:cNvSpPr txBox="1"/>
          <p:nvPr/>
        </p:nvSpPr>
        <p:spPr>
          <a:xfrm>
            <a:off x="747720" y="2733840"/>
            <a:ext cx="569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Watch the agent generate the diff: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7" name=""/>
          <p:cNvSpPr txBox="1"/>
          <p:nvPr/>
        </p:nvSpPr>
        <p:spPr>
          <a:xfrm>
            <a:off x="1176120" y="3154040"/>
            <a:ext cx="2775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Changes to index.html: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4" name="TextBox 3353"/>
          <p:cNvSpPr txBox="1"/>
          <p:nvPr/>
        </p:nvSpPr>
        <p:spPr>
          <a:xfrm>
            <a:off x="923760" y="1862640"/>
            <a:ext cx="82740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Change the welcome message in index.html from "Hello World"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 "Welcome to My App"</a:t>
            </a:r>
          </a:p>
        </p:txBody>
      </p:sp>
      <p:sp>
        <p:nvSpPr>
          <p:cNvPr id="3355" name="TextBox 3354"/>
          <p:cNvSpPr txBox="1"/>
          <p:nvPr/>
        </p:nvSpPr>
        <p:spPr>
          <a:xfrm>
            <a:off x="923760" y="3454000"/>
            <a:ext cx="42964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📝 Changes to index.html: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&lt;h1&gt;- Hello World&lt;/h1&gt;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&lt;h1&gt;+ Welcome to My App&lt;/h1&gt;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Accept? [Yes] [No] [Edit]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"/>
          <p:cNvSpPr txBox="1"/>
          <p:nvPr/>
        </p:nvSpPr>
        <p:spPr>
          <a:xfrm>
            <a:off x="743712" y="850000"/>
            <a:ext cx="6321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2.3 — Review Questions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1" name=""/>
          <p:cNvSpPr txBox="1"/>
          <p:nvPr/>
        </p:nvSpPr>
        <p:spPr>
          <a:xfrm>
            <a:off x="747720" y="1442440"/>
            <a:ext cx="416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accepting, ask yourself: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3" name=""/>
          <p:cNvSpPr txBox="1"/>
          <p:nvPr/>
        </p:nvSpPr>
        <p:spPr>
          <a:xfrm>
            <a:off x="1357200" y="1862640"/>
            <a:ext cx="533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the changes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only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what I asked for?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5" name=""/>
          <p:cNvSpPr txBox="1"/>
          <p:nvPr/>
        </p:nvSpPr>
        <p:spPr>
          <a:xfrm>
            <a:off x="1357200" y="2282840"/>
            <a:ext cx="605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there unexpected additions or deletions?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7" name=""/>
          <p:cNvSpPr txBox="1"/>
          <p:nvPr/>
        </p:nvSpPr>
        <p:spPr>
          <a:xfrm>
            <a:off x="1357200" y="2703040"/>
            <a:ext cx="4015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the syntax look correct?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8" name=""/>
          <p:cNvSpPr txBox="1"/>
          <p:nvPr/>
        </p:nvSpPr>
        <p:spPr>
          <a:xfrm>
            <a:off x="1357200" y="3123240"/>
            <a:ext cx="394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Will this break anything else?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9" name=""/>
          <p:cNvSpPr txBox="1"/>
          <p:nvPr/>
        </p:nvSpPr>
        <p:spPr>
          <a:xfrm>
            <a:off x="747720" y="3543440"/>
            <a:ext cx="5302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Accept ·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manually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6" name="TextBox 3375"/>
          <p:cNvSpPr txBox="1"/>
          <p:nvPr/>
        </p:nvSpPr>
        <p:spPr>
          <a:xfrm>
            <a:off x="923760" y="3963640"/>
            <a:ext cx="47078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open index.html          # web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script.py         # Python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npm start                # React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"/>
          <p:cNvSpPr txBox="1"/>
          <p:nvPr/>
        </p:nvSpPr>
        <p:spPr>
          <a:xfrm>
            <a:off x="743712" y="850000"/>
            <a:ext cx="7773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2.3 — If Something Goes Wrong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5" name=""/>
          <p:cNvSpPr txBox="1"/>
          <p:nvPr/>
        </p:nvSpPr>
        <p:spPr>
          <a:xfrm>
            <a:off x="747720" y="23136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7" name=""/>
          <p:cNvSpPr txBox="1"/>
          <p:nvPr/>
        </p:nvSpPr>
        <p:spPr>
          <a:xfrm>
            <a:off x="743712" y="2733840"/>
            <a:ext cx="7930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proposed a change · Reviewed diff before accepting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8" name=""/>
          <p:cNvSpPr txBox="1"/>
          <p:nvPr/>
        </p:nvSpPr>
        <p:spPr>
          <a:xfrm>
            <a:off x="1357200" y="3154040"/>
            <a:ext cx="6947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Accepted only after verification · Tested the change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2" name="TextBox 3391"/>
          <p:cNvSpPr txBox="1"/>
          <p:nvPr/>
        </p:nvSpPr>
        <p:spPr>
          <a:xfrm>
            <a:off x="923760" y="1442440"/>
            <a:ext cx="67652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That change didn't work. The button disappeared.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Please explain what happened and suggest a fix.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6" name=""/>
          <p:cNvSpPr txBox="1"/>
          <p:nvPr/>
        </p:nvSpPr>
        <p:spPr>
          <a:xfrm>
            <a:off x="5148480" y="3331520"/>
            <a:ext cx="1895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Plan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7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"/>
          <p:cNvSpPr txBox="1"/>
          <p:nvPr/>
        </p:nvSpPr>
        <p:spPr>
          <a:xfrm>
            <a:off x="743712" y="850000"/>
            <a:ext cx="4646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Design Before You Code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5" name=""/>
          <p:cNvSpPr txBox="1"/>
          <p:nvPr/>
        </p:nvSpPr>
        <p:spPr>
          <a:xfrm>
            <a:off x="743712" y="1442440"/>
            <a:ext cx="9978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 Mode makes the agent create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detailed plan BEFORE writing any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6" name=""/>
          <p:cNvSpPr txBox="1"/>
          <p:nvPr/>
        </p:nvSpPr>
        <p:spPr>
          <a:xfrm>
            <a:off x="747720" y="1862640"/>
            <a:ext cx="796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8" name=""/>
          <p:cNvSpPr txBox="1"/>
          <p:nvPr/>
        </p:nvSpPr>
        <p:spPr>
          <a:xfrm>
            <a:off x="747720" y="2282840"/>
            <a:ext cx="352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to use Plan Mode: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0" name=""/>
          <p:cNvSpPr txBox="1"/>
          <p:nvPr/>
        </p:nvSpPr>
        <p:spPr>
          <a:xfrm>
            <a:off x="1357200" y="2703040"/>
            <a:ext cx="6219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Changing multiple files · Adding a new feature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2" name=""/>
          <p:cNvSpPr txBox="1"/>
          <p:nvPr/>
        </p:nvSpPr>
        <p:spPr>
          <a:xfrm>
            <a:off x="1357200" y="3123240"/>
            <a:ext cx="34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Refactoring existing 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4" name=""/>
          <p:cNvSpPr txBox="1"/>
          <p:nvPr/>
        </p:nvSpPr>
        <p:spPr>
          <a:xfrm>
            <a:off x="1357200" y="3543440"/>
            <a:ext cx="578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You're not 100% sure of the best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5" name=""/>
          <p:cNvSpPr txBox="1"/>
          <p:nvPr/>
        </p:nvSpPr>
        <p:spPr>
          <a:xfrm>
            <a:off x="1357200" y="3963640"/>
            <a:ext cx="477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change is risky or hard to undo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"/>
          <p:cNvSpPr txBox="1"/>
          <p:nvPr/>
        </p:nvSpPr>
        <p:spPr>
          <a:xfrm>
            <a:off x="743712" y="850000"/>
            <a:ext cx="6299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2.4 — Enable Plan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9" name=""/>
          <p:cNvSpPr txBox="1"/>
          <p:nvPr/>
        </p:nvSpPr>
        <p:spPr>
          <a:xfrm>
            <a:off x="747720" y="2313640"/>
            <a:ext cx="4947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Describe a complex change: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9" name="TextBox 3438"/>
          <p:cNvSpPr txBox="1"/>
          <p:nvPr/>
        </p:nvSpPr>
        <p:spPr>
          <a:xfrm>
            <a:off x="923760" y="1442440"/>
            <a:ext cx="75882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Press Shift+Tab in the Agent input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The input border changes color to indicate Plan Mode</a:t>
            </a:r>
          </a:p>
        </p:txBody>
      </p:sp>
      <p:sp>
        <p:nvSpPr>
          <p:cNvPr id="3440" name="TextBox 3439"/>
          <p:cNvSpPr txBox="1"/>
          <p:nvPr/>
        </p:nvSpPr>
        <p:spPr>
          <a:xfrm>
            <a:off x="923760" y="2733840"/>
            <a:ext cx="63538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Add user authentication to this web app.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Requirements: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Email/password login · Session management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Protected routes (dashboard, settings)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Logout functionality · "Remember me" option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Don't write code yet – just give me a plan.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"/>
          <p:cNvSpPr txBox="1"/>
          <p:nvPr/>
        </p:nvSpPr>
        <p:spPr>
          <a:xfrm>
            <a:off x="743712" y="251880"/>
            <a:ext cx="5570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 Good Plan Looks Like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0" name=""/>
          <p:cNvSpPr txBox="1"/>
          <p:nvPr/>
        </p:nvSpPr>
        <p:spPr>
          <a:xfrm>
            <a:off x="1176120" y="844320"/>
            <a:ext cx="2413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IMPLEMENTATION PLAN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5" name="TextBox 3464"/>
          <p:cNvSpPr txBox="1"/>
          <p:nvPr/>
        </p:nvSpPr>
        <p:spPr>
          <a:xfrm>
            <a:off x="743712" y="1144280"/>
            <a:ext cx="8959840" cy="4673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📋 IMPLEMENTATION PLAN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1: Create User Model — models/user.js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2: Auth Routes — routes/auth.js (login, logout, register)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3: Session Management — middleware/session.js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4: Protected Route Middleware — middleware/auth.js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5: Update Frontend — pages/login.html, dashboard.html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6: Environment Variables — .env (SESSION_SECRET, REDIS_URL)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Questions for you: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JWT or server-side sessions?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Existing user database?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Include email verification?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Ready to proceed? [Yes] [No] [Modify Plan]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" name=""/>
          <p:cNvSpPr txBox="1"/>
          <p:nvPr/>
        </p:nvSpPr>
        <p:spPr>
          <a:xfrm>
            <a:off x="743712" y="850000"/>
            <a:ext cx="6541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2.4 — Approve &amp; Execute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1" name=""/>
          <p:cNvSpPr txBox="1"/>
          <p:nvPr/>
        </p:nvSpPr>
        <p:spPr>
          <a:xfrm>
            <a:off x="747720" y="1442440"/>
            <a:ext cx="5371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Answer questions and approve: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4" name=""/>
          <p:cNvSpPr txBox="1"/>
          <p:nvPr/>
        </p:nvSpPr>
        <p:spPr>
          <a:xfrm>
            <a:off x="747720" y="2733840"/>
            <a:ext cx="737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Watch the agent execute the plan step by step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6" name=""/>
          <p:cNvSpPr txBox="1"/>
          <p:nvPr/>
        </p:nvSpPr>
        <p:spPr>
          <a:xfrm>
            <a:off x="747720" y="31540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8" name=""/>
          <p:cNvSpPr txBox="1"/>
          <p:nvPr/>
        </p:nvSpPr>
        <p:spPr>
          <a:xfrm>
            <a:off x="743712" y="3574240"/>
            <a:ext cx="853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Enabled Plan Mode (Shift+Tab) · Agent created structured plan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9" name=""/>
          <p:cNvSpPr txBox="1"/>
          <p:nvPr/>
        </p:nvSpPr>
        <p:spPr>
          <a:xfrm>
            <a:off x="743712" y="3994440"/>
            <a:ext cx="991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asked clarifying questions · Approved plan before code was written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3" name="TextBox 3482"/>
          <p:cNvSpPr txBox="1"/>
          <p:nvPr/>
        </p:nvSpPr>
        <p:spPr>
          <a:xfrm>
            <a:off x="743712" y="1862640"/>
            <a:ext cx="9782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 JWT for simplicity. No existing database yet – use SQLite for now.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Skip email verification for this version. Proceed.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7" name=""/>
          <p:cNvSpPr txBox="1"/>
          <p:nvPr/>
        </p:nvSpPr>
        <p:spPr>
          <a:xfrm>
            <a:off x="4003500" y="3331520"/>
            <a:ext cx="4185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Comparing Two Models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8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6" name=""/>
          <p:cNvSpPr txBox="1"/>
          <p:nvPr/>
        </p:nvSpPr>
        <p:spPr>
          <a:xfrm>
            <a:off x="743712" y="850000"/>
            <a:ext cx="424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Model Selection Guide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598" name="Table 3597"/>
          <p:cNvGraphicFramePr>
            <a:graphicFrameLocks noGrp="1"/>
          </p:cNvGraphicFramePr>
          <p:nvPr/>
        </p:nvGraphicFramePr>
        <p:xfrm>
          <a:off x="743712" y="1442440"/>
          <a:ext cx="904968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560"/>
                <a:gridCol w="333660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Task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Recommended 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Typo fixes, simple edits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 Mini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Cheap, fast, good enough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coding, bug fixes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GPT-5.3 Codex or Claude Sonnet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Best value, high quality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 logic, architecture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Opus or GPT-5.5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Smartest, but expensive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Frontend/visual work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Gemini 3.1 Pro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see images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Fast, simple questions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Haiku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Fastest responses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"/>
          <p:cNvSpPr txBox="1"/>
          <p:nvPr/>
        </p:nvSpPr>
        <p:spPr>
          <a:xfrm>
            <a:off x="743712" y="850000"/>
            <a:ext cx="7003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2.5 — Compare Two Models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9" name=""/>
          <p:cNvSpPr txBox="1"/>
          <p:nvPr/>
        </p:nvSpPr>
        <p:spPr>
          <a:xfrm>
            <a:off x="747720" y="1442440"/>
            <a:ext cx="5642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Set model to Claude Sonnet, 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0" name=""/>
          <p:cNvSpPr txBox="1"/>
          <p:nvPr/>
        </p:nvSpPr>
        <p:spPr>
          <a:xfrm>
            <a:off x="923760" y="1862640"/>
            <a:ext cx="7843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Explain what a closure is in JavaScript with a practical example.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1" name=""/>
          <p:cNvSpPr txBox="1"/>
          <p:nvPr/>
        </p:nvSpPr>
        <p:spPr>
          <a:xfrm>
            <a:off x="747720" y="2162600"/>
            <a:ext cx="3660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Copy the response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2" name=""/>
          <p:cNvSpPr txBox="1"/>
          <p:nvPr/>
        </p:nvSpPr>
        <p:spPr>
          <a:xfrm>
            <a:off x="747720" y="2582800"/>
            <a:ext cx="7639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Switch to GPT-5 Mini — ask the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same question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3" name=""/>
          <p:cNvSpPr txBox="1"/>
          <p:nvPr/>
        </p:nvSpPr>
        <p:spPr>
          <a:xfrm>
            <a:off x="747720" y="3003000"/>
            <a:ext cx="384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Compare responses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684" name="Table 3683"/>
          <p:cNvGraphicFramePr>
            <a:graphicFrameLocks noGrp="1"/>
          </p:cNvGraphicFramePr>
          <p:nvPr/>
        </p:nvGraphicFramePr>
        <p:xfrm>
          <a:off x="743712" y="3423200"/>
          <a:ext cx="49958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1523040"/>
                <a:gridCol w="1203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Comparison 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Claude Sonnet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GPT-5 Mini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Length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example quality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Explanation clarity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"/>
          <p:cNvSpPr txBox="1"/>
          <p:nvPr/>
        </p:nvSpPr>
        <p:spPr>
          <a:xfrm>
            <a:off x="743712" y="850000"/>
            <a:ext cx="7224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2.5 — Cost &amp; Decision Matrix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0" name=""/>
          <p:cNvSpPr txBox="1"/>
          <p:nvPr/>
        </p:nvSpPr>
        <p:spPr>
          <a:xfrm>
            <a:off x="747720" y="1442440"/>
            <a:ext cx="860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token usage at bottom of chat after each request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1" name=""/>
          <p:cNvSpPr txBox="1"/>
          <p:nvPr/>
        </p:nvSpPr>
        <p:spPr>
          <a:xfrm>
            <a:off x="747720" y="1862640"/>
            <a:ext cx="572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a personal decision matrix: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9" name=""/>
          <p:cNvSpPr txBox="1"/>
          <p:nvPr/>
        </p:nvSpPr>
        <p:spPr>
          <a:xfrm>
            <a:off x="743712" y="4678040"/>
            <a:ext cx="1033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Same question to two models · Compared quality/speed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0" name=""/>
          <p:cNvSpPr txBox="1"/>
          <p:nvPr/>
        </p:nvSpPr>
        <p:spPr>
          <a:xfrm>
            <a:off x="747720" y="5098240"/>
            <a:ext cx="3169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Created personal guide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4" name="TextBox 3703"/>
          <p:cNvSpPr txBox="1"/>
          <p:nvPr/>
        </p:nvSpPr>
        <p:spPr>
          <a:xfrm>
            <a:off x="923760" y="2282840"/>
            <a:ext cx="676528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If task is...                    Use model...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Typos / text changes           → GPT-5 Mini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Quick question                 → Claude Haiku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Daily coding                   → GPT-5.3 Codex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Complex debugging              → Claude Sonnet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Architecture design            → Claude Opus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UI/frontend from image         → Gemini Pro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8" name=""/>
          <p:cNvSpPr txBox="1"/>
          <p:nvPr/>
        </p:nvSpPr>
        <p:spPr>
          <a:xfrm>
            <a:off x="3229680" y="3331520"/>
            <a:ext cx="5732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Precise Context with @mentions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9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"/>
          <p:cNvSpPr txBox="1"/>
          <p:nvPr/>
        </p:nvSpPr>
        <p:spPr>
          <a:xfrm>
            <a:off x="743712" y="850000"/>
            <a:ext cx="3183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@mention Types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5" name=""/>
          <p:cNvSpPr txBox="1"/>
          <p:nvPr/>
        </p:nvSpPr>
        <p:spPr>
          <a:xfrm>
            <a:off x="1090440" y="4431640"/>
            <a:ext cx="779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"Laser-targeting instead of spraying the whole codebase."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849" name="Table 3848"/>
          <p:cNvGraphicFramePr>
            <a:graphicFrameLocks noGrp="1"/>
          </p:cNvGraphicFramePr>
          <p:nvPr/>
        </p:nvGraphicFramePr>
        <p:xfrm>
          <a:off x="743712" y="1442440"/>
          <a:ext cx="648936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20"/>
                <a:gridCol w="3016560"/>
                <a:gridCol w="23764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@mention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@filename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 specific file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@auth.py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@symbol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 function/class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@UserModel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@branch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Reference git branch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@main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@chat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Reference past conversation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@previous-chat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@folder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Reference entire directory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@/src/utils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Search the 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@web pandas DataFrame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"/>
          <p:cNvSpPr txBox="1"/>
          <p:nvPr/>
        </p:nvSpPr>
        <p:spPr>
          <a:xfrm>
            <a:off x="743712" y="850000"/>
            <a:ext cx="7182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2.6 — @filename &amp; @symbol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9" name=""/>
          <p:cNvSpPr txBox="1"/>
          <p:nvPr/>
        </p:nvSpPr>
        <p:spPr>
          <a:xfrm>
            <a:off x="747720" y="1442440"/>
            <a:ext cx="3897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Target a specific file: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0" name=""/>
          <p:cNvSpPr txBox="1"/>
          <p:nvPr/>
        </p:nvSpPr>
        <p:spPr>
          <a:xfrm>
            <a:off x="743712" y="1862640"/>
            <a:ext cx="953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@database.py What are the security vulnerabilities in this database connection?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1" name=""/>
          <p:cNvSpPr txBox="1"/>
          <p:nvPr/>
        </p:nvSpPr>
        <p:spPr>
          <a:xfrm>
            <a:off x="747720" y="2162600"/>
            <a:ext cx="457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Target a specific function: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2" name=""/>
          <p:cNvSpPr txBox="1"/>
          <p:nvPr/>
        </p:nvSpPr>
        <p:spPr>
          <a:xfrm>
            <a:off x="923760" y="2582800"/>
            <a:ext cx="7602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@calculate_total This function is returning NaN sometimes. Why?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3" name=""/>
          <p:cNvSpPr txBox="1"/>
          <p:nvPr/>
        </p:nvSpPr>
        <p:spPr>
          <a:xfrm>
            <a:off x="747720" y="2882760"/>
            <a:ext cx="517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Combine multiple @mentions: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9" name="TextBox 3868"/>
          <p:cNvSpPr txBox="1"/>
          <p:nvPr/>
        </p:nvSpPr>
        <p:spPr>
          <a:xfrm>
            <a:off x="743712" y="3302960"/>
            <a:ext cx="92341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@auth.py @UserModel @login_handler Review the authentication flow.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Are there any race conditions or timing attacks?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"/>
          <p:cNvSpPr txBox="1"/>
          <p:nvPr/>
        </p:nvSpPr>
        <p:spPr>
          <a:xfrm>
            <a:off x="743712" y="850000"/>
            <a:ext cx="9121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2.6 — @branch, @chat, @folder, @web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5" name=""/>
          <p:cNvSpPr txBox="1"/>
          <p:nvPr/>
        </p:nvSpPr>
        <p:spPr>
          <a:xfrm>
            <a:off x="923760" y="3184840"/>
            <a:ext cx="808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@src/components Find all components that don't have loading states.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6" name=""/>
          <p:cNvSpPr txBox="1"/>
          <p:nvPr/>
        </p:nvSpPr>
        <p:spPr>
          <a:xfrm>
            <a:off x="923760" y="3484800"/>
            <a:ext cx="5913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@web React 19 useTransition hook How do I use it?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0" name="TextBox 3889"/>
          <p:cNvSpPr txBox="1"/>
          <p:nvPr/>
        </p:nvSpPr>
        <p:spPr>
          <a:xfrm>
            <a:off x="923760" y="1442440"/>
            <a:ext cx="81368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Compare @main and @feature/payment branches.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are the key differences in the payment handling code?</a:t>
            </a:r>
          </a:p>
        </p:txBody>
      </p:sp>
      <p:sp>
        <p:nvSpPr>
          <p:cNvPr id="3891" name="TextBox 3890"/>
          <p:cNvSpPr txBox="1"/>
          <p:nvPr/>
        </p:nvSpPr>
        <p:spPr>
          <a:xfrm>
            <a:off x="923760" y="2313640"/>
            <a:ext cx="81368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@chat(authentication-discussion) Based on that discussion,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implement the fix we agreed 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4" name=""/>
          <p:cNvSpPr txBox="1"/>
          <p:nvPr/>
        </p:nvSpPr>
        <p:spPr>
          <a:xfrm>
            <a:off x="743712" y="565120"/>
            <a:ext cx="3623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@mention Pro Tips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6" name=""/>
          <p:cNvSpPr txBox="1"/>
          <p:nvPr/>
        </p:nvSpPr>
        <p:spPr>
          <a:xfrm>
            <a:off x="1357200" y="1157560"/>
            <a:ext cx="1627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Start typing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7" name=""/>
          <p:cNvSpPr txBox="1"/>
          <p:nvPr/>
        </p:nvSpPr>
        <p:spPr>
          <a:xfrm>
            <a:off x="3052080" y="199796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9" name=""/>
          <p:cNvSpPr txBox="1"/>
          <p:nvPr/>
        </p:nvSpPr>
        <p:spPr>
          <a:xfrm>
            <a:off x="743712" y="1577760"/>
            <a:ext cx="599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Cursor auto-suggests available mentions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1" name=""/>
          <p:cNvSpPr txBox="1"/>
          <p:nvPr/>
        </p:nvSpPr>
        <p:spPr>
          <a:xfrm>
            <a:off x="1357200" y="2352640"/>
            <a:ext cx="696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@mention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multiple items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 one message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2" name=""/>
          <p:cNvSpPr txBox="1"/>
          <p:nvPr/>
        </p:nvSpPr>
        <p:spPr>
          <a:xfrm>
            <a:off x="1357200" y="2772840"/>
            <a:ext cx="65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@mentions work in both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4" name=""/>
          <p:cNvSpPr txBox="1"/>
          <p:nvPr/>
        </p:nvSpPr>
        <p:spPr>
          <a:xfrm>
            <a:off x="747720" y="31930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6" name=""/>
          <p:cNvSpPr txBox="1"/>
          <p:nvPr/>
        </p:nvSpPr>
        <p:spPr>
          <a:xfrm>
            <a:off x="1357200" y="3613240"/>
            <a:ext cx="79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7" name=""/>
          <p:cNvSpPr txBox="1"/>
          <p:nvPr/>
        </p:nvSpPr>
        <p:spPr>
          <a:xfrm>
            <a:off x="2221920" y="4873840"/>
            <a:ext cx="1358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@filename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9" name=""/>
          <p:cNvSpPr txBox="1"/>
          <p:nvPr/>
        </p:nvSpPr>
        <p:spPr>
          <a:xfrm>
            <a:off x="3647880" y="40334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0" name=""/>
          <p:cNvSpPr txBox="1"/>
          <p:nvPr/>
        </p:nvSpPr>
        <p:spPr>
          <a:xfrm>
            <a:off x="3885840" y="5228520"/>
            <a:ext cx="1056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@symbol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2" name=""/>
          <p:cNvSpPr txBox="1"/>
          <p:nvPr/>
        </p:nvSpPr>
        <p:spPr>
          <a:xfrm>
            <a:off x="743712" y="4453640"/>
            <a:ext cx="3613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multiple @mentions,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3" name=""/>
          <p:cNvSpPr txBox="1"/>
          <p:nvPr/>
        </p:nvSpPr>
        <p:spPr>
          <a:xfrm>
            <a:off x="8691480" y="5583200"/>
            <a:ext cx="6040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@web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2.7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1" name=""/>
          <p:cNvSpPr txBox="1"/>
          <p:nvPr/>
        </p:nvSpPr>
        <p:spPr>
          <a:xfrm>
            <a:off x="5005380" y="3331520"/>
            <a:ext cx="2181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Checkpoints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2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Exercise · 4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"/>
          <p:cNvSpPr txBox="1"/>
          <p:nvPr/>
        </p:nvSpPr>
        <p:spPr>
          <a:xfrm>
            <a:off x="743712" y="850000"/>
            <a:ext cx="5461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 Safety Net for Experiments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1" name=""/>
          <p:cNvSpPr txBox="1"/>
          <p:nvPr/>
        </p:nvSpPr>
        <p:spPr>
          <a:xfrm>
            <a:off x="747720" y="1442440"/>
            <a:ext cx="3557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Checkpoints Save: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3" name=""/>
          <p:cNvSpPr txBox="1"/>
          <p:nvPr/>
        </p:nvSpPr>
        <p:spPr>
          <a:xfrm>
            <a:off x="1357200" y="1862640"/>
            <a:ext cx="457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 changes made by the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4" name=""/>
          <p:cNvSpPr txBox="1"/>
          <p:nvPr/>
        </p:nvSpPr>
        <p:spPr>
          <a:xfrm>
            <a:off x="1357200" y="2282840"/>
            <a:ext cx="443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Conversation history · File states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6" name=""/>
          <p:cNvSpPr txBox="1"/>
          <p:nvPr/>
        </p:nvSpPr>
        <p:spPr>
          <a:xfrm>
            <a:off x="747720" y="2703040"/>
            <a:ext cx="425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to Create Checkpoints: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8" name=""/>
          <p:cNvSpPr txBox="1"/>
          <p:nvPr/>
        </p:nvSpPr>
        <p:spPr>
          <a:xfrm>
            <a:off x="1357200" y="3123240"/>
            <a:ext cx="721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complex changes · At milestones (Step 2 of 5)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9" name=""/>
          <p:cNvSpPr txBox="1"/>
          <p:nvPr/>
        </p:nvSpPr>
        <p:spPr>
          <a:xfrm>
            <a:off x="1357200" y="3543440"/>
            <a:ext cx="726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risky experiments · Before terminal commands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"/>
          <p:cNvSpPr txBox="1"/>
          <p:nvPr/>
        </p:nvSpPr>
        <p:spPr>
          <a:xfrm>
            <a:off x="743712" y="850000"/>
            <a:ext cx="6123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2.7 — Create &amp; Restore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1" name=""/>
          <p:cNvSpPr txBox="1"/>
          <p:nvPr/>
        </p:nvSpPr>
        <p:spPr>
          <a:xfrm>
            <a:off x="747720" y="1442440"/>
            <a:ext cx="716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a checkpoint before making a change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5" name=""/>
          <p:cNvSpPr txBox="1"/>
          <p:nvPr/>
        </p:nvSpPr>
        <p:spPr>
          <a:xfrm>
            <a:off x="747720" y="2733840"/>
            <a:ext cx="4082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Name it descriptively: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6" name=""/>
          <p:cNvSpPr txBox="1"/>
          <p:nvPr/>
        </p:nvSpPr>
        <p:spPr>
          <a:xfrm>
            <a:off x="4898160" y="3154040"/>
            <a:ext cx="52794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"Before auth refactor - safe point"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7" name=""/>
          <p:cNvSpPr txBox="1"/>
          <p:nvPr/>
        </p:nvSpPr>
        <p:spPr>
          <a:xfrm>
            <a:off x="747720" y="3508720"/>
            <a:ext cx="5032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Let the agent make changes: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8" name=""/>
          <p:cNvSpPr txBox="1"/>
          <p:nvPr/>
        </p:nvSpPr>
        <p:spPr>
          <a:xfrm>
            <a:off x="923760" y="3928920"/>
            <a:ext cx="5068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Add input validation to all form handlers.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9" name=""/>
          <p:cNvSpPr txBox="1"/>
          <p:nvPr/>
        </p:nvSpPr>
        <p:spPr>
          <a:xfrm>
            <a:off x="747720" y="4228880"/>
            <a:ext cx="809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If something goes wrong →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Restore to checkpoint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0" name=""/>
          <p:cNvSpPr txBox="1"/>
          <p:nvPr/>
        </p:nvSpPr>
        <p:spPr>
          <a:xfrm>
            <a:off x="747720" y="4649080"/>
            <a:ext cx="718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View history via the clock icon in Agent panel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4" name="TextBox 3963"/>
          <p:cNvSpPr txBox="1"/>
          <p:nvPr/>
        </p:nvSpPr>
        <p:spPr>
          <a:xfrm>
            <a:off x="923760" y="1862640"/>
            <a:ext cx="53936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Click checkpoint icon in Agent panel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Or: Cmd+Shift+S / Ctrl+Shift+S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"/>
          <p:cNvSpPr txBox="1"/>
          <p:nvPr/>
        </p:nvSpPr>
        <p:spPr>
          <a:xfrm>
            <a:off x="743712" y="850000"/>
            <a:ext cx="4999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Checkpoint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0" name=""/>
          <p:cNvSpPr txBox="1"/>
          <p:nvPr/>
        </p:nvSpPr>
        <p:spPr>
          <a:xfrm>
            <a:off x="743712" y="1442440"/>
            <a:ext cx="82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checkpoints every 5–10 minutes during complex 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2" name=""/>
          <p:cNvSpPr txBox="1"/>
          <p:nvPr/>
        </p:nvSpPr>
        <p:spPr>
          <a:xfrm>
            <a:off x="1357200" y="1862640"/>
            <a:ext cx="580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descriptive names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not "checkpoint1"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4" name=""/>
          <p:cNvSpPr txBox="1"/>
          <p:nvPr/>
        </p:nvSpPr>
        <p:spPr>
          <a:xfrm>
            <a:off x="1357200" y="2282840"/>
            <a:ext cx="547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the restored state before continuing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5" name=""/>
          <p:cNvSpPr txBox="1"/>
          <p:nvPr/>
        </p:nvSpPr>
        <p:spPr>
          <a:xfrm>
            <a:off x="1357200" y="2703040"/>
            <a:ext cx="5015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 up old checkpoints periodically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7" name=""/>
          <p:cNvSpPr txBox="1"/>
          <p:nvPr/>
        </p:nvSpPr>
        <p:spPr>
          <a:xfrm>
            <a:off x="747720" y="31232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8" name=""/>
          <p:cNvSpPr txBox="1"/>
          <p:nvPr/>
        </p:nvSpPr>
        <p:spPr>
          <a:xfrm>
            <a:off x="743712" y="3543440"/>
            <a:ext cx="923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Created checkpoint · Made changes · Restored · Verified restoration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2.8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6" name=""/>
          <p:cNvSpPr txBox="1"/>
          <p:nvPr/>
        </p:nvSpPr>
        <p:spPr>
          <a:xfrm>
            <a:off x="4333800" y="3331520"/>
            <a:ext cx="3524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7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" name=""/>
          <p:cNvSpPr txBox="1"/>
          <p:nvPr/>
        </p:nvSpPr>
        <p:spPr>
          <a:xfrm>
            <a:off x="743712" y="850000"/>
            <a:ext cx="440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the Agent Can Do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7" name=""/>
          <p:cNvSpPr txBox="1"/>
          <p:nvPr/>
        </p:nvSpPr>
        <p:spPr>
          <a:xfrm>
            <a:off x="1357200" y="1442440"/>
            <a:ext cx="7065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shell commands · See stdout, stderr, exit codes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9" name=""/>
          <p:cNvSpPr txBox="1"/>
          <p:nvPr/>
        </p:nvSpPr>
        <p:spPr>
          <a:xfrm>
            <a:off x="1357200" y="1862640"/>
            <a:ext cx="6540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React to command output · Install dependencies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0" name=""/>
          <p:cNvSpPr txBox="1"/>
          <p:nvPr/>
        </p:nvSpPr>
        <p:spPr>
          <a:xfrm>
            <a:off x="1357200" y="2282840"/>
            <a:ext cx="4066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tests · Start/stop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2" name=""/>
          <p:cNvSpPr txBox="1"/>
          <p:nvPr/>
        </p:nvSpPr>
        <p:spPr>
          <a:xfrm>
            <a:off x="747720" y="2703040"/>
            <a:ext cx="2372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Safety Features: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4" name=""/>
          <p:cNvSpPr txBox="1"/>
          <p:nvPr/>
        </p:nvSpPr>
        <p:spPr>
          <a:xfrm>
            <a:off x="1357200" y="3123240"/>
            <a:ext cx="623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approve each command before execution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6" name=""/>
          <p:cNvSpPr txBox="1"/>
          <p:nvPr/>
        </p:nvSpPr>
        <p:spPr>
          <a:xfrm>
            <a:off x="1357200" y="3543440"/>
            <a:ext cx="601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Commands appear in terminal for you to see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7" name=""/>
          <p:cNvSpPr txBox="1"/>
          <p:nvPr/>
        </p:nvSpPr>
        <p:spPr>
          <a:xfrm>
            <a:off x="1357200" y="3963640"/>
            <a:ext cx="5049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reject dangerous commands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2.8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9" name=""/>
          <p:cNvSpPr txBox="1"/>
          <p:nvPr/>
        </p:nvSpPr>
        <p:spPr>
          <a:xfrm>
            <a:off x="747720" y="1442440"/>
            <a:ext cx="432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the environment: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0" name=""/>
          <p:cNvSpPr txBox="1"/>
          <p:nvPr/>
        </p:nvSpPr>
        <p:spPr>
          <a:xfrm>
            <a:off x="923760" y="1862640"/>
            <a:ext cx="808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Run `python --version` and tell me what Python version we're using.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1" name=""/>
          <p:cNvSpPr txBox="1"/>
          <p:nvPr/>
        </p:nvSpPr>
        <p:spPr>
          <a:xfrm>
            <a:off x="747720" y="2162600"/>
            <a:ext cx="635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Approve the command when prompted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2" name=""/>
          <p:cNvSpPr txBox="1"/>
          <p:nvPr/>
        </p:nvSpPr>
        <p:spPr>
          <a:xfrm>
            <a:off x="747720" y="2582800"/>
            <a:ext cx="452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Run tests and fix failures: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8" name="TextBox 4027"/>
          <p:cNvSpPr txBox="1"/>
          <p:nvPr/>
        </p:nvSpPr>
        <p:spPr>
          <a:xfrm>
            <a:off x="923760" y="3003000"/>
            <a:ext cx="67652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the test suite. If any tests fail, fix them.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Show me what you're changing.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"/>
          <p:cNvSpPr txBox="1"/>
          <p:nvPr/>
        </p:nvSpPr>
        <p:spPr>
          <a:xfrm>
            <a:off x="743712" y="850000"/>
            <a:ext cx="687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2.8 — Agent Terminal Loop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6" name="TextBox 4045"/>
          <p:cNvSpPr txBox="1"/>
          <p:nvPr/>
        </p:nvSpPr>
        <p:spPr>
          <a:xfrm>
            <a:off x="743712" y="1442440"/>
            <a:ext cx="1019428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I'll run the tests first.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Executing: pytest tests/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Output: 7 passed, 2 failed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Two tests failed. Let me look at them.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Reading: tests/test_auth.py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Login test failing — timeout too short. Increasing 5 → 10 seconds.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Editing: tests/test_auth.py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Executing: pytest tests/test_auth.py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Output: All tests passed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3" name=""/>
          <p:cNvSpPr txBox="1"/>
          <p:nvPr/>
        </p:nvSpPr>
        <p:spPr>
          <a:xfrm>
            <a:off x="743712" y="850000"/>
            <a:ext cx="6122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2.8 — More Commands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4" name=""/>
          <p:cNvSpPr txBox="1"/>
          <p:nvPr/>
        </p:nvSpPr>
        <p:spPr>
          <a:xfrm>
            <a:off x="747720" y="1442440"/>
            <a:ext cx="398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Install a dependency: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5" name=""/>
          <p:cNvSpPr txBox="1"/>
          <p:nvPr/>
        </p:nvSpPr>
        <p:spPr>
          <a:xfrm>
            <a:off x="923760" y="1862640"/>
            <a:ext cx="7360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Install the 'requests' library if it's not already installed.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6" name=""/>
          <p:cNvSpPr txBox="1"/>
          <p:nvPr/>
        </p:nvSpPr>
        <p:spPr>
          <a:xfrm>
            <a:off x="747720" y="2162600"/>
            <a:ext cx="377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Multi-step workflow: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5" name="TextBox 4064"/>
          <p:cNvSpPr txBox="1"/>
          <p:nvPr/>
        </p:nvSpPr>
        <p:spPr>
          <a:xfrm>
            <a:off x="923760" y="2582800"/>
            <a:ext cx="81368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these commands in order: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git checkout main  2. git pull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git checkout -b feature/analytics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Create analytics.py  5. Run flake8  6. Fix style issues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Confirm before each command that might affect the repo.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"/>
          <p:cNvSpPr txBox="1"/>
          <p:nvPr/>
        </p:nvSpPr>
        <p:spPr>
          <a:xfrm>
            <a:off x="743712" y="850000"/>
            <a:ext cx="618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Command Safety Rules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5" name=""/>
          <p:cNvSpPr txBox="1"/>
          <p:nvPr/>
        </p:nvSpPr>
        <p:spPr>
          <a:xfrm>
            <a:off x="747720" y="40230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7" name=""/>
          <p:cNvSpPr txBox="1"/>
          <p:nvPr/>
        </p:nvSpPr>
        <p:spPr>
          <a:xfrm>
            <a:off x="1357200" y="4443240"/>
            <a:ext cx="7031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 version check · Ran tests and reacted to 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8" name=""/>
          <p:cNvSpPr txBox="1"/>
          <p:nvPr/>
        </p:nvSpPr>
        <p:spPr>
          <a:xfrm>
            <a:off x="1357200" y="4863440"/>
            <a:ext cx="709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Installed dependency · Executed multi-step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152" name="Table 4151"/>
          <p:cNvGraphicFramePr>
            <a:graphicFrameLocks noGrp="1"/>
          </p:cNvGraphicFramePr>
          <p:nvPr/>
        </p:nvGraphicFramePr>
        <p:xfrm>
          <a:off x="743712" y="1442440"/>
          <a:ext cx="7099920" cy="25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Always approve first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rm, sudo, git push --force, production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Review carefully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npm install, pip install, git branch changes, docker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 to auto-approve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python --version, ls, pwd, cat, pytest, npm test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5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306" name="Table 4305"/>
          <p:cNvGraphicFramePr>
            <a:graphicFrameLocks noGrp="1"/>
          </p:cNvGraphicFramePr>
          <p:nvPr/>
        </p:nvGraphicFramePr>
        <p:xfrm>
          <a:off x="743712" y="1442440"/>
          <a:ext cx="584928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696520"/>
                <a:gridCol w="23764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Codebase Understanding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Orient to new repo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Explaining Files/Symbols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Targeted explanations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 Reviewable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Diff review workflow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Plan Mode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Design before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Comparing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selection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@mentions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Precise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Checkpoints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Safety net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Integration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Command execution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3" name="TextBox 4322"/>
          <p:cNvSpPr txBox="1"/>
          <p:nvPr/>
        </p:nvSpPr>
        <p:spPr>
          <a:xfrm>
            <a:off x="743712" y="1442440"/>
            <a:ext cx="950848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SHORTCUTS: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Cmd/Ctrl + I          → Open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Cmd/Ctrl + L          → Explain selected code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Shift + Tab           → Toggle Plan Mode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Cmd/Ctrl + Shift + S  → Create checkpoint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@MENTIONS:  @filename  @symbol  @branch  @chat  @web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SAFE CHANGE:  Ask → Review diff → Accept/reject → Test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PLAN MODE:    Shift+Tab → Describe → Review plan → Approve → Execute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"/>
          <p:cNvSpPr txBox="1"/>
          <p:nvPr/>
        </p:nvSpPr>
        <p:spPr>
          <a:xfrm>
            <a:off x="3345600" y="2674620"/>
            <a:ext cx="550080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Modes and Tools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7" name=""/>
          <p:cNvSpPr txBox="1"/>
          <p:nvPr/>
        </p:nvSpPr>
        <p:spPr>
          <a:xfrm>
            <a:off x="2533260" y="3320740"/>
            <a:ext cx="7125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· Day 1 (Hands-On + Concept)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8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396" name="Table 4395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concept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2 completed, live web app available (or sample provided)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different agent modes and the core tools that make agents powerful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9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1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2" name=""/>
          <p:cNvSpPr txBox="1"/>
          <p:nvPr/>
        </p:nvSpPr>
        <p:spPr>
          <a:xfrm>
            <a:off x="743712" y="1862640"/>
            <a:ext cx="952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Choose between Ask Mode and Agent Mode based on task and safety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4" name=""/>
          <p:cNvSpPr txBox="1"/>
          <p:nvPr/>
        </p:nvSpPr>
        <p:spPr>
          <a:xfrm>
            <a:off x="1357200" y="2282840"/>
            <a:ext cx="83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needs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6" name=""/>
          <p:cNvSpPr txBox="1"/>
          <p:nvPr/>
        </p:nvSpPr>
        <p:spPr>
          <a:xfrm>
            <a:off x="743712" y="2703040"/>
            <a:ext cx="9133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the Browser Tool to inspect live pages and read console 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8" name=""/>
          <p:cNvSpPr txBox="1"/>
          <p:nvPr/>
        </p:nvSpPr>
        <p:spPr>
          <a:xfrm>
            <a:off x="743712" y="3123240"/>
            <a:ext cx="876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terminal commands through the agent and diagnose failures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9" name=""/>
          <p:cNvSpPr txBox="1"/>
          <p:nvPr/>
        </p:nvSpPr>
        <p:spPr>
          <a:xfrm>
            <a:off x="743712" y="3543440"/>
            <a:ext cx="801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 effective, constrained prompts that avoid scope creep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4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503" name="Table 4502"/>
          <p:cNvGraphicFramePr>
            <a:graphicFrameLocks noGrp="1"/>
          </p:cNvGraphicFramePr>
          <p:nvPr/>
        </p:nvGraphicFramePr>
        <p:xfrm>
          <a:off x="743712" y="1442440"/>
          <a:ext cx="49958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44328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Mode vs. Agent Mode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Browser Tool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Tool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Effective Prompting in Practice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22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7" name=""/>
          <p:cNvSpPr txBox="1"/>
          <p:nvPr/>
        </p:nvSpPr>
        <p:spPr>
          <a:xfrm>
            <a:off x="3783180" y="3331520"/>
            <a:ext cx="4625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Ask Mode vs. Agent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8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2" name=""/>
          <p:cNvSpPr txBox="1"/>
          <p:nvPr/>
        </p:nvSpPr>
        <p:spPr>
          <a:xfrm>
            <a:off x="743712" y="850000"/>
            <a:ext cx="3875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Core Distinction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666" name="Table 4665"/>
          <p:cNvGraphicFramePr>
            <a:graphicFrameLocks noGrp="1"/>
          </p:cNvGraphicFramePr>
          <p:nvPr/>
        </p:nvGraphicFramePr>
        <p:xfrm>
          <a:off x="743712" y="1442440"/>
          <a:ext cx="947640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3549960"/>
                <a:gridCol w="4083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Ask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Agent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read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 (with @mentions)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edit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run terminal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browse 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 (limited)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 (with tool)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call tools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Safety level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Very high (read-only)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Moderate (needs oversight)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Questions, learning, code review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Implementation, debugging, automation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" name=""/>
          <p:cNvSpPr txBox="1"/>
          <p:nvPr/>
        </p:nvSpPr>
        <p:spPr>
          <a:xfrm>
            <a:off x="743712" y="850000"/>
            <a:ext cx="4601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Each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1" name=""/>
          <p:cNvSpPr txBox="1"/>
          <p:nvPr/>
        </p:nvSpPr>
        <p:spPr>
          <a:xfrm>
            <a:off x="747720" y="1442440"/>
            <a:ext cx="3319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ASK MODE when: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3" name=""/>
          <p:cNvSpPr txBox="1"/>
          <p:nvPr/>
        </p:nvSpPr>
        <p:spPr>
          <a:xfrm>
            <a:off x="743712" y="1862640"/>
            <a:ext cx="757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have a question about code · Exploring a codebase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5" name=""/>
          <p:cNvSpPr txBox="1"/>
          <p:nvPr/>
        </p:nvSpPr>
        <p:spPr>
          <a:xfrm>
            <a:off x="1357200" y="2282840"/>
            <a:ext cx="506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want a second opinion on design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6" name=""/>
          <p:cNvSpPr txBox="1"/>
          <p:nvPr/>
        </p:nvSpPr>
        <p:spPr>
          <a:xfrm>
            <a:off x="743712" y="2703040"/>
            <a:ext cx="812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You're not ready to make changes · Production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8" name=""/>
          <p:cNvSpPr txBox="1"/>
          <p:nvPr/>
        </p:nvSpPr>
        <p:spPr>
          <a:xfrm>
            <a:off x="747720" y="3123240"/>
            <a:ext cx="3743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AGENT MODE when: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0" name=""/>
          <p:cNvSpPr txBox="1"/>
          <p:nvPr/>
        </p:nvSpPr>
        <p:spPr>
          <a:xfrm>
            <a:off x="1357200" y="3543440"/>
            <a:ext cx="505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want the AI to write/change 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2" name=""/>
          <p:cNvSpPr txBox="1"/>
          <p:nvPr/>
        </p:nvSpPr>
        <p:spPr>
          <a:xfrm>
            <a:off x="1357200" y="3963640"/>
            <a:ext cx="543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need to run and react to commands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4" name=""/>
          <p:cNvSpPr txBox="1"/>
          <p:nvPr/>
        </p:nvSpPr>
        <p:spPr>
          <a:xfrm>
            <a:off x="1357200" y="4383840"/>
            <a:ext cx="594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Multi-step tasks · Development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5" name=""/>
          <p:cNvSpPr txBox="1"/>
          <p:nvPr/>
        </p:nvSpPr>
        <p:spPr>
          <a:xfrm>
            <a:off x="1357200" y="4804040"/>
            <a:ext cx="471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You're prepared to review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3" name=""/>
          <p:cNvSpPr txBox="1"/>
          <p:nvPr/>
        </p:nvSpPr>
        <p:spPr>
          <a:xfrm>
            <a:off x="743712" y="850000"/>
            <a:ext cx="3611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Safety Implications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795" name="Table 4794"/>
          <p:cNvGraphicFramePr>
            <a:graphicFrameLocks noGrp="1"/>
          </p:cNvGraphicFramePr>
          <p:nvPr/>
        </p:nvGraphicFramePr>
        <p:xfrm>
          <a:off x="743712" y="1442440"/>
          <a:ext cx="78762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840"/>
                <a:gridCol w="216312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Ask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Agent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Unintended code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Moderate (requires review)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 deletion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Possible (needs approval)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Malicious commands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Possible (needs approval)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Data leakage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(can read files)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API cost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 (no tool calls)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Higher (multiple tool calls)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1" name=""/>
          <p:cNvSpPr txBox="1"/>
          <p:nvPr/>
        </p:nvSpPr>
        <p:spPr>
          <a:xfrm>
            <a:off x="743712" y="850000"/>
            <a:ext cx="4050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Mode Continuum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9" name=""/>
          <p:cNvSpPr txBox="1"/>
          <p:nvPr/>
        </p:nvSpPr>
        <p:spPr>
          <a:xfrm>
            <a:off x="1090440" y="3837640"/>
            <a:ext cx="7299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"Not every AI interaction needs full agent capabilities."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3" name="TextBox 4812"/>
          <p:cNvSpPr txBox="1"/>
          <p:nvPr/>
        </p:nvSpPr>
        <p:spPr>
          <a:xfrm>
            <a:off x="743712" y="1442440"/>
            <a:ext cx="854836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READ-ONLY ←─────────────────────────────────────→ FULL ACTION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│                      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▼                                              ▼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Ask Mode                                      Agent Mode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│                      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└──────────→ Chat (middle ground) ←───────────┘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(Can read, can't write)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0" name=""/>
          <p:cNvSpPr txBox="1"/>
          <p:nvPr/>
        </p:nvSpPr>
        <p:spPr>
          <a:xfrm>
            <a:off x="747720" y="1442440"/>
            <a:ext cx="3745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Agent panel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1" name=""/>
          <p:cNvSpPr txBox="1"/>
          <p:nvPr/>
        </p:nvSpPr>
        <p:spPr>
          <a:xfrm>
            <a:off x="4543560" y="270304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Cmd+I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3" name=""/>
          <p:cNvSpPr txBox="1"/>
          <p:nvPr/>
        </p:nvSpPr>
        <p:spPr>
          <a:xfrm>
            <a:off x="743712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/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4" name=""/>
          <p:cNvSpPr txBox="1"/>
          <p:nvPr/>
        </p:nvSpPr>
        <p:spPr>
          <a:xfrm>
            <a:off x="743712" y="305772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Ctrl+I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5" name=""/>
          <p:cNvSpPr txBox="1"/>
          <p:nvPr/>
        </p:nvSpPr>
        <p:spPr>
          <a:xfrm>
            <a:off x="6662160" y="2282840"/>
            <a:ext cx="460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— note mode indicator at bottom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6" name=""/>
          <p:cNvSpPr txBox="1"/>
          <p:nvPr/>
        </p:nvSpPr>
        <p:spPr>
          <a:xfrm>
            <a:off x="747720" y="3412400"/>
            <a:ext cx="598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Try to make a change in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Ask Mode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7" name=""/>
          <p:cNvSpPr txBox="1"/>
          <p:nvPr/>
        </p:nvSpPr>
        <p:spPr>
          <a:xfrm>
            <a:off x="923760" y="3832600"/>
            <a:ext cx="8326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Change the variable name 'temp' to 'temperature' in the current file.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8" name=""/>
          <p:cNvSpPr txBox="1"/>
          <p:nvPr/>
        </p:nvSpPr>
        <p:spPr>
          <a:xfrm>
            <a:off x="743712" y="4132560"/>
            <a:ext cx="999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Expected: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Agent explains it cannot edit in Ask Mode — offers to show the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9" name=""/>
          <p:cNvSpPr txBox="1"/>
          <p:nvPr/>
        </p:nvSpPr>
        <p:spPr>
          <a:xfrm>
            <a:off x="747720" y="4552760"/>
            <a:ext cx="435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change as a code block instead.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2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3.1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9" name=""/>
          <p:cNvSpPr txBox="1"/>
          <p:nvPr/>
        </p:nvSpPr>
        <p:spPr>
          <a:xfrm>
            <a:off x="747720" y="1442440"/>
            <a:ext cx="638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a question Ask Mode handles well: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2" name=""/>
          <p:cNvSpPr txBox="1"/>
          <p:nvPr/>
        </p:nvSpPr>
        <p:spPr>
          <a:xfrm>
            <a:off x="747720" y="2733840"/>
            <a:ext cx="657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Switch to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Mode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via the dropdown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3" name=""/>
          <p:cNvSpPr txBox="1"/>
          <p:nvPr/>
        </p:nvSpPr>
        <p:spPr>
          <a:xfrm>
            <a:off x="743712" y="3154040"/>
            <a:ext cx="918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Repeat the rename request — agent shows diff for approval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6" name=""/>
          <p:cNvSpPr txBox="1"/>
          <p:nvPr/>
        </p:nvSpPr>
        <p:spPr>
          <a:xfrm>
            <a:off x="115588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7" name="TextBox 4846"/>
          <p:cNvSpPr txBox="1"/>
          <p:nvPr/>
        </p:nvSpPr>
        <p:spPr>
          <a:xfrm>
            <a:off x="923760" y="1862640"/>
            <a:ext cx="78625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Explain the purpose of the main() function in this file.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edge cases does it handle?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2" name=""/>
          <p:cNvSpPr txBox="1"/>
          <p:nvPr/>
        </p:nvSpPr>
        <p:spPr>
          <a:xfrm>
            <a:off x="743712" y="850000"/>
            <a:ext cx="7709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3.1 — Step 6 &amp; Success Criteria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3" name=""/>
          <p:cNvSpPr txBox="1"/>
          <p:nvPr/>
        </p:nvSpPr>
        <p:spPr>
          <a:xfrm>
            <a:off x="747720" y="1442440"/>
            <a:ext cx="6895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Practice mode-switching mid-conversation: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7" name=""/>
          <p:cNvSpPr txBox="1"/>
          <p:nvPr/>
        </p:nvSpPr>
        <p:spPr>
          <a:xfrm>
            <a:off x="747720" y="27338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9" name=""/>
          <p:cNvSpPr txBox="1"/>
          <p:nvPr/>
        </p:nvSpPr>
        <p:spPr>
          <a:xfrm>
            <a:off x="743712" y="3154040"/>
            <a:ext cx="1008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Ask Mode for questions · Observed Ask Mode cannot make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0" name=""/>
          <p:cNvSpPr txBox="1"/>
          <p:nvPr/>
        </p:nvSpPr>
        <p:spPr>
          <a:xfrm>
            <a:off x="743712" y="3574240"/>
            <a:ext cx="776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Switched to Agent Mode · Made a change with diff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3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4" name="TextBox 4863"/>
          <p:cNvSpPr txBox="1"/>
          <p:nvPr/>
        </p:nvSpPr>
        <p:spPr>
          <a:xfrm>
            <a:off x="923760" y="1862640"/>
            <a:ext cx="82740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Start in Ask Mode: What does this function return?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Then: "Switch to Agent Mode and fix the off-by-one error"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8" name=""/>
          <p:cNvSpPr txBox="1"/>
          <p:nvPr/>
        </p:nvSpPr>
        <p:spPr>
          <a:xfrm>
            <a:off x="4928520" y="3331520"/>
            <a:ext cx="2334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Browser Tool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9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2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8" name=""/>
          <p:cNvSpPr txBox="1"/>
          <p:nvPr/>
        </p:nvSpPr>
        <p:spPr>
          <a:xfrm>
            <a:off x="743712" y="850000"/>
            <a:ext cx="5812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the Browser Tool Can Do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0" name=""/>
          <p:cNvSpPr txBox="1"/>
          <p:nvPr/>
        </p:nvSpPr>
        <p:spPr>
          <a:xfrm>
            <a:off x="743712" y="1442440"/>
            <a:ext cx="789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Navigate to URLs · Read page content and DOM structure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2" name=""/>
          <p:cNvSpPr txBox="1"/>
          <p:nvPr/>
        </p:nvSpPr>
        <p:spPr>
          <a:xfrm>
            <a:off x="743712" y="1862640"/>
            <a:ext cx="9522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See console logs and errors · Take screenshots (depending on model)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4" name=""/>
          <p:cNvSpPr txBox="1"/>
          <p:nvPr/>
        </p:nvSpPr>
        <p:spPr>
          <a:xfrm>
            <a:off x="1357200" y="2282840"/>
            <a:ext cx="520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elements and interact with pages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5" name=""/>
          <p:cNvSpPr txBox="1"/>
          <p:nvPr/>
        </p:nvSpPr>
        <p:spPr>
          <a:xfrm>
            <a:off x="1357200" y="2703040"/>
            <a:ext cx="3778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Extract data from live pages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6" name=""/>
          <p:cNvSpPr txBox="1"/>
          <p:nvPr/>
        </p:nvSpPr>
        <p:spPr>
          <a:xfrm>
            <a:off x="743712" y="3123240"/>
            <a:ext cx="981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"See what your app actually looks like in a browser — not just the source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7" name=""/>
          <p:cNvSpPr txBox="1"/>
          <p:nvPr/>
        </p:nvSpPr>
        <p:spPr>
          <a:xfrm>
            <a:off x="1090440" y="3543440"/>
            <a:ext cx="854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0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2" name=""/>
          <p:cNvSpPr txBox="1"/>
          <p:nvPr/>
        </p:nvSpPr>
        <p:spPr>
          <a:xfrm>
            <a:off x="743712" y="850000"/>
            <a:ext cx="5877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Browser Tool: With vs. Without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0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981" name="Table 4980"/>
          <p:cNvGraphicFramePr>
            <a:graphicFrameLocks noGrp="1"/>
          </p:cNvGraphicFramePr>
          <p:nvPr/>
        </p:nvGraphicFramePr>
        <p:xfrm>
          <a:off x="743712" y="1442440"/>
          <a:ext cx="80895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9960"/>
                <a:gridCol w="184308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Without Browser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With Browser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"Why is the button not showing?"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Guesses from CSS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Sees the rendered page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"Is the API returning data?"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Checks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Sees network tab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"What console errors?"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Asks you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Reads console directly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"Does responsive layout work?"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Trusts CSS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Views at different sizes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3.2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9" name=""/>
          <p:cNvSpPr txBox="1"/>
          <p:nvPr/>
        </p:nvSpPr>
        <p:spPr>
          <a:xfrm>
            <a:off x="747720" y="1442440"/>
            <a:ext cx="755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a local web app (or use a public test page)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2" name=""/>
          <p:cNvSpPr txBox="1"/>
          <p:nvPr/>
        </p:nvSpPr>
        <p:spPr>
          <a:xfrm>
            <a:off x="747720" y="2733840"/>
            <a:ext cx="3169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 Agent Mode: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7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8" name="TextBox 4997"/>
          <p:cNvSpPr txBox="1"/>
          <p:nvPr/>
        </p:nvSpPr>
        <p:spPr>
          <a:xfrm>
            <a:off x="923760" y="1862640"/>
            <a:ext cx="38849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-m http.server 8000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 use a public test page</a:t>
            </a:r>
          </a:p>
        </p:txBody>
      </p:sp>
      <p:sp>
        <p:nvSpPr>
          <p:cNvPr id="4999" name="TextBox 4998"/>
          <p:cNvSpPr txBox="1"/>
          <p:nvPr/>
        </p:nvSpPr>
        <p:spPr>
          <a:xfrm>
            <a:off x="923760" y="3154040"/>
            <a:ext cx="70396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 the browser tool to open http://localhost:8000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Tell me what you see on the page.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3.2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6" name=""/>
          <p:cNvSpPr txBox="1"/>
          <p:nvPr/>
        </p:nvSpPr>
        <p:spPr>
          <a:xfrm>
            <a:off x="747720" y="1442440"/>
            <a:ext cx="420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Find specific elements: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1" name=""/>
          <p:cNvSpPr txBox="1"/>
          <p:nvPr/>
        </p:nvSpPr>
        <p:spPr>
          <a:xfrm>
            <a:off x="747720" y="3343440"/>
            <a:ext cx="369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the console: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6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7" name="TextBox 5016"/>
          <p:cNvSpPr txBox="1"/>
          <p:nvPr/>
        </p:nvSpPr>
        <p:spPr>
          <a:xfrm>
            <a:off x="923760" y="1862640"/>
            <a:ext cx="41592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On that same page, find: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The main heading 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The number of buttons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Any error messages visible</a:t>
            </a:r>
          </a:p>
        </p:txBody>
      </p:sp>
      <p:sp>
        <p:nvSpPr>
          <p:cNvPr id="5018" name="TextBox 5017"/>
          <p:cNvSpPr txBox="1"/>
          <p:nvPr/>
        </p:nvSpPr>
        <p:spPr>
          <a:xfrm>
            <a:off x="923760" y="3763640"/>
            <a:ext cx="77254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Now open the browser developer console.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Are there any errors or warnings? If so, what are they?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" name=""/>
          <p:cNvSpPr txBox="1"/>
          <p:nvPr/>
        </p:nvSpPr>
        <p:spPr>
          <a:xfrm>
            <a:off x="743712" y="850000"/>
            <a:ext cx="4558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Expected Agent Actions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1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2" name="TextBox 5031"/>
          <p:cNvSpPr txBox="1"/>
          <p:nvPr/>
        </p:nvSpPr>
        <p:spPr>
          <a:xfrm>
            <a:off x="743712" y="1442440"/>
            <a:ext cx="841120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browser_navigate(url="http://localhost:8000")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browser_snapshot() — page structure captured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browser_console_messages()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[WARNING] Deprecated API used on line 42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[ERROR] Failed to load resource: /api/data 404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Found a deprecated API warning and a 404 on /api/data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9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3.2 — Steps 5–6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0" name=""/>
          <p:cNvSpPr txBox="1"/>
          <p:nvPr/>
        </p:nvSpPr>
        <p:spPr>
          <a:xfrm>
            <a:off x="747720" y="1442440"/>
            <a:ext cx="442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Diagnose a layout issue: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3" name=""/>
          <p:cNvSpPr txBox="1"/>
          <p:nvPr/>
        </p:nvSpPr>
        <p:spPr>
          <a:xfrm>
            <a:off x="747720" y="2733840"/>
            <a:ext cx="4524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Extract data from a page: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8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9" name="TextBox 5048"/>
          <p:cNvSpPr txBox="1"/>
          <p:nvPr/>
        </p:nvSpPr>
        <p:spPr>
          <a:xfrm>
            <a:off x="923760" y="1862640"/>
            <a:ext cx="74510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The login button is partially hidden on mobile sizes.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 the browser tool to check what's happening.</a:t>
            </a:r>
          </a:p>
        </p:txBody>
      </p:sp>
      <p:sp>
        <p:nvSpPr>
          <p:cNvPr id="5050" name="TextBox 5049"/>
          <p:cNvSpPr txBox="1"/>
          <p:nvPr/>
        </p:nvSpPr>
        <p:spPr>
          <a:xfrm>
            <a:off x="743712" y="3154040"/>
            <a:ext cx="95084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Go to https://example.com/pricing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Extract all pricing plan names and their monthly costs into a table.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" name=""/>
          <p:cNvSpPr txBox="1"/>
          <p:nvPr/>
        </p:nvSpPr>
        <p:spPr>
          <a:xfrm>
            <a:off x="743712" y="850000"/>
            <a:ext cx="4755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Browser Tool Limitations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0" name=""/>
          <p:cNvSpPr txBox="1"/>
          <p:nvPr/>
        </p:nvSpPr>
        <p:spPr>
          <a:xfrm>
            <a:off x="743712" y="3879840"/>
            <a:ext cx="10606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Opened URL · Read content · Checked console · Extracted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1" name=""/>
          <p:cNvSpPr txBox="1"/>
          <p:nvPr/>
        </p:nvSpPr>
        <p:spPr>
          <a:xfrm>
            <a:off x="747720" y="4300040"/>
            <a:ext cx="59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115" name="Table 5114"/>
          <p:cNvGraphicFramePr>
            <a:graphicFrameLocks noGrp="1"/>
          </p:cNvGraphicFramePr>
          <p:nvPr/>
        </p:nvGraphicFramePr>
        <p:xfrm>
          <a:off x="743712" y="1442440"/>
          <a:ext cx="9020160" cy="23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Workaround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Cannot log in to 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Provide login instructions or session cookies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JavaScript-heavy sites may load slowly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Add wait instructions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Rate limits on some 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Space out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Cannot upload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Not supported yet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9" name=""/>
          <p:cNvSpPr txBox="1"/>
          <p:nvPr/>
        </p:nvSpPr>
        <p:spPr>
          <a:xfrm>
            <a:off x="4884600" y="3331520"/>
            <a:ext cx="2422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Tool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0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"/>
          <p:cNvSpPr txBox="1"/>
          <p:nvPr/>
        </p:nvSpPr>
        <p:spPr>
          <a:xfrm>
            <a:off x="743712" y="850000"/>
            <a:ext cx="5878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the Terminal Tool Can Do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0" name=""/>
          <p:cNvSpPr txBox="1"/>
          <p:nvPr/>
        </p:nvSpPr>
        <p:spPr>
          <a:xfrm>
            <a:off x="1357200" y="1442440"/>
            <a:ext cx="5353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any shell command (with approval)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2" name=""/>
          <p:cNvSpPr txBox="1"/>
          <p:nvPr/>
        </p:nvSpPr>
        <p:spPr>
          <a:xfrm>
            <a:off x="1357200" y="1862640"/>
            <a:ext cx="394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See stdout, stderr, exit codes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4" name=""/>
          <p:cNvSpPr txBox="1"/>
          <p:nvPr/>
        </p:nvSpPr>
        <p:spPr>
          <a:xfrm>
            <a:off x="1357200" y="2282840"/>
            <a:ext cx="671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Read command output as context for next 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5" name=""/>
          <p:cNvSpPr txBox="1"/>
          <p:nvPr/>
        </p:nvSpPr>
        <p:spPr>
          <a:xfrm>
            <a:off x="1357200" y="2703040"/>
            <a:ext cx="5930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Chain commands based on previous results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4" name=""/>
          <p:cNvSpPr txBox="1"/>
          <p:nvPr/>
        </p:nvSpPr>
        <p:spPr>
          <a:xfrm>
            <a:off x="743712" y="850000"/>
            <a:ext cx="3611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Tool 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4" name="TextBox 5153"/>
          <p:cNvSpPr txBox="1"/>
          <p:nvPr/>
        </p:nvSpPr>
        <p:spPr>
          <a:xfrm>
            <a:off x="923760" y="1442440"/>
            <a:ext cx="6353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"Run the tests and fix any failures"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Execute "pytest tests/"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Result: Exit code 1, "2 failed, 5 passed"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Reads failures, fixes code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Reruns tests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"All tests passed."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2" name=""/>
          <p:cNvSpPr txBox="1"/>
          <p:nvPr/>
        </p:nvSpPr>
        <p:spPr>
          <a:xfrm>
            <a:off x="747720" y="1442440"/>
            <a:ext cx="4489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your environment: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7" name=""/>
          <p:cNvSpPr txBox="1"/>
          <p:nvPr/>
        </p:nvSpPr>
        <p:spPr>
          <a:xfrm>
            <a:off x="747720" y="3343440"/>
            <a:ext cx="3558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Run the test suite: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8" name=""/>
          <p:cNvSpPr txBox="1"/>
          <p:nvPr/>
        </p:nvSpPr>
        <p:spPr>
          <a:xfrm>
            <a:off x="923760" y="3763640"/>
            <a:ext cx="724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Run the test suite. Show me which tests pass and which fail.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2" name="TextBox 5171"/>
          <p:cNvSpPr txBox="1"/>
          <p:nvPr/>
        </p:nvSpPr>
        <p:spPr>
          <a:xfrm>
            <a:off x="923760" y="1862640"/>
            <a:ext cx="79997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these commands and tell me what versions we're using: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python --version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node --version (if applicable)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git --version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9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0" name=""/>
          <p:cNvSpPr txBox="1"/>
          <p:nvPr/>
        </p:nvSpPr>
        <p:spPr>
          <a:xfrm>
            <a:off x="747720" y="1442440"/>
            <a:ext cx="3541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Diagnose failures: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3" name=""/>
          <p:cNvSpPr txBox="1"/>
          <p:nvPr/>
        </p:nvSpPr>
        <p:spPr>
          <a:xfrm>
            <a:off x="747720" y="2733840"/>
            <a:ext cx="299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Fix and verify: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9" name="TextBox 5188"/>
          <p:cNvSpPr txBox="1"/>
          <p:nvPr/>
        </p:nvSpPr>
        <p:spPr>
          <a:xfrm>
            <a:off x="923760" y="1862640"/>
            <a:ext cx="78625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One or more tests failed. What's causing these failures?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Look at the specific error messages.</a:t>
            </a:r>
          </a:p>
        </p:txBody>
      </p:sp>
      <p:sp>
        <p:nvSpPr>
          <p:cNvPr id="5190" name="TextBox 5189"/>
          <p:cNvSpPr txBox="1"/>
          <p:nvPr/>
        </p:nvSpPr>
        <p:spPr>
          <a:xfrm>
            <a:off x="923760" y="3154040"/>
            <a:ext cx="70396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Based on your diagnosis, fix the failing tests.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Show me what you're changing before you run again.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6" name=""/>
          <p:cNvSpPr txBox="1"/>
          <p:nvPr/>
        </p:nvSpPr>
        <p:spPr>
          <a:xfrm>
            <a:off x="743712" y="850000"/>
            <a:ext cx="7597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Debug Workflow (Step 5)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7" name="TextBox 5206"/>
          <p:cNvSpPr txBox="1"/>
          <p:nvPr/>
        </p:nvSpPr>
        <p:spPr>
          <a:xfrm>
            <a:off x="923760" y="1442440"/>
            <a:ext cx="786256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 found a bug where the app crashes when input is empty.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First, run the app to reproduce the crash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Then, add logging to understand why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Finally, fix the bug and verify it works</a:t>
            </a:r>
          </a:p>
        </p:txBody>
      </p:sp>
      <p:sp>
        <p:nvSpPr>
          <p:cNvPr id="5208" name="TextBox 5207"/>
          <p:cNvSpPr txBox="1"/>
          <p:nvPr/>
        </p:nvSpPr>
        <p:spPr>
          <a:xfrm>
            <a:off x="743712" y="3228040"/>
            <a:ext cx="88226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python app.py → IndexError: list index out of range (line 23)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Agent adds guard condition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python app.py --test-empty-input → "No data provided"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1" name=""/>
          <p:cNvSpPr txBox="1"/>
          <p:nvPr/>
        </p:nvSpPr>
        <p:spPr>
          <a:xfrm>
            <a:off x="743712" y="850000"/>
            <a:ext cx="6982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Step 6 &amp; Safety Rules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2" name=""/>
          <p:cNvSpPr txBox="1"/>
          <p:nvPr/>
        </p:nvSpPr>
        <p:spPr>
          <a:xfrm>
            <a:off x="747720" y="1442440"/>
            <a:ext cx="567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React to long-running commands: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0" name=""/>
          <p:cNvSpPr txBox="1"/>
          <p:nvPr/>
        </p:nvSpPr>
        <p:spPr>
          <a:xfrm>
            <a:off x="743712" y="4060640"/>
            <a:ext cx="996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Ran tests · Diagnosed failure · Fixed code · Verified fix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274" name="Table 5273"/>
          <p:cNvGraphicFramePr>
            <a:graphicFrameLocks noGrp="1"/>
          </p:cNvGraphicFramePr>
          <p:nvPr/>
        </p:nvGraphicFramePr>
        <p:xfrm>
          <a:off x="743712" y="2733840"/>
          <a:ext cx="709992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668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Approval Required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No Approval Needed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Writes files, sudo, git push --force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Version checks, cat, 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npm install -g, start servers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pytest, npm test, git status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275" name="TextBox 5274"/>
          <p:cNvSpPr txBox="1"/>
          <p:nvPr/>
        </p:nvSpPr>
        <p:spPr>
          <a:xfrm>
            <a:off x="743712" y="1862640"/>
            <a:ext cx="103314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npm install or pip install. Watch the output.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If there's a warning about deprecated packages, note it and suggest fixes.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8" name=""/>
          <p:cNvSpPr txBox="1"/>
          <p:nvPr/>
        </p:nvSpPr>
        <p:spPr>
          <a:xfrm>
            <a:off x="3397980" y="3331520"/>
            <a:ext cx="5396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Effective Prompting in Practice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9" name=""/>
          <p:cNvSpPr txBox="1"/>
          <p:nvPr/>
        </p:nvSpPr>
        <p:spPr>
          <a:xfrm>
            <a:off x="3622440" y="385396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6" name=""/>
          <p:cNvSpPr txBox="1"/>
          <p:nvPr/>
        </p:nvSpPr>
        <p:spPr>
          <a:xfrm>
            <a:off x="743712" y="850000"/>
            <a:ext cx="6011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Anatomy of an Effective Prompt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7" name=""/>
          <p:cNvSpPr txBox="1"/>
          <p:nvPr/>
        </p:nvSpPr>
        <p:spPr>
          <a:xfrm>
            <a:off x="743712" y="1442440"/>
            <a:ext cx="858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ROLE / CONTEXT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"You are a senior Python developer…"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8" name=""/>
          <p:cNvSpPr txBox="1"/>
          <p:nvPr/>
        </p:nvSpPr>
        <p:spPr>
          <a:xfrm>
            <a:off x="1018440" y="1862640"/>
            <a:ext cx="6230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"Fix the bug in calculate_total()…"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9" name=""/>
          <p:cNvSpPr txBox="1"/>
          <p:nvPr/>
        </p:nvSpPr>
        <p:spPr>
          <a:xfrm>
            <a:off x="743712" y="2282840"/>
            <a:ext cx="851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CONSTRAINTS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"Do not change the function signature…"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0" name=""/>
          <p:cNvSpPr txBox="1"/>
          <p:nvPr/>
        </p:nvSpPr>
        <p:spPr>
          <a:xfrm>
            <a:off x="743712" y="2703040"/>
            <a:ext cx="965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 FORMAT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"Show me the diff and explain your change…"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1" name=""/>
          <p:cNvSpPr txBox="1"/>
          <p:nvPr/>
        </p:nvSpPr>
        <p:spPr>
          <a:xfrm>
            <a:off x="743712" y="3123240"/>
            <a:ext cx="9720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"Function should return 0 for empty input…"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" name=""/>
          <p:cNvSpPr txBox="1"/>
          <p:nvPr/>
        </p:nvSpPr>
        <p:spPr>
          <a:xfrm>
            <a:off x="743712" y="850000"/>
            <a:ext cx="5989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Bad Prompts vs. Good Prompts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359" name="Table 5358"/>
          <p:cNvGraphicFramePr>
            <a:graphicFrameLocks noGrp="1"/>
          </p:cNvGraphicFramePr>
          <p:nvPr/>
        </p:nvGraphicFramePr>
        <p:xfrm>
          <a:off x="743712" y="1442440"/>
          <a:ext cx="6673200" cy="31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Bad Prompt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Good Prompt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"Fix this code"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"Fix the IndexError in process_list() when list is empty. Do not change return type."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logging"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INFO-level logging to calculate() using existing logger config."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"Make it faster"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"Optimize find_user() from O(n²) to O(n log n). Don't change signature."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"Review my code"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"Review auth.py for SQL injection, password handling, session issues. Ignore style."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4" name=""/>
          <p:cNvSpPr txBox="1"/>
          <p:nvPr/>
        </p:nvSpPr>
        <p:spPr>
          <a:xfrm>
            <a:off x="743712" y="850000"/>
            <a:ext cx="5462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"Boundaries" Technique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5" name=""/>
          <p:cNvSpPr txBox="1"/>
          <p:nvPr/>
        </p:nvSpPr>
        <p:spPr>
          <a:xfrm>
            <a:off x="747720" y="1442440"/>
            <a:ext cx="5506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Always tell the agent what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touch: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5" name="TextBox 5374"/>
          <p:cNvSpPr txBox="1"/>
          <p:nvPr/>
        </p:nvSpPr>
        <p:spPr>
          <a:xfrm>
            <a:off x="743712" y="1862640"/>
            <a:ext cx="923416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BOUNDARIES: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change: function signatures, return types, existing tests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touch: config files, database schemas, other modules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delete: comments, logging, error handling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add: new dependencies, external APIs, global state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Change ONLY: the function body of calculate_total()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6" name=""/>
          <p:cNvSpPr txBox="1"/>
          <p:nvPr/>
        </p:nvSpPr>
        <p:spPr>
          <a:xfrm>
            <a:off x="743712" y="337440"/>
            <a:ext cx="422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Avoiding Scope Creep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7" name=""/>
          <p:cNvSpPr txBox="1"/>
          <p:nvPr/>
        </p:nvSpPr>
        <p:spPr>
          <a:xfrm>
            <a:off x="747720" y="929880"/>
            <a:ext cx="193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problem: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456" name="Table 5455"/>
          <p:cNvGraphicFramePr>
            <a:graphicFrameLocks noGrp="1"/>
          </p:cNvGraphicFramePr>
          <p:nvPr/>
        </p:nvGraphicFramePr>
        <p:xfrm>
          <a:off x="743712" y="2526080"/>
          <a:ext cx="6993240" cy="333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Explicit boundaries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"Change ONLY login.js lines 42–56"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 thing at a time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"First, just identify the issue. Don't fix yet."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for plan first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"Plan Mode: Show me what you'll change before doing it"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checkpoints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checkpoint before complex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Prefer diffs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"Show me the diff, don't replace the whole file"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457" name="TextBox 5456"/>
          <p:cNvSpPr txBox="1"/>
          <p:nvPr/>
        </p:nvSpPr>
        <p:spPr>
          <a:xfrm>
            <a:off x="743712" y="1350080"/>
            <a:ext cx="108800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"Fix the login bug."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"Fixed login. Also refactored auth, added OAuth, reorganized codebase."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"Wait, I just wanted the login bug fixed!"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1" name=""/>
          <p:cNvSpPr txBox="1"/>
          <p:nvPr/>
        </p:nvSpPr>
        <p:spPr>
          <a:xfrm>
            <a:off x="743712" y="850000"/>
            <a:ext cx="8148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 1: Constrained Prompt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3" name="TextBox 5472"/>
          <p:cNvSpPr txBox="1"/>
          <p:nvPr/>
        </p:nvSpPr>
        <p:spPr>
          <a:xfrm>
            <a:off x="743712" y="1442440"/>
            <a:ext cx="107429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Task: Fix the bug where get_user_email(user_id) returns None for valid users.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Constraints: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change the function signature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add new imports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modify other functions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add print statements (use existing logger)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 format: Show exact diff and explain root cause.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Success criteria: Function returns email string for valid user IDs.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0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Steps 2–3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1" name=""/>
          <p:cNvSpPr txBox="1"/>
          <p:nvPr/>
        </p:nvSpPr>
        <p:spPr>
          <a:xfrm>
            <a:off x="747720" y="1442440"/>
            <a:ext cx="657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Compare constrained vs. unconstrained: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2" name=""/>
          <p:cNvSpPr txBox="1"/>
          <p:nvPr/>
        </p:nvSpPr>
        <p:spPr>
          <a:xfrm>
            <a:off x="923760" y="1862640"/>
            <a:ext cx="6154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Fix get_user_email - it's returning None sometimes.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3" name=""/>
          <p:cNvSpPr txBox="1"/>
          <p:nvPr/>
        </p:nvSpPr>
        <p:spPr>
          <a:xfrm>
            <a:off x="747720" y="2162600"/>
            <a:ext cx="6066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Note the difference in scope of the response.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4" name=""/>
          <p:cNvSpPr txBox="1"/>
          <p:nvPr/>
        </p:nvSpPr>
        <p:spPr>
          <a:xfrm>
            <a:off x="747720" y="2582800"/>
            <a:ext cx="2372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Plan first: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4" name="TextBox 5493"/>
          <p:cNvSpPr txBox="1"/>
          <p:nvPr/>
        </p:nvSpPr>
        <p:spPr>
          <a:xfrm>
            <a:off x="923760" y="3003000"/>
            <a:ext cx="676528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Before making any changes, answer: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What files would need to change?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What is the root cause you suspect?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What are the risks?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Are there alternative approaches?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 will review before approving any code changes.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2" name=""/>
          <p:cNvSpPr txBox="1"/>
          <p:nvPr/>
        </p:nvSpPr>
        <p:spPr>
          <a:xfrm>
            <a:off x="747720" y="1442440"/>
            <a:ext cx="3947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Negative constraints: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9" name=""/>
          <p:cNvSpPr txBox="1"/>
          <p:nvPr/>
        </p:nvSpPr>
        <p:spPr>
          <a:xfrm>
            <a:off x="747720" y="4257840"/>
            <a:ext cx="410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One change at a time: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5" name="TextBox 5514"/>
          <p:cNvSpPr txBox="1"/>
          <p:nvPr/>
        </p:nvSpPr>
        <p:spPr>
          <a:xfrm>
            <a:off x="923760" y="1862640"/>
            <a:ext cx="66281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Add error handling to the file parser.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But DO NOT: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Change the return type (must remain dict)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Add external dependencies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Swallow exceptions silently (always log them)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Change the existing test file</a:t>
            </a:r>
          </a:p>
        </p:txBody>
      </p:sp>
      <p:sp>
        <p:nvSpPr>
          <p:cNvPr id="5516" name="TextBox 5515"/>
          <p:cNvSpPr txBox="1"/>
          <p:nvPr/>
        </p:nvSpPr>
        <p:spPr>
          <a:xfrm>
            <a:off x="743712" y="4678040"/>
            <a:ext cx="106057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First, add input validation. Just show me what you'd add — don't modify yet.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[Review] Now add the validation. Show the diff before I accept.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0" name=""/>
          <p:cNvSpPr txBox="1"/>
          <p:nvPr/>
        </p:nvSpPr>
        <p:spPr>
          <a:xfrm>
            <a:off x="743712" y="850000"/>
            <a:ext cx="779652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 6: Prompt Templates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2" name=""/>
          <p:cNvSpPr txBox="1"/>
          <p:nvPr/>
        </p:nvSpPr>
        <p:spPr>
          <a:xfrm>
            <a:off x="747720" y="288000"/>
            <a:ext cx="1186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3" name=""/>
          <p:cNvSpPr txBox="1"/>
          <p:nvPr/>
        </p:nvSpPr>
        <p:spPr>
          <a:xfrm>
            <a:off x="2002320" y="1128400"/>
            <a:ext cx="40730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.cursor/prompt-templates.md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4" name=""/>
          <p:cNvSpPr txBox="1"/>
          <p:nvPr/>
        </p:nvSpPr>
        <p:spPr>
          <a:xfrm>
            <a:off x="743712" y="7082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4" name=""/>
          <p:cNvSpPr txBox="1"/>
          <p:nvPr/>
        </p:nvSpPr>
        <p:spPr>
          <a:xfrm>
            <a:off x="743712" y="5097480"/>
            <a:ext cx="99277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Constrained prompt · Plan first · Negative constraints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5" name=""/>
          <p:cNvSpPr txBox="1"/>
          <p:nvPr/>
        </p:nvSpPr>
        <p:spPr>
          <a:xfrm>
            <a:off x="747720" y="5517680"/>
            <a:ext cx="2372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Template created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9" name="TextBox 5538"/>
          <p:cNvSpPr txBox="1"/>
          <p:nvPr/>
        </p:nvSpPr>
        <p:spPr>
          <a:xfrm>
            <a:off x="743712" y="1442440"/>
            <a:ext cx="97828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Bug Fix Template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Task: [Describe bug]  File: [path]  Lines: [range]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Constraints: Do NOT change [signatures, imports]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Success criteria: [How to verify]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Feature Addition Template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Plan first: Yes/No  Constraints: Do NOT break [existing functionality]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Code Review Template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Focus: [Security, Performance, Edge cases]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Ignore: [Style, formatting]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0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629" name="Table 5628"/>
          <p:cNvGraphicFramePr>
            <a:graphicFrameLocks noGrp="1"/>
          </p:cNvGraphicFramePr>
          <p:nvPr/>
        </p:nvGraphicFramePr>
        <p:xfrm>
          <a:off x="743712" y="1442440"/>
          <a:ext cx="72361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163120"/>
                <a:gridCol w="42967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Takeaway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vs Agent Mode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Ask for questions, Agent for action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Browser Tool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can see live pages and console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Tool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can run commands and react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Effective Prompting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Boundaries prevent scope creep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4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9" name="TextBox 5648"/>
          <p:cNvSpPr txBox="1"/>
          <p:nvPr/>
        </p:nvSpPr>
        <p:spPr>
          <a:xfrm>
            <a:off x="743712" y="1442440"/>
            <a:ext cx="9508480" cy="4144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ASK MODE    → Read-only | Questions, learning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MODE  → Full tools | Implementation, debugging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TOOLS: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BROWSER  → Navigate, read, console, screenshot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TERMINAL → Execute commands, read output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FILE     → Read, edit, create, delete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SEARCH   → Code search, symbol lookup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PROMPTING: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• Be specific  • Define boundaries  • Plan first for complex tasks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• Specify output format  • Define success criteria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" name=""/>
          <p:cNvSpPr txBox="1"/>
          <p:nvPr/>
        </p:nvSpPr>
        <p:spPr>
          <a:xfrm>
            <a:off x="2044920" y="2674620"/>
            <a:ext cx="81021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Customizing Cursor for Your Team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3" name=""/>
          <p:cNvSpPr txBox="1"/>
          <p:nvPr/>
        </p:nvSpPr>
        <p:spPr>
          <a:xfrm>
            <a:off x="2159040" y="3320740"/>
            <a:ext cx="787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· Day 1 (Hands-On + Walkthrough)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4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5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8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722" name="Table 5721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walkthrough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Modules 1–3 completed, team repository access, Cursor installed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Customize Cursor for team workflows with rules, skills, MCP, and subagents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5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7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9" name=""/>
          <p:cNvSpPr txBox="1"/>
          <p:nvPr/>
        </p:nvSpPr>
        <p:spPr>
          <a:xfrm>
            <a:off x="743712" y="1862640"/>
            <a:ext cx="794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Rules that encode team conventions and guardrails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1" name=""/>
          <p:cNvSpPr txBox="1"/>
          <p:nvPr/>
        </p:nvSpPr>
        <p:spPr>
          <a:xfrm>
            <a:off x="743712" y="2282840"/>
            <a:ext cx="8183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 Repository Instructions for lightweight project guidance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3" name=""/>
          <p:cNvSpPr txBox="1"/>
          <p:nvPr/>
        </p:nvSpPr>
        <p:spPr>
          <a:xfrm>
            <a:off x="743712" y="2703040"/>
            <a:ext cx="774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and invoke reusable Skills for specialized workflows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5" name=""/>
          <p:cNvSpPr txBox="1"/>
          <p:nvPr/>
        </p:nvSpPr>
        <p:spPr>
          <a:xfrm>
            <a:off x="743712" y="3123240"/>
            <a:ext cx="801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Connect external tools via MCP and create slash workflows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6" name=""/>
          <p:cNvSpPr txBox="1"/>
          <p:nvPr/>
        </p:nvSpPr>
        <p:spPr>
          <a:xfrm>
            <a:off x="743712" y="3543440"/>
            <a:ext cx="8015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 when and how to use Subagents for delegation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4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846" name="Table 5845"/>
          <p:cNvGraphicFramePr>
            <a:graphicFrameLocks noGrp="1"/>
          </p:cNvGraphicFramePr>
          <p:nvPr/>
        </p:nvGraphicFramePr>
        <p:xfrm>
          <a:off x="743712" y="1442440"/>
          <a:ext cx="49958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44328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Rule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Repository Instructions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and Invoking a Skill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MCP, Hooks, and Slash Workflows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Subagents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0" name=""/>
          <p:cNvSpPr txBox="1"/>
          <p:nvPr/>
        </p:nvSpPr>
        <p:spPr>
          <a:xfrm>
            <a:off x="4719000" y="3331520"/>
            <a:ext cx="2754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Rule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1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7" name=""/>
          <p:cNvSpPr txBox="1"/>
          <p:nvPr/>
        </p:nvSpPr>
        <p:spPr>
          <a:xfrm>
            <a:off x="743712" y="850000"/>
            <a:ext cx="3170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Rules?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9" name=""/>
          <p:cNvSpPr txBox="1"/>
          <p:nvPr/>
        </p:nvSpPr>
        <p:spPr>
          <a:xfrm>
            <a:off x="747720" y="1442440"/>
            <a:ext cx="360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Rules are Markdown files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0" name=""/>
          <p:cNvSpPr txBox="1"/>
          <p:nvPr/>
        </p:nvSpPr>
        <p:spPr>
          <a:xfrm>
            <a:off x="743712" y="2282840"/>
            <a:ext cx="2866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.cursor/rules/*.mdc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1" name=""/>
          <p:cNvSpPr txBox="1"/>
          <p:nvPr/>
        </p:nvSpPr>
        <p:spPr>
          <a:xfrm>
            <a:off x="7358400" y="1862640"/>
            <a:ext cx="3761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with persistent instructions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2" name=""/>
          <p:cNvSpPr txBox="1"/>
          <p:nvPr/>
        </p:nvSpPr>
        <p:spPr>
          <a:xfrm>
            <a:off x="747720" y="2637520"/>
            <a:ext cx="4270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agent automatically applies.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982" name="Table 5981"/>
          <p:cNvGraphicFramePr>
            <a:graphicFrameLocks noGrp="1"/>
          </p:cNvGraphicFramePr>
          <p:nvPr/>
        </p:nvGraphicFramePr>
        <p:xfrm>
          <a:off x="743712" y="3057720"/>
          <a:ext cx="104660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60"/>
                <a:gridCol w="1629720"/>
                <a:gridCol w="2909880"/>
                <a:gridCol w="45100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Rule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Applied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All projects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Always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"Use American English spelling"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Specific repo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When opening that 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"Run make test before suggesting changes"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 pattern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Matching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When editing those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"For *.py files, use type hints"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account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Always across all projects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"Explain like I'm a junior developer"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7" name=""/>
          <p:cNvSpPr txBox="1"/>
          <p:nvPr/>
        </p:nvSpPr>
        <p:spPr>
          <a:xfrm>
            <a:off x="743712" y="850000"/>
            <a:ext cx="273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Rule Structure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8" name=""/>
          <p:cNvSpPr txBox="1"/>
          <p:nvPr/>
        </p:nvSpPr>
        <p:spPr>
          <a:xfrm>
            <a:off x="923760" y="1442440"/>
            <a:ext cx="362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9" name=""/>
          <p:cNvSpPr txBox="1"/>
          <p:nvPr/>
        </p:nvSpPr>
        <p:spPr>
          <a:xfrm>
            <a:off x="923760" y="1742400"/>
            <a:ext cx="6395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description: Brief description of what this rule does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0" name=""/>
          <p:cNvSpPr txBox="1"/>
          <p:nvPr/>
        </p:nvSpPr>
        <p:spPr>
          <a:xfrm>
            <a:off x="923760" y="2042360"/>
            <a:ext cx="2896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globs: </a:t>
            </a:r>
            <a:r>
              <a:rPr lang="en-US" sz="2000" b="0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*.py, src/</a:t>
            </a:r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**/*.js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1" name=""/>
          <p:cNvSpPr txBox="1"/>
          <p:nvPr/>
        </p:nvSpPr>
        <p:spPr>
          <a:xfrm>
            <a:off x="923760" y="2342320"/>
            <a:ext cx="2052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alwaysApply: true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2" name=""/>
          <p:cNvSpPr txBox="1"/>
          <p:nvPr/>
        </p:nvSpPr>
        <p:spPr>
          <a:xfrm>
            <a:off x="923760" y="2642280"/>
            <a:ext cx="362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3" name=""/>
          <p:cNvSpPr txBox="1"/>
          <p:nvPr/>
        </p:nvSpPr>
        <p:spPr>
          <a:xfrm>
            <a:off x="923760" y="2942240"/>
            <a:ext cx="144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# Rule Title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4" name=""/>
          <p:cNvSpPr txBox="1"/>
          <p:nvPr/>
        </p:nvSpPr>
        <p:spPr>
          <a:xfrm>
            <a:off x="923760" y="3242200"/>
            <a:ext cx="3499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## Instructions for the Agent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5" name=""/>
          <p:cNvSpPr txBox="1"/>
          <p:nvPr/>
        </p:nvSpPr>
        <p:spPr>
          <a:xfrm>
            <a:off x="923760" y="3542160"/>
            <a:ext cx="5913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Write your instructions here in natural language.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6" name=""/>
          <p:cNvSpPr txBox="1"/>
          <p:nvPr/>
        </p:nvSpPr>
        <p:spPr>
          <a:xfrm>
            <a:off x="923760" y="3842120"/>
            <a:ext cx="1328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## Examples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7" name=""/>
          <p:cNvSpPr txBox="1"/>
          <p:nvPr/>
        </p:nvSpPr>
        <p:spPr>
          <a:xfrm>
            <a:off x="923760" y="4142080"/>
            <a:ext cx="2293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Good: ...  Bad: ...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8" name=""/>
          <p:cNvSpPr txBox="1"/>
          <p:nvPr/>
        </p:nvSpPr>
        <p:spPr>
          <a:xfrm>
            <a:off x="743712" y="850000"/>
            <a:ext cx="5440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4.1 — Step 1: Setup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9" name=""/>
          <p:cNvSpPr txBox="1"/>
          <p:nvPr/>
        </p:nvSpPr>
        <p:spPr>
          <a:xfrm>
            <a:off x="923760" y="1442440"/>
            <a:ext cx="2655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-p .cursor/rules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1" name=""/>
          <p:cNvSpPr txBox="1"/>
          <p:nvPr/>
        </p:nvSpPr>
        <p:spPr>
          <a:xfrm>
            <a:off x="747720" y="1742400"/>
            <a:ext cx="4557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coding standards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rule at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2" name=""/>
          <p:cNvSpPr txBox="1"/>
          <p:nvPr/>
        </p:nvSpPr>
        <p:spPr>
          <a:xfrm>
            <a:off x="5372640" y="258280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.cursor/rules/coding-standards.mdc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3" name=""/>
          <p:cNvSpPr txBox="1"/>
          <p:nvPr/>
        </p:nvSpPr>
        <p:spPr>
          <a:xfrm>
            <a:off x="10568880" y="21626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1" name="TextBox 6020"/>
          <p:cNvSpPr txBox="1"/>
          <p:nvPr/>
        </p:nvSpPr>
        <p:spPr>
          <a:xfrm>
            <a:off x="923760" y="2937480"/>
            <a:ext cx="799972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globs: **/*.{js,ts,py}  |  alwaysApply: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Python: type hints, Black (88 chars), Google docstrings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JS/TS: const over let, arrow functions, optional chaining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General: no commented-out code, no console.log in prod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"/>
          <p:cNvSpPr txBox="1"/>
          <p:nvPr/>
        </p:nvSpPr>
        <p:spPr>
          <a:xfrm>
            <a:off x="743712" y="643280"/>
            <a:ext cx="6188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4.1 — Build &amp; Test Rule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0" name=""/>
          <p:cNvSpPr txBox="1"/>
          <p:nvPr/>
        </p:nvSpPr>
        <p:spPr>
          <a:xfrm>
            <a:off x="747720" y="123572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1" name=""/>
          <p:cNvSpPr txBox="1"/>
          <p:nvPr/>
        </p:nvSpPr>
        <p:spPr>
          <a:xfrm>
            <a:off x="1815840" y="2076120"/>
            <a:ext cx="4826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.cursor/rules/build-and-test.mdc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2" name=""/>
          <p:cNvSpPr txBox="1"/>
          <p:nvPr/>
        </p:nvSpPr>
        <p:spPr>
          <a:xfrm>
            <a:off x="743712" y="16559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7" name=""/>
          <p:cNvSpPr txBox="1"/>
          <p:nvPr/>
        </p:nvSpPr>
        <p:spPr>
          <a:xfrm>
            <a:off x="747720" y="360680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8" name=""/>
          <p:cNvSpPr txBox="1"/>
          <p:nvPr/>
        </p:nvSpPr>
        <p:spPr>
          <a:xfrm>
            <a:off x="1815840" y="4447200"/>
            <a:ext cx="39222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.cursor/rules/security.mdc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9" name=""/>
          <p:cNvSpPr txBox="1"/>
          <p:nvPr/>
        </p:nvSpPr>
        <p:spPr>
          <a:xfrm>
            <a:off x="743712" y="40270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6" name="TextBox 6045"/>
          <p:cNvSpPr txBox="1"/>
          <p:nvPr/>
        </p:nvSpPr>
        <p:spPr>
          <a:xfrm>
            <a:off x="743712" y="2430800"/>
            <a:ext cx="964564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Before changes: git status, git diff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After changes:  make test / pytest / npm test → make lint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 NOT suggest changes that break tests or need undocumented API keys</a:t>
            </a:r>
          </a:p>
        </p:txBody>
      </p:sp>
      <p:sp>
        <p:nvSpPr>
          <p:cNvPr id="6047" name="TextBox 6046"/>
          <p:cNvSpPr txBox="1"/>
          <p:nvPr/>
        </p:nvSpPr>
        <p:spPr>
          <a:xfrm>
            <a:off x="743712" y="4801880"/>
            <a:ext cx="9371320" cy="101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30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Never: hardcoded secrets, eval() on user input, SQL concatenation</a:t>
            </a:r>
          </a:p>
          <a:p>
            <a:pPr algn="l">
              <a:lnSpc>
                <a:spcPts val="230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Always: input validation, rate limiting, HTTPS, safe error messages</a:t>
            </a:r>
          </a:p>
          <a:p>
            <a:pPr algn="l">
              <a:lnSpc>
                <a:spcPts val="230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Flag: exec/eval with user input, password/secret in variable names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" name=""/>
          <p:cNvSpPr txBox="1"/>
          <p:nvPr/>
        </p:nvSpPr>
        <p:spPr>
          <a:xfrm>
            <a:off x="743712" y="850000"/>
            <a:ext cx="775260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4.1 — Test &amp; File-Specific Rules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2" name=""/>
          <p:cNvSpPr txBox="1"/>
          <p:nvPr/>
        </p:nvSpPr>
        <p:spPr>
          <a:xfrm>
            <a:off x="747720" y="220840"/>
            <a:ext cx="43038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6" name=""/>
          <p:cNvSpPr txBox="1"/>
          <p:nvPr/>
        </p:nvSpPr>
        <p:spPr>
          <a:xfrm>
            <a:off x="747720" y="1512240"/>
            <a:ext cx="21013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7" name=""/>
          <p:cNvSpPr txBox="1"/>
          <p:nvPr/>
        </p:nvSpPr>
        <p:spPr>
          <a:xfrm>
            <a:off x="743712" y="23526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.cursor/rules/react-components.mdc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9" name=""/>
          <p:cNvSpPr txBox="1"/>
          <p:nvPr/>
        </p:nvSpPr>
        <p:spPr>
          <a:xfrm>
            <a:off x="8112960" y="1932440"/>
            <a:ext cx="5259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1" name=""/>
          <p:cNvSpPr txBox="1"/>
          <p:nvPr/>
        </p:nvSpPr>
        <p:spPr>
          <a:xfrm>
            <a:off x="8706600" y="2707320"/>
            <a:ext cx="150912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**/*.jsx, 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2" name=""/>
          <p:cNvSpPr txBox="1"/>
          <p:nvPr/>
        </p:nvSpPr>
        <p:spPr>
          <a:xfrm>
            <a:off x="747720" y="3482200"/>
            <a:ext cx="12074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**/*.tsx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4" name=""/>
          <p:cNvSpPr txBox="1"/>
          <p:nvPr/>
        </p:nvSpPr>
        <p:spPr>
          <a:xfrm>
            <a:off x="2022840" y="30620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6" name=""/>
          <p:cNvSpPr txBox="1"/>
          <p:nvPr/>
        </p:nvSpPr>
        <p:spPr>
          <a:xfrm>
            <a:off x="743712" y="3836880"/>
            <a:ext cx="79632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Component structure, naming (PascalCase, handleSubmit)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8" name=""/>
          <p:cNvSpPr txBox="1"/>
          <p:nvPr/>
        </p:nvSpPr>
        <p:spPr>
          <a:xfrm>
            <a:off x="1357200" y="4257080"/>
            <a:ext cx="69800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Performance: React.memo, useCallback, useMemo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9" name=""/>
          <p:cNvSpPr txBox="1"/>
          <p:nvPr/>
        </p:nvSpPr>
        <p:spPr>
          <a:xfrm>
            <a:off x="1357200" y="4677280"/>
            <a:ext cx="70304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Accessibility: keyboard nav, alt text, semantic HTML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0" name=""/>
          <p:cNvSpPr txBox="1"/>
          <p:nvPr/>
        </p:nvSpPr>
        <p:spPr>
          <a:xfrm>
            <a:off x="743712" y="5097480"/>
            <a:ext cx="97923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rules directory · coding, build, security rules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1" name=""/>
          <p:cNvSpPr txBox="1"/>
          <p:nvPr/>
        </p:nvSpPr>
        <p:spPr>
          <a:xfrm>
            <a:off x="747720" y="5517680"/>
            <a:ext cx="25254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verified application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5" name="TextBox 6074"/>
          <p:cNvSpPr txBox="1"/>
          <p:nvPr/>
        </p:nvSpPr>
        <p:spPr>
          <a:xfrm>
            <a:off x="743712" y="1442440"/>
            <a:ext cx="103314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Based on the project rules, what are the coding standards I should follow?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are the security guardrails?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9" name=""/>
          <p:cNvSpPr txBox="1"/>
          <p:nvPr/>
        </p:nvSpPr>
        <p:spPr>
          <a:xfrm>
            <a:off x="4080540" y="3331520"/>
            <a:ext cx="4030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Repository Instructions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0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"/>
          <p:cNvSpPr txBox="1"/>
          <p:nvPr/>
        </p:nvSpPr>
        <p:spPr>
          <a:xfrm>
            <a:off x="743712" y="850000"/>
            <a:ext cx="629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Rules vs. Repository Instructions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176" name="Table 6175"/>
          <p:cNvGraphicFramePr>
            <a:graphicFrameLocks noGrp="1"/>
          </p:cNvGraphicFramePr>
          <p:nvPr/>
        </p:nvGraphicFramePr>
        <p:xfrm>
          <a:off x="743712" y="1442440"/>
          <a:ext cx="75561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2483160"/>
                <a:gridCol w="37633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Rules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Repository Instructions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.cursor/rules/*.mdc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.cursor/repository-instructions.md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Multiple files, scoped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file, global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Granularity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Per-file patterns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Entire repository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Detailed standards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High-level project overview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1" name=""/>
          <p:cNvSpPr txBox="1"/>
          <p:nvPr/>
        </p:nvSpPr>
        <p:spPr>
          <a:xfrm>
            <a:off x="743712" y="850000"/>
            <a:ext cx="6319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Repository Instructions Structure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3" name="TextBox 6192"/>
          <p:cNvSpPr txBox="1"/>
          <p:nvPr/>
        </p:nvSpPr>
        <p:spPr>
          <a:xfrm>
            <a:off x="923760" y="1442440"/>
            <a:ext cx="690244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Repository Instructions for [Project Name]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Project Purpose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Key Technologies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Architecture Overview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Important Conventions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Common Tasks (make dev, make test, make build)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External Dependencies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Contact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8" name=""/>
          <p:cNvSpPr txBox="1"/>
          <p:nvPr/>
        </p:nvSpPr>
        <p:spPr>
          <a:xfrm>
            <a:off x="743712" y="850000"/>
            <a:ext cx="651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4.2 — Create Instructions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0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1" name=""/>
          <p:cNvSpPr txBox="1"/>
          <p:nvPr/>
        </p:nvSpPr>
        <p:spPr>
          <a:xfrm>
            <a:off x="1815840" y="22828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.cursor/repository-instructions.md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2" name=""/>
          <p:cNvSpPr txBox="1"/>
          <p:nvPr/>
        </p:nvSpPr>
        <p:spPr>
          <a:xfrm>
            <a:off x="701208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2" name="TextBox 6211"/>
          <p:cNvSpPr txBox="1"/>
          <p:nvPr/>
        </p:nvSpPr>
        <p:spPr>
          <a:xfrm>
            <a:off x="743712" y="2637520"/>
            <a:ext cx="937132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Project: Task Manager API (FastAPI + PostgreSQL + JWT)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Architecture: api/ → services/ → repositories/ → models/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Conventions: dependency injection, async/await, type hints required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dev:  uvicorn src.main:app --reload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tests: pytest -v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Migrations: alembic upgrade head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7" name=""/>
          <p:cNvSpPr txBox="1"/>
          <p:nvPr/>
        </p:nvSpPr>
        <p:spPr>
          <a:xfrm>
            <a:off x="743712" y="850000"/>
            <a:ext cx="6123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4.2 — Verify &amp; Maintain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8" name=""/>
          <p:cNvSpPr txBox="1"/>
          <p:nvPr/>
        </p:nvSpPr>
        <p:spPr>
          <a:xfrm>
            <a:off x="747720" y="1442440"/>
            <a:ext cx="3084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the Agent: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2" name=""/>
          <p:cNvSpPr txBox="1"/>
          <p:nvPr/>
        </p:nvSpPr>
        <p:spPr>
          <a:xfrm>
            <a:off x="747720" y="2733840"/>
            <a:ext cx="460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Update instructions when: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4" name=""/>
          <p:cNvSpPr txBox="1"/>
          <p:nvPr/>
        </p:nvSpPr>
        <p:spPr>
          <a:xfrm>
            <a:off x="1357200" y="3154040"/>
            <a:ext cx="5913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 team members join → add contact info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6" name=""/>
          <p:cNvSpPr txBox="1"/>
          <p:nvPr/>
        </p:nvSpPr>
        <p:spPr>
          <a:xfrm>
            <a:off x="1357200" y="3574240"/>
            <a:ext cx="554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Architecture changes → update structure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7" name=""/>
          <p:cNvSpPr txBox="1"/>
          <p:nvPr/>
        </p:nvSpPr>
        <p:spPr>
          <a:xfrm>
            <a:off x="1357200" y="3994440"/>
            <a:ext cx="6709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 dependencies or common issues discovered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8" name=""/>
          <p:cNvSpPr txBox="1"/>
          <p:nvPr/>
        </p:nvSpPr>
        <p:spPr>
          <a:xfrm>
            <a:off x="743712" y="4414640"/>
            <a:ext cx="1060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instructions · included purpose, stack, commands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9" name=""/>
          <p:cNvSpPr txBox="1"/>
          <p:nvPr/>
        </p:nvSpPr>
        <p:spPr>
          <a:xfrm>
            <a:off x="747720" y="4834840"/>
            <a:ext cx="286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verified agent access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3" name="TextBox 6232"/>
          <p:cNvSpPr txBox="1"/>
          <p:nvPr/>
        </p:nvSpPr>
        <p:spPr>
          <a:xfrm>
            <a:off x="923760" y="1862640"/>
            <a:ext cx="71767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are the key technologies used in this project?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How do I run the tests?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7" name=""/>
          <p:cNvSpPr txBox="1"/>
          <p:nvPr/>
        </p:nvSpPr>
        <p:spPr>
          <a:xfrm>
            <a:off x="3584640" y="3331520"/>
            <a:ext cx="5022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and Invoking a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8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4" name=""/>
          <p:cNvSpPr txBox="1"/>
          <p:nvPr/>
        </p:nvSpPr>
        <p:spPr>
          <a:xfrm>
            <a:off x="743712" y="256640"/>
            <a:ext cx="2907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a Skill?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5" name=""/>
          <p:cNvSpPr txBox="1"/>
          <p:nvPr/>
        </p:nvSpPr>
        <p:spPr>
          <a:xfrm>
            <a:off x="743712" y="849080"/>
            <a:ext cx="10106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reusable, specialized workflow the agent loads and follows —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"prompt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6" name=""/>
          <p:cNvSpPr txBox="1"/>
          <p:nvPr/>
        </p:nvSpPr>
        <p:spPr>
          <a:xfrm>
            <a:off x="747720" y="1269280"/>
            <a:ext cx="3448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template with memory."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316" name="Table 6315"/>
          <p:cNvGraphicFramePr>
            <a:graphicFrameLocks noGrp="1"/>
          </p:cNvGraphicFramePr>
          <p:nvPr/>
        </p:nvGraphicFramePr>
        <p:xfrm>
          <a:off x="743712" y="3779880"/>
          <a:ext cx="40062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2163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Frequent task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"PR Review"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 workflow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"Onboarding"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Domain-specific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"Security Audit"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"Generate API Docs"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317" name="TextBox 6316"/>
          <p:cNvSpPr txBox="1"/>
          <p:nvPr/>
        </p:nvSpPr>
        <p:spPr>
          <a:xfrm>
            <a:off x="923760" y="1689480"/>
            <a:ext cx="786256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.cursor/skills/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 skill-name/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├── SKILL.md          # Main instructions (required)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├── scripts/          # Optional helper scripts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├── references/       # Optional reference docs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└── templates/        # Optional output templates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1" name=""/>
          <p:cNvSpPr txBox="1"/>
          <p:nvPr/>
        </p:nvSpPr>
        <p:spPr>
          <a:xfrm>
            <a:off x="743712" y="850000"/>
            <a:ext cx="5859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4.3 — PR Review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3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4" name=""/>
          <p:cNvSpPr txBox="1"/>
          <p:nvPr/>
        </p:nvSpPr>
        <p:spPr>
          <a:xfrm>
            <a:off x="1815840" y="2282840"/>
            <a:ext cx="49777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.cursor/skills/pr-review/SKILL.md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5" name=""/>
          <p:cNvSpPr txBox="1"/>
          <p:nvPr/>
        </p:nvSpPr>
        <p:spPr>
          <a:xfrm>
            <a:off x="743712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5" name="TextBox 6334"/>
          <p:cNvSpPr txBox="1"/>
          <p:nvPr/>
        </p:nvSpPr>
        <p:spPr>
          <a:xfrm>
            <a:off x="743712" y="2637520"/>
            <a:ext cx="991996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name: pr-review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description: Review a PR for code quality, security, and team standards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1: Fetch diff (git fetch + git diff main...FETCH_HEAD)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2: Review — code quality, security, testing, docs, style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3: Output formatted review with Critical / Warning / Suggestion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Verdict: APPROVE / REQUEST CHANGES / COMMENT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0" name=""/>
          <p:cNvSpPr txBox="1"/>
          <p:nvPr/>
        </p:nvSpPr>
        <p:spPr>
          <a:xfrm>
            <a:off x="743712" y="850000"/>
            <a:ext cx="651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4.3 — Security Audit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2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3" name=""/>
          <p:cNvSpPr txBox="1"/>
          <p:nvPr/>
        </p:nvSpPr>
        <p:spPr>
          <a:xfrm>
            <a:off x="1815840" y="2282840"/>
            <a:ext cx="5731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.cursor/skills/security-audit/SKILL.md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4" name=""/>
          <p:cNvSpPr txBox="1"/>
          <p:nvPr/>
        </p:nvSpPr>
        <p:spPr>
          <a:xfrm>
            <a:off x="761544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3" name="TextBox 6352"/>
          <p:cNvSpPr txBox="1"/>
          <p:nvPr/>
        </p:nvSpPr>
        <p:spPr>
          <a:xfrm>
            <a:off x="743712" y="2637520"/>
            <a:ext cx="991996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Scan for: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Critical: hardcoded secrets, SQL injection, command injection, eval()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Medium:   no input validation, weak crypto, missing CSRF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Low:      debug endpoints, verbose errors, outdated deps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Output: report with line numbers, fix suggestions, overall risk rating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0" name=""/>
          <p:cNvSpPr txBox="1"/>
          <p:nvPr/>
        </p:nvSpPr>
        <p:spPr>
          <a:xfrm>
            <a:off x="743712" y="850000"/>
            <a:ext cx="5309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4.3 — Invoke Skills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1" name=""/>
          <p:cNvSpPr txBox="1"/>
          <p:nvPr/>
        </p:nvSpPr>
        <p:spPr>
          <a:xfrm>
            <a:off x="747720" y="1442440"/>
            <a:ext cx="477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Invoke via slash command: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4" name=""/>
          <p:cNvSpPr txBox="1"/>
          <p:nvPr/>
        </p:nvSpPr>
        <p:spPr>
          <a:xfrm>
            <a:off x="747720" y="2733840"/>
            <a:ext cx="369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 available skills: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5" name=""/>
          <p:cNvSpPr txBox="1"/>
          <p:nvPr/>
        </p:nvSpPr>
        <p:spPr>
          <a:xfrm>
            <a:off x="923760" y="3154040"/>
            <a:ext cx="5068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What skills are available in this project?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6" name=""/>
          <p:cNvSpPr txBox="1"/>
          <p:nvPr/>
        </p:nvSpPr>
        <p:spPr>
          <a:xfrm>
            <a:off x="743712" y="3454000"/>
            <a:ext cx="972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Onboarding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skill — generates setup checklist from repo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7" name=""/>
          <p:cNvSpPr txBox="1"/>
          <p:nvPr/>
        </p:nvSpPr>
        <p:spPr>
          <a:xfrm>
            <a:off x="747720" y="3874200"/>
            <a:ext cx="154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instructions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8" name=""/>
          <p:cNvSpPr txBox="1"/>
          <p:nvPr/>
        </p:nvSpPr>
        <p:spPr>
          <a:xfrm>
            <a:off x="743712" y="4294400"/>
            <a:ext cx="10376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skills · built PR Review + Security Audit · invoked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9" name=""/>
          <p:cNvSpPr txBox="1"/>
          <p:nvPr/>
        </p:nvSpPr>
        <p:spPr>
          <a:xfrm>
            <a:off x="747720" y="4714600"/>
            <a:ext cx="2609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via slash command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3" name="TextBox 6372"/>
          <p:cNvSpPr txBox="1"/>
          <p:nvPr/>
        </p:nvSpPr>
        <p:spPr>
          <a:xfrm>
            <a:off x="923760" y="1862640"/>
            <a:ext cx="53936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/pr-review PR #42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/pr-review feature/payment-integration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7" name=""/>
          <p:cNvSpPr txBox="1"/>
          <p:nvPr/>
        </p:nvSpPr>
        <p:spPr>
          <a:xfrm>
            <a:off x="3023760" y="3331520"/>
            <a:ext cx="6144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MCP, Hooks, and Slash Workflows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8" name=""/>
          <p:cNvSpPr txBox="1"/>
          <p:nvPr/>
        </p:nvSpPr>
        <p:spPr>
          <a:xfrm>
            <a:off x="3944100" y="3853960"/>
            <a:ext cx="430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Walkthrough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4" name=""/>
          <p:cNvSpPr txBox="1"/>
          <p:nvPr/>
        </p:nvSpPr>
        <p:spPr>
          <a:xfrm>
            <a:off x="743712" y="561440"/>
            <a:ext cx="2642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MCP?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5" name=""/>
          <p:cNvSpPr txBox="1"/>
          <p:nvPr/>
        </p:nvSpPr>
        <p:spPr>
          <a:xfrm>
            <a:off x="743712" y="1153880"/>
            <a:ext cx="10055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MCP standardizes how AI agents discover and use external tools —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"USB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6" name=""/>
          <p:cNvSpPr txBox="1"/>
          <p:nvPr/>
        </p:nvSpPr>
        <p:spPr>
          <a:xfrm>
            <a:off x="747720" y="1574080"/>
            <a:ext cx="1702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port for AI."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455" name="Table 6454"/>
          <p:cNvGraphicFramePr>
            <a:graphicFrameLocks noGrp="1"/>
          </p:cNvGraphicFramePr>
          <p:nvPr/>
        </p:nvGraphicFramePr>
        <p:xfrm>
          <a:off x="743712" y="3779880"/>
          <a:ext cx="60331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00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MCP Server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Capabilities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GitHub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PRs, comment on issues, fetch reviews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Slack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Send messages, read channels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Jira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tickets, update status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Query databases, run migrations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456" name="TextBox 6455"/>
          <p:cNvSpPr txBox="1"/>
          <p:nvPr/>
        </p:nvSpPr>
        <p:spPr>
          <a:xfrm>
            <a:off x="923760" y="1994280"/>
            <a:ext cx="703960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Cursor Agent ←─MCP Protocol─→ MCP Server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├─→ GitHub API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├─→ Slack API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├─→ Jira API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└─→ Custom Tools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4" name=""/>
          <p:cNvSpPr txBox="1"/>
          <p:nvPr/>
        </p:nvSpPr>
        <p:spPr>
          <a:xfrm>
            <a:off x="743712" y="45840"/>
            <a:ext cx="4888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Hooks &amp; Slash Workflows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5" name=""/>
          <p:cNvSpPr txBox="1"/>
          <p:nvPr/>
        </p:nvSpPr>
        <p:spPr>
          <a:xfrm>
            <a:off x="747720" y="638280"/>
            <a:ext cx="6827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Hooks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scripts at specific agent workflow points: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5" name=""/>
          <p:cNvSpPr txBox="1"/>
          <p:nvPr/>
        </p:nvSpPr>
        <p:spPr>
          <a:xfrm>
            <a:off x="743712" y="3216480"/>
            <a:ext cx="10283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Slash workflows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team commands combining MCP, hooks, and prompts: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600" name="Table 6599"/>
          <p:cNvGraphicFramePr>
            <a:graphicFrameLocks noGrp="1"/>
          </p:cNvGraphicFramePr>
          <p:nvPr/>
        </p:nvGraphicFramePr>
        <p:xfrm>
          <a:off x="743712" y="1058480"/>
          <a:ext cx="744948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2589840"/>
                <a:gridCol w="33366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Hook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It Runs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pre-tool-use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Before tool call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Validate permissions, log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post-tool-use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After tool returns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Transform results, audit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pre-prompt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Before sending to model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Inject context, redact secrets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post-response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After agent responds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 output, log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601" name="Table 6600"/>
          <p:cNvGraphicFramePr>
            <a:graphicFrameLocks noGrp="1"/>
          </p:cNvGraphicFramePr>
          <p:nvPr/>
        </p:nvGraphicFramePr>
        <p:xfrm>
          <a:off x="743712" y="3636680"/>
          <a:ext cx="6673200" cy="22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/onboard @newdev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Onboarding skill + GitHub issue + Slack message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/deploy staging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Tests → build → deploy → notify team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/bug-report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Analyze error → create issue → assign on-call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7" name=""/>
          <p:cNvSpPr txBox="1"/>
          <p:nvPr/>
        </p:nvSpPr>
        <p:spPr>
          <a:xfrm>
            <a:off x="743712" y="795040"/>
            <a:ext cx="625140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Walkthrough: MCP Configuration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9" name=""/>
          <p:cNvSpPr txBox="1"/>
          <p:nvPr/>
        </p:nvSpPr>
        <p:spPr>
          <a:xfrm>
            <a:off x="747720" y="15240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0" name=""/>
          <p:cNvSpPr txBox="1"/>
          <p:nvPr/>
        </p:nvSpPr>
        <p:spPr>
          <a:xfrm>
            <a:off x="1815840" y="992800"/>
            <a:ext cx="27154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~/.cursor/mcp.json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1" name=""/>
          <p:cNvSpPr txBox="1"/>
          <p:nvPr/>
        </p:nvSpPr>
        <p:spPr>
          <a:xfrm>
            <a:off x="4599000" y="5726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9" name="TextBox 6628"/>
          <p:cNvSpPr txBox="1"/>
          <p:nvPr/>
        </p:nvSpPr>
        <p:spPr>
          <a:xfrm>
            <a:off x="923760" y="1387480"/>
            <a:ext cx="621664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"mcpServers":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"github":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"command": "cursor-mcp-github",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"args": ["--token", "${GITHUB_TOKEN}"]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"slack":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"command": "cursor-mcp-slack",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"args": ["--token", "${SLACK_TOKEN}"]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6630" name="TextBox 6629"/>
          <p:cNvSpPr txBox="1"/>
          <p:nvPr/>
        </p:nvSpPr>
        <p:spPr>
          <a:xfrm>
            <a:off x="743712" y="5306680"/>
            <a:ext cx="8822680" cy="51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225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Create a PR from feature/payment and request review from @alice</a:t>
            </a:r>
          </a:p>
          <a:p>
            <a:pPr algn="l">
              <a:lnSpc>
                <a:spcPts val="2225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Send a message to #deploys: "Deployment starting"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4" name=""/>
          <p:cNvSpPr txBox="1"/>
          <p:nvPr/>
        </p:nvSpPr>
        <p:spPr>
          <a:xfrm>
            <a:off x="743712" y="444680"/>
            <a:ext cx="7508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Walkthrough: Slash Command Example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6" name=""/>
          <p:cNvSpPr txBox="1"/>
          <p:nvPr/>
        </p:nvSpPr>
        <p:spPr>
          <a:xfrm>
            <a:off x="747720" y="103712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7" name=""/>
          <p:cNvSpPr txBox="1"/>
          <p:nvPr/>
        </p:nvSpPr>
        <p:spPr>
          <a:xfrm>
            <a:off x="1815840" y="1877520"/>
            <a:ext cx="39222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.cursor/commands/deploy.md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8" name=""/>
          <p:cNvSpPr txBox="1"/>
          <p:nvPr/>
        </p:nvSpPr>
        <p:spPr>
          <a:xfrm>
            <a:off x="743712" y="14573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5" name=""/>
          <p:cNvSpPr txBox="1"/>
          <p:nvPr/>
        </p:nvSpPr>
        <p:spPr>
          <a:xfrm>
            <a:off x="747720" y="4322600"/>
            <a:ext cx="105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6" name=""/>
          <p:cNvSpPr txBox="1"/>
          <p:nvPr/>
        </p:nvSpPr>
        <p:spPr>
          <a:xfrm>
            <a:off x="1866600" y="4742800"/>
            <a:ext cx="2262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/deploy staging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7" name=""/>
          <p:cNvSpPr txBox="1"/>
          <p:nvPr/>
        </p:nvSpPr>
        <p:spPr>
          <a:xfrm>
            <a:off x="743712" y="5097480"/>
            <a:ext cx="9165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MCP, hooks, slash commands · saw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8" name=""/>
          <p:cNvSpPr txBox="1"/>
          <p:nvPr/>
        </p:nvSpPr>
        <p:spPr>
          <a:xfrm>
            <a:off x="747720" y="5517680"/>
            <a:ext cx="313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configuration examples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2" name="TextBox 6651"/>
          <p:cNvSpPr txBox="1"/>
          <p:nvPr/>
        </p:nvSpPr>
        <p:spPr>
          <a:xfrm>
            <a:off x="743712" y="2232200"/>
            <a:ext cx="88226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name: deploy  |  arguments: environment (staging | production)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Pre-deploy: make test → make lint → git status clean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Deploy staging: git push origin main → kubectl set image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Deploy production: git tag → deploy-prod.sh (requires approval)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Post-deploy: health check → smoke tests → Slack notify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6" name=""/>
          <p:cNvSpPr txBox="1"/>
          <p:nvPr/>
        </p:nvSpPr>
        <p:spPr>
          <a:xfrm>
            <a:off x="5148300" y="3331520"/>
            <a:ext cx="1895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Subagents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7" name=""/>
          <p:cNvSpPr txBox="1"/>
          <p:nvPr/>
        </p:nvSpPr>
        <p:spPr>
          <a:xfrm>
            <a:off x="4028880" y="3853960"/>
            <a:ext cx="413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6 min · Walkthrough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" name=""/>
          <p:cNvSpPr txBox="1"/>
          <p:nvPr/>
        </p:nvSpPr>
        <p:spPr>
          <a:xfrm>
            <a:off x="743712" y="850000"/>
            <a:ext cx="4117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Subagents?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7" name=""/>
          <p:cNvSpPr txBox="1"/>
          <p:nvPr/>
        </p:nvSpPr>
        <p:spPr>
          <a:xfrm>
            <a:off x="743712" y="1442440"/>
            <a:ext cx="10336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Independent agent instances for specialized tasks — own context, tools,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8" name=""/>
          <p:cNvSpPr txBox="1"/>
          <p:nvPr/>
        </p:nvSpPr>
        <p:spPr>
          <a:xfrm>
            <a:off x="747720" y="1862640"/>
            <a:ext cx="674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instructions — then report back to the main agent.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6" name="TextBox 6675"/>
          <p:cNvSpPr txBox="1"/>
          <p:nvPr/>
        </p:nvSpPr>
        <p:spPr>
          <a:xfrm>
            <a:off x="743712" y="2282840"/>
            <a:ext cx="86855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Main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├──→ Subagent: Security Scanner → "2 critical issues found"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├──→ Subagent: Documentation Generator → "Updated README.md"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└──→ Subagent: Test Writer → "Added 5 test cases"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7" name=""/>
          <p:cNvSpPr txBox="1"/>
          <p:nvPr/>
        </p:nvSpPr>
        <p:spPr>
          <a:xfrm>
            <a:off x="743712" y="850000"/>
            <a:ext cx="4535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Subagents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766" name="Table 6765"/>
          <p:cNvGraphicFramePr>
            <a:graphicFrameLocks noGrp="1"/>
          </p:cNvGraphicFramePr>
          <p:nvPr/>
        </p:nvGraphicFramePr>
        <p:xfrm>
          <a:off x="743712" y="1442440"/>
          <a:ext cx="87296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720"/>
                <a:gridCol w="3229920"/>
                <a:gridCol w="3870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Why Subagent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Parallel work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Multiple tasks simultaneously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Scan security AND generate docs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Isolation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Separate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Analyze large file independently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Specialization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Different instructions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Security expert vs. UI designer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Sandboxing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 tool access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Read-only subagent for unknown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7" name=""/>
          <p:cNvSpPr txBox="1"/>
          <p:nvPr/>
        </p:nvSpPr>
        <p:spPr>
          <a:xfrm>
            <a:off x="743712" y="850000"/>
            <a:ext cx="4998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Subagent vs. Tool vs.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819" name="Table 6818"/>
          <p:cNvGraphicFramePr>
            <a:graphicFrameLocks noGrp="1"/>
          </p:cNvGraphicFramePr>
          <p:nvPr/>
        </p:nvGraphicFramePr>
        <p:xfrm>
          <a:off x="743712" y="1442440"/>
          <a:ext cx="517968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640"/>
                <a:gridCol w="41900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action (read file, run command)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Skill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Multi-step workflow, same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Subagent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Parallel, isolated, specialized work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6" name=""/>
          <p:cNvSpPr txBox="1"/>
          <p:nvPr/>
        </p:nvSpPr>
        <p:spPr>
          <a:xfrm>
            <a:off x="743712" y="850000"/>
            <a:ext cx="649440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Walkthrough: Subagents in Action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7" name=""/>
          <p:cNvSpPr txBox="1"/>
          <p:nvPr/>
        </p:nvSpPr>
        <p:spPr>
          <a:xfrm>
            <a:off x="743712" y="224280"/>
            <a:ext cx="105692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8" name=""/>
          <p:cNvSpPr txBox="1"/>
          <p:nvPr/>
        </p:nvSpPr>
        <p:spPr>
          <a:xfrm>
            <a:off x="747720" y="644480"/>
            <a:ext cx="74192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Without subagents: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Mixed context, sequential, slower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9" name=""/>
          <p:cNvSpPr txBox="1"/>
          <p:nvPr/>
        </p:nvSpPr>
        <p:spPr>
          <a:xfrm>
            <a:off x="747720" y="1064680"/>
            <a:ext cx="37263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subagents (parallel):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3" name=""/>
          <p:cNvSpPr txBox="1"/>
          <p:nvPr/>
        </p:nvSpPr>
        <p:spPr>
          <a:xfrm>
            <a:off x="747720" y="2965680"/>
            <a:ext cx="1067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Invoke: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6" name=""/>
          <p:cNvSpPr txBox="1"/>
          <p:nvPr/>
        </p:nvSpPr>
        <p:spPr>
          <a:xfrm>
            <a:off x="743712" y="4257080"/>
            <a:ext cx="97088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concept · parallel execution · recognized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7" name=""/>
          <p:cNvSpPr txBox="1"/>
          <p:nvPr/>
        </p:nvSpPr>
        <p:spPr>
          <a:xfrm>
            <a:off x="747720" y="46772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8" name=""/>
          <p:cNvSpPr txBox="1"/>
          <p:nvPr/>
        </p:nvSpPr>
        <p:spPr>
          <a:xfrm>
            <a:off x="1425240" y="50974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9" name=""/>
          <p:cNvSpPr txBox="1"/>
          <p:nvPr/>
        </p:nvSpPr>
        <p:spPr>
          <a:xfrm>
            <a:off x="1662480" y="55176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3" name="TextBox 6842"/>
          <p:cNvSpPr txBox="1"/>
          <p:nvPr/>
        </p:nvSpPr>
        <p:spPr>
          <a:xfrm>
            <a:off x="923760" y="1442440"/>
            <a:ext cx="813688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Subagent 1 (Security): scan all files, read-only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Subagent 2 (Docs): generate OpenAPI spec, write to docs/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Main Agent combines: security report + openapi.yaml</a:t>
            </a:r>
          </a:p>
        </p:txBody>
      </p:sp>
      <p:sp>
        <p:nvSpPr>
          <p:cNvPr id="6844" name="TextBox 6843"/>
          <p:cNvSpPr txBox="1"/>
          <p:nvPr/>
        </p:nvSpPr>
        <p:spPr>
          <a:xfrm>
            <a:off x="923760" y="2923240"/>
            <a:ext cx="82740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Spawn a security subagent to audit src/auth/ independently.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Meanwhile, I'll work on the frontend.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7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953" name="Table 6952"/>
          <p:cNvGraphicFramePr>
            <a:graphicFrameLocks noGrp="1"/>
          </p:cNvGraphicFramePr>
          <p:nvPr/>
        </p:nvGraphicFramePr>
        <p:xfrm>
          <a:off x="743712" y="1442440"/>
          <a:ext cx="71294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589840"/>
                <a:gridCol w="37633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Output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Rule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.cursor/rules/*.mdc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Repository Instructions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.cursor/repository-instructions.md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Skills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.cursor/skills/*/SKILL.md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MCP &amp; Slash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MCP config, slash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Subagents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Understanding of delegation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8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8" name="TextBox 6967"/>
          <p:cNvSpPr txBox="1"/>
          <p:nvPr/>
        </p:nvSpPr>
        <p:spPr>
          <a:xfrm>
            <a:off x="743712" y="1442440"/>
            <a:ext cx="9782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RULES          → .cursor/rules/*.mdc (standards, security, build)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REPO INSTR.    → .cursor/repository-instructions.md (project overview)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SKILLS         → .cursor/skills/*/SKILL.md (invoke with /skill-name)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MCP            → ~/.cursor/mcp.json (GitHub, Slack, Jira, custom)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SLASH CMDS     → .cursor/commands/*.md (/deploy, /onboard, /triage)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SUBAGENTS      → Parallel, isolated, specialized execution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1" name=""/>
          <p:cNvSpPr txBox="1"/>
          <p:nvPr/>
        </p:nvSpPr>
        <p:spPr>
          <a:xfrm>
            <a:off x="2207640" y="2674620"/>
            <a:ext cx="777672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CLI and Local Automation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2" name=""/>
          <p:cNvSpPr txBox="1"/>
          <p:nvPr/>
        </p:nvSpPr>
        <p:spPr>
          <a:xfrm>
            <a:off x="3496980" y="3320740"/>
            <a:ext cx="519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· Day 1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3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4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7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041" name="Table 7040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CLI installed, terminal access, Modules 1–4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the Cursor CLI for terminal-based AI workflows and automation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4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6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8" name=""/>
          <p:cNvSpPr txBox="1"/>
          <p:nvPr/>
        </p:nvSpPr>
        <p:spPr>
          <a:xfrm>
            <a:off x="743712" y="1862640"/>
            <a:ext cx="9148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the Cursor CLI in interactive mode for real-time AI collaboration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0" name=""/>
          <p:cNvSpPr txBox="1"/>
          <p:nvPr/>
        </p:nvSpPr>
        <p:spPr>
          <a:xfrm>
            <a:off x="743712" y="2282840"/>
            <a:ext cx="864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one-shot CLI commands for scripting and CI/CD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2" name=""/>
          <p:cNvSpPr txBox="1"/>
          <p:nvPr/>
        </p:nvSpPr>
        <p:spPr>
          <a:xfrm>
            <a:off x="743712" y="2703040"/>
            <a:ext cx="825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Hand off local sessions to Cloud Agents for remote execution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3" name=""/>
          <p:cNvSpPr txBox="1"/>
          <p:nvPr/>
        </p:nvSpPr>
        <p:spPr>
          <a:xfrm>
            <a:off x="743712" y="3123240"/>
            <a:ext cx="776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List, resume, and manage concurrent sessions effectively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8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147" name="Table 7146"/>
          <p:cNvGraphicFramePr>
            <a:graphicFrameLocks noGrp="1"/>
          </p:cNvGraphicFramePr>
          <p:nvPr/>
        </p:nvGraphicFramePr>
        <p:xfrm>
          <a:off x="743712" y="1442440"/>
          <a:ext cx="478248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22992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CLI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One-Shot CLI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Handoff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and Resuming Sessions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1" name=""/>
          <p:cNvSpPr txBox="1"/>
          <p:nvPr/>
        </p:nvSpPr>
        <p:spPr>
          <a:xfrm>
            <a:off x="4818360" y="3331520"/>
            <a:ext cx="2555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Interactive CLI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2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9" name=""/>
          <p:cNvSpPr txBox="1"/>
          <p:nvPr/>
        </p:nvSpPr>
        <p:spPr>
          <a:xfrm>
            <a:off x="743712" y="850000"/>
            <a:ext cx="451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the Cursor CLI?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1" name=""/>
          <p:cNvSpPr txBox="1"/>
          <p:nvPr/>
        </p:nvSpPr>
        <p:spPr>
          <a:xfrm>
            <a:off x="743712" y="1442440"/>
            <a:ext cx="975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Cursor CLI brings AI-powered coding directly to your command line.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3" name=""/>
          <p:cNvSpPr txBox="1"/>
          <p:nvPr/>
        </p:nvSpPr>
        <p:spPr>
          <a:xfrm>
            <a:off x="1357200" y="1862640"/>
            <a:ext cx="4828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Start AI sessions from your terminal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5" name=""/>
          <p:cNvSpPr txBox="1"/>
          <p:nvPr/>
        </p:nvSpPr>
        <p:spPr>
          <a:xfrm>
            <a:off x="1357200" y="2282840"/>
            <a:ext cx="681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Get code assistance without leaving your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7" name=""/>
          <p:cNvSpPr txBox="1"/>
          <p:nvPr/>
        </p:nvSpPr>
        <p:spPr>
          <a:xfrm>
            <a:off x="1357200" y="2703040"/>
            <a:ext cx="4676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Automate coding tasks with scripts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8" name=""/>
          <p:cNvSpPr txBox="1"/>
          <p:nvPr/>
        </p:nvSpPr>
        <p:spPr>
          <a:xfrm>
            <a:off x="1357200" y="3123240"/>
            <a:ext cx="4558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Integrate AI into existing CLI tools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0" name=""/>
          <p:cNvSpPr txBox="1"/>
          <p:nvPr/>
        </p:nvSpPr>
        <p:spPr>
          <a:xfrm>
            <a:off x="747720" y="3543440"/>
            <a:ext cx="284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Primary command: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1" name=""/>
          <p:cNvSpPr txBox="1"/>
          <p:nvPr/>
        </p:nvSpPr>
        <p:spPr>
          <a:xfrm>
            <a:off x="3661920" y="438384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2" name=""/>
          <p:cNvSpPr txBox="1"/>
          <p:nvPr/>
        </p:nvSpPr>
        <p:spPr>
          <a:xfrm>
            <a:off x="743712" y="3963640"/>
            <a:ext cx="2457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(main entry point)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2" name=""/>
          <p:cNvSpPr txBox="1"/>
          <p:nvPr/>
        </p:nvSpPr>
        <p:spPr>
          <a:xfrm>
            <a:off x="743712" y="850000"/>
            <a:ext cx="5395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Interactive Mode Commands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292" name="Table 7291"/>
          <p:cNvGraphicFramePr>
            <a:graphicFrameLocks noGrp="1"/>
          </p:cNvGraphicFramePr>
          <p:nvPr/>
        </p:nvGraphicFramePr>
        <p:xfrm>
          <a:off x="743712" y="1442440"/>
          <a:ext cx="6993240" cy="40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/model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Switch between AI models interactively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/compress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Summarize conversation, free up context window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/rules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and edit rules directly from CLI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and modify custom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/mcp enable/disable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Manage MCP servers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/usage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Cursor usage stats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/about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environment and CLI configuration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/resume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and resume previous sessions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7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8" name=""/>
          <p:cNvSpPr txBox="1"/>
          <p:nvPr/>
        </p:nvSpPr>
        <p:spPr>
          <a:xfrm>
            <a:off x="747720" y="1442440"/>
            <a:ext cx="476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an interactive session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2" name=""/>
          <p:cNvSpPr txBox="1"/>
          <p:nvPr/>
        </p:nvSpPr>
        <p:spPr>
          <a:xfrm>
            <a:off x="747720" y="2733840"/>
            <a:ext cx="393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Navigate the session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5" name=""/>
          <p:cNvSpPr txBox="1"/>
          <p:nvPr/>
        </p:nvSpPr>
        <p:spPr>
          <a:xfrm>
            <a:off x="1357200" y="3154040"/>
            <a:ext cx="3100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Type prompts naturally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6" name=""/>
          <p:cNvSpPr txBox="1"/>
          <p:nvPr/>
        </p:nvSpPr>
        <p:spPr>
          <a:xfrm>
            <a:off x="1425600" y="3994440"/>
            <a:ext cx="1659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Shift+Enter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9" name=""/>
          <p:cNvSpPr txBox="1"/>
          <p:nvPr/>
        </p:nvSpPr>
        <p:spPr>
          <a:xfrm>
            <a:off x="743712" y="3574240"/>
            <a:ext cx="411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new line without submitting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0" name=""/>
          <p:cNvSpPr txBox="1"/>
          <p:nvPr/>
        </p:nvSpPr>
        <p:spPr>
          <a:xfrm>
            <a:off x="1425600" y="476932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Enter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3" name=""/>
          <p:cNvSpPr txBox="1"/>
          <p:nvPr/>
        </p:nvSpPr>
        <p:spPr>
          <a:xfrm>
            <a:off x="2248200" y="4349120"/>
            <a:ext cx="2405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submit prompt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4" name=""/>
          <p:cNvSpPr txBox="1"/>
          <p:nvPr/>
        </p:nvSpPr>
        <p:spPr>
          <a:xfrm>
            <a:off x="1425600" y="554420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Ctrl+D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5" name=""/>
          <p:cNvSpPr txBox="1"/>
          <p:nvPr/>
        </p:nvSpPr>
        <p:spPr>
          <a:xfrm>
            <a:off x="2399400" y="5124000"/>
            <a:ext cx="172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twice — exit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9" name="TextBox 7318"/>
          <p:cNvSpPr txBox="1"/>
          <p:nvPr/>
        </p:nvSpPr>
        <p:spPr>
          <a:xfrm>
            <a:off x="923760" y="1862640"/>
            <a:ext cx="79997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"Help me understand the current codebase structure"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5.1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9" name=""/>
          <p:cNvSpPr txBox="1"/>
          <p:nvPr/>
        </p:nvSpPr>
        <p:spPr>
          <a:xfrm>
            <a:off x="747720" y="1442440"/>
            <a:ext cx="3151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Switch models: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3" name=""/>
          <p:cNvSpPr txBox="1"/>
          <p:nvPr/>
        </p:nvSpPr>
        <p:spPr>
          <a:xfrm>
            <a:off x="747720" y="3038640"/>
            <a:ext cx="410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Mode (read-only):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6" name=""/>
          <p:cNvSpPr txBox="1"/>
          <p:nvPr/>
        </p:nvSpPr>
        <p:spPr>
          <a:xfrm>
            <a:off x="747720" y="4330040"/>
            <a:ext cx="264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Plan Mode: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7" name=""/>
          <p:cNvSpPr txBox="1"/>
          <p:nvPr/>
        </p:nvSpPr>
        <p:spPr>
          <a:xfrm>
            <a:off x="923760" y="4750240"/>
            <a:ext cx="6636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--mode=plan 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"Add user authentication to this API"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1" name="TextBox 7340"/>
          <p:cNvSpPr txBox="1"/>
          <p:nvPr/>
        </p:nvSpPr>
        <p:spPr>
          <a:xfrm>
            <a:off x="923760" y="1862640"/>
            <a:ext cx="47078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 list models outside session: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--list-models</a:t>
            </a:r>
          </a:p>
        </p:txBody>
      </p:sp>
      <p:sp>
        <p:nvSpPr>
          <p:cNvPr id="7342" name="TextBox 7341"/>
          <p:cNvSpPr txBox="1"/>
          <p:nvPr/>
        </p:nvSpPr>
        <p:spPr>
          <a:xfrm>
            <a:off x="743712" y="3458840"/>
            <a:ext cx="85483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"What does this project's main function do?"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 inside session: /ask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5.1 — Steps 6–7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9" name=""/>
          <p:cNvSpPr txBox="1"/>
          <p:nvPr/>
        </p:nvSpPr>
        <p:spPr>
          <a:xfrm>
            <a:off x="747720" y="1442440"/>
            <a:ext cx="396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status line: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2" name=""/>
          <p:cNvSpPr txBox="1"/>
          <p:nvPr/>
        </p:nvSpPr>
        <p:spPr>
          <a:xfrm>
            <a:off x="747720" y="2733840"/>
            <a:ext cx="415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7: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Terminal key bindings: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3" name=""/>
          <p:cNvSpPr txBox="1"/>
          <p:nvPr/>
        </p:nvSpPr>
        <p:spPr>
          <a:xfrm>
            <a:off x="923760" y="3154040"/>
            <a:ext cx="2534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/setup-terminal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4" name=""/>
          <p:cNvSpPr txBox="1"/>
          <p:nvPr/>
        </p:nvSpPr>
        <p:spPr>
          <a:xfrm>
            <a:off x="743712" y="3454000"/>
            <a:ext cx="1045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Started session · switched models · used Ask/Plan Mode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5" name=""/>
          <p:cNvSpPr txBox="1"/>
          <p:nvPr/>
        </p:nvSpPr>
        <p:spPr>
          <a:xfrm>
            <a:off x="747720" y="3874200"/>
            <a:ext cx="288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configured status 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9" name="TextBox 7358"/>
          <p:cNvSpPr txBox="1"/>
          <p:nvPr/>
        </p:nvSpPr>
        <p:spPr>
          <a:xfrm>
            <a:off x="743712" y="1862640"/>
            <a:ext cx="9782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npx -y cursor-statusline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Shows: [model: claude-4.5-sonnet] [~/project] [main] [ctx: 45k/200k]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3" name=""/>
          <p:cNvSpPr txBox="1"/>
          <p:nvPr/>
        </p:nvSpPr>
        <p:spPr>
          <a:xfrm>
            <a:off x="4884240" y="3331520"/>
            <a:ext cx="2423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One-Shot CLI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4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4" name=""/>
          <p:cNvSpPr txBox="1"/>
          <p:nvPr/>
        </p:nvSpPr>
        <p:spPr>
          <a:xfrm>
            <a:off x="743712" y="850000"/>
            <a:ext cx="5702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One-Shot Command Structure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9" name=""/>
          <p:cNvSpPr txBox="1"/>
          <p:nvPr/>
        </p:nvSpPr>
        <p:spPr>
          <a:xfrm>
            <a:off x="743712" y="2923240"/>
            <a:ext cx="860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"Perfect for automation, CI/CD pipelines, and batch operations."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3" name="TextBox 7382"/>
          <p:cNvSpPr txBox="1"/>
          <p:nvPr/>
        </p:nvSpPr>
        <p:spPr>
          <a:xfrm>
            <a:off x="743712" y="1442440"/>
            <a:ext cx="96456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"your prompt here"                    # Basic one-shot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"question about code"      # Read-only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--model claude-4.5-sonnet "task"      # Specific 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--non-interactive "run this task"     # No prompts, just output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2" name=""/>
          <p:cNvSpPr txBox="1"/>
          <p:nvPr/>
        </p:nvSpPr>
        <p:spPr>
          <a:xfrm>
            <a:off x="743712" y="850000"/>
            <a:ext cx="5284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Use Cases for One-Shot CLI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465" name="Table 7464"/>
          <p:cNvGraphicFramePr>
            <a:graphicFrameLocks noGrp="1"/>
          </p:cNvGraphicFramePr>
          <p:nvPr/>
        </p:nvGraphicFramePr>
        <p:xfrm>
          <a:off x="743712" y="1442440"/>
          <a:ext cx="6673200" cy="361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generation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"Create a React component for a login form"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"Generate JSDoc comments for src/api.js"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CI/CD tasks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"Review this PR diff for security issues"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Batch processing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Loop through files with agent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Pre-commit 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--mode=ask "Check for console.log statements"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2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5.2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3" name=""/>
          <p:cNvSpPr txBox="1"/>
          <p:nvPr/>
        </p:nvSpPr>
        <p:spPr>
          <a:xfrm>
            <a:off x="747720" y="1442440"/>
            <a:ext cx="477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Basic one-shot commands: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7" name=""/>
          <p:cNvSpPr txBox="1"/>
          <p:nvPr/>
        </p:nvSpPr>
        <p:spPr>
          <a:xfrm>
            <a:off x="747720" y="3038640"/>
            <a:ext cx="325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Specify models: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3" name="TextBox 7482"/>
          <p:cNvSpPr txBox="1"/>
          <p:nvPr/>
        </p:nvSpPr>
        <p:spPr>
          <a:xfrm>
            <a:off x="743712" y="1862640"/>
            <a:ext cx="937132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"What is the difference between let and const in JavaScript?"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"Write a bash function that checks if a port is in use"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"Explain the git rebase command with examples"</a:t>
            </a:r>
          </a:p>
        </p:txBody>
      </p:sp>
      <p:sp>
        <p:nvSpPr>
          <p:cNvPr id="7484" name="TextBox 7483"/>
          <p:cNvSpPr txBox="1"/>
          <p:nvPr/>
        </p:nvSpPr>
        <p:spPr>
          <a:xfrm>
            <a:off x="743712" y="3458840"/>
            <a:ext cx="10972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--model gpt-5-mini "What does this command do: ls -la | grep .txt"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--model claude-4.5-opus "Design a database schema for a task management system"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8" name=""/>
          <p:cNvSpPr txBox="1"/>
          <p:nvPr/>
        </p:nvSpPr>
        <p:spPr>
          <a:xfrm>
            <a:off x="743712" y="850000"/>
            <a:ext cx="7775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5.2 — Scriptable Code Reviewer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0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1" name=""/>
          <p:cNvSpPr txBox="1"/>
          <p:nvPr/>
        </p:nvSpPr>
        <p:spPr>
          <a:xfrm>
            <a:off x="1815840" y="228284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bin/ai-review.sh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2" name=""/>
          <p:cNvSpPr txBox="1"/>
          <p:nvPr/>
        </p:nvSpPr>
        <p:spPr>
          <a:xfrm>
            <a:off x="429732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2" name="TextBox 7501"/>
          <p:cNvSpPr txBox="1"/>
          <p:nvPr/>
        </p:nvSpPr>
        <p:spPr>
          <a:xfrm>
            <a:off x="743712" y="2637520"/>
            <a:ext cx="86855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#!/bin/bash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STAGED_FILES=$(git diff --cached --name-only | tr '\n' ', 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"Review these staged files for common issues: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Files: $STAGED_FILES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Check for: debugging statements, unused imports,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security issues, missing error handling. Be concise."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7" name=""/>
          <p:cNvSpPr txBox="1"/>
          <p:nvPr/>
        </p:nvSpPr>
        <p:spPr>
          <a:xfrm>
            <a:off x="743712" y="850000"/>
            <a:ext cx="6387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5.2 — Batch &amp; Git Hooks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8" name=""/>
          <p:cNvSpPr txBox="1"/>
          <p:nvPr/>
        </p:nvSpPr>
        <p:spPr>
          <a:xfrm>
            <a:off x="747720" y="1442440"/>
            <a:ext cx="3744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Batch process files: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3" name=""/>
          <p:cNvSpPr txBox="1"/>
          <p:nvPr/>
        </p:nvSpPr>
        <p:spPr>
          <a:xfrm>
            <a:off x="743712" y="3343440"/>
            <a:ext cx="10436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Pre-commit hook — review staged diff for secrets, debug statements,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4" name=""/>
          <p:cNvSpPr txBox="1"/>
          <p:nvPr/>
        </p:nvSpPr>
        <p:spPr>
          <a:xfrm>
            <a:off x="747720" y="3763640"/>
            <a:ext cx="2050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merge markers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5" name=""/>
          <p:cNvSpPr txBox="1"/>
          <p:nvPr/>
        </p:nvSpPr>
        <p:spPr>
          <a:xfrm>
            <a:off x="743712" y="4183840"/>
            <a:ext cx="892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CI/CD — analyze test output and suggest fixes for failures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6" name=""/>
          <p:cNvSpPr txBox="1"/>
          <p:nvPr/>
        </p:nvSpPr>
        <p:spPr>
          <a:xfrm>
            <a:off x="743712" y="4604040"/>
            <a:ext cx="10622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Ran one-shots · specified models · created reviewer script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7" name=""/>
          <p:cNvSpPr txBox="1"/>
          <p:nvPr/>
        </p:nvSpPr>
        <p:spPr>
          <a:xfrm>
            <a:off x="747720" y="5024240"/>
            <a:ext cx="3016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understood CI/CD use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1" name="TextBox 7520"/>
          <p:cNvSpPr txBox="1"/>
          <p:nvPr/>
        </p:nvSpPr>
        <p:spPr>
          <a:xfrm>
            <a:off x="743712" y="1862640"/>
            <a:ext cx="96456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for file in src/**/*.py; do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agent --mode=ask --non-interactive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"Summarize this Python file in one sentence: $(head -50 $file)"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done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4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5" name=""/>
          <p:cNvSpPr txBox="1"/>
          <p:nvPr/>
        </p:nvSpPr>
        <p:spPr>
          <a:xfrm>
            <a:off x="4828980" y="3331520"/>
            <a:ext cx="2534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Handoff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6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3" name=""/>
          <p:cNvSpPr txBox="1"/>
          <p:nvPr/>
        </p:nvSpPr>
        <p:spPr>
          <a:xfrm>
            <a:off x="743712" y="850000"/>
            <a:ext cx="4490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Cloud Handoff?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5" name=""/>
          <p:cNvSpPr txBox="1"/>
          <p:nvPr/>
        </p:nvSpPr>
        <p:spPr>
          <a:xfrm>
            <a:off x="747720" y="1442440"/>
            <a:ext cx="5931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Send a local conversation to a Cloud Agent: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7" name=""/>
          <p:cNvSpPr txBox="1"/>
          <p:nvPr/>
        </p:nvSpPr>
        <p:spPr>
          <a:xfrm>
            <a:off x="1357200" y="1862640"/>
            <a:ext cx="408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Continue from web or mobile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8" name=""/>
          <p:cNvSpPr txBox="1"/>
          <p:nvPr/>
        </p:nvSpPr>
        <p:spPr>
          <a:xfrm>
            <a:off x="743712" y="2703040"/>
            <a:ext cx="25646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cursor.com/agents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0" name=""/>
          <p:cNvSpPr txBox="1"/>
          <p:nvPr/>
        </p:nvSpPr>
        <p:spPr>
          <a:xfrm>
            <a:off x="8141040" y="22828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2" name=""/>
          <p:cNvSpPr txBox="1"/>
          <p:nvPr/>
        </p:nvSpPr>
        <p:spPr>
          <a:xfrm>
            <a:off x="1357200" y="3057720"/>
            <a:ext cx="624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 the agent run long tasks while you're away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3" name=""/>
          <p:cNvSpPr txBox="1"/>
          <p:nvPr/>
        </p:nvSpPr>
        <p:spPr>
          <a:xfrm>
            <a:off x="1357200" y="3477920"/>
            <a:ext cx="567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Resume the session later from any device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5" name=""/>
          <p:cNvSpPr txBox="1"/>
          <p:nvPr/>
        </p:nvSpPr>
        <p:spPr>
          <a:xfrm>
            <a:off x="747720" y="3898120"/>
            <a:ext cx="62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6" name=""/>
          <p:cNvSpPr txBox="1"/>
          <p:nvPr/>
        </p:nvSpPr>
        <p:spPr>
          <a:xfrm>
            <a:off x="1442880" y="515872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8" name=""/>
          <p:cNvSpPr txBox="1"/>
          <p:nvPr/>
        </p:nvSpPr>
        <p:spPr>
          <a:xfrm>
            <a:off x="1662120" y="4318320"/>
            <a:ext cx="486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prefix: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Prepend any message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9" name=""/>
          <p:cNvSpPr txBox="1"/>
          <p:nvPr/>
        </p:nvSpPr>
        <p:spPr>
          <a:xfrm>
            <a:off x="743712" y="551340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0" name=""/>
          <p:cNvSpPr txBox="1"/>
          <p:nvPr/>
        </p:nvSpPr>
        <p:spPr>
          <a:xfrm>
            <a:off x="6812280" y="4738520"/>
            <a:ext cx="306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send it to the cloud.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9" name=""/>
          <p:cNvSpPr txBox="1"/>
          <p:nvPr/>
        </p:nvSpPr>
        <p:spPr>
          <a:xfrm>
            <a:off x="743712" y="850000"/>
            <a:ext cx="3742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Handoff 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1" name="TextBox 7570"/>
          <p:cNvSpPr txBox="1"/>
          <p:nvPr/>
        </p:nvSpPr>
        <p:spPr>
          <a:xfrm>
            <a:off x="923760" y="1442440"/>
            <a:ext cx="70396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Local Terminal                    Cloud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┌─────────────┐                  ┌─────────────┐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agent       │  ──&amp; prompt──→   │ Cloud Agent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(interactive│                  │ (runs async)│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session)    │  ←──result────   │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└─────────────┘                  └─────────────┘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    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cursor.com/agents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5.3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9" name=""/>
          <p:cNvSpPr txBox="1"/>
          <p:nvPr/>
        </p:nvSpPr>
        <p:spPr>
          <a:xfrm>
            <a:off x="747720" y="1442440"/>
            <a:ext cx="5439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local session and hand off: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8" name=""/>
          <p:cNvSpPr txBox="1"/>
          <p:nvPr/>
        </p:nvSpPr>
        <p:spPr>
          <a:xfrm>
            <a:off x="747720" y="2733840"/>
            <a:ext cx="3067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Verify handoff: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1" name=""/>
          <p:cNvSpPr txBox="1"/>
          <p:nvPr/>
        </p:nvSpPr>
        <p:spPr>
          <a:xfrm>
            <a:off x="1176120" y="3154040"/>
            <a:ext cx="3620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Handing off to Cloud Agent...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2" name=""/>
          <p:cNvSpPr txBox="1"/>
          <p:nvPr/>
        </p:nvSpPr>
        <p:spPr>
          <a:xfrm>
            <a:off x="1176120" y="3454000"/>
            <a:ext cx="6878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Session running at: https://cursor.com/agents/[agent-id]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3" name=""/>
          <p:cNvSpPr txBox="1"/>
          <p:nvPr/>
        </p:nvSpPr>
        <p:spPr>
          <a:xfrm>
            <a:off x="747720" y="3753960"/>
            <a:ext cx="542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status via browser or CLI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7" name="TextBox 7596"/>
          <p:cNvSpPr txBox="1"/>
          <p:nvPr/>
        </p:nvSpPr>
        <p:spPr>
          <a:xfrm>
            <a:off x="743712" y="18626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&amp; "Analyze the entire codebase and create a dependency graph."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6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5.3 — Steps 4–6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7" name=""/>
          <p:cNvSpPr txBox="1"/>
          <p:nvPr/>
        </p:nvSpPr>
        <p:spPr>
          <a:xfrm>
            <a:off x="747720" y="1442440"/>
            <a:ext cx="481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Push existing conversation: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8" name=""/>
          <p:cNvSpPr txBox="1"/>
          <p:nvPr/>
        </p:nvSpPr>
        <p:spPr>
          <a:xfrm>
            <a:off x="923760" y="1862640"/>
            <a:ext cx="7602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 "Continue this conversation in the cloud. I need to log off."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9" name=""/>
          <p:cNvSpPr txBox="1"/>
          <p:nvPr/>
        </p:nvSpPr>
        <p:spPr>
          <a:xfrm>
            <a:off x="747720" y="2162600"/>
            <a:ext cx="362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Long-running task: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0" name=""/>
          <p:cNvSpPr txBox="1"/>
          <p:nvPr/>
        </p:nvSpPr>
        <p:spPr>
          <a:xfrm>
            <a:off x="743712" y="2582800"/>
            <a:ext cx="8808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"&amp; Refactor the auth module to use JWT. Update all tests and docs."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1" name=""/>
          <p:cNvSpPr txBox="1"/>
          <p:nvPr/>
        </p:nvSpPr>
        <p:spPr>
          <a:xfrm>
            <a:off x="747720" y="2882760"/>
            <a:ext cx="299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Resume later: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2" name=""/>
          <p:cNvSpPr txBox="1"/>
          <p:nvPr/>
        </p:nvSpPr>
        <p:spPr>
          <a:xfrm>
            <a:off x="923760" y="3302960"/>
            <a:ext cx="4344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--resume [agent-id-from-cloud]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6" name=""/>
          <p:cNvSpPr txBox="1"/>
          <p:nvPr/>
        </p:nvSpPr>
        <p:spPr>
          <a:xfrm>
            <a:off x="743712" y="850000"/>
            <a:ext cx="5571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Handoff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8" name=""/>
          <p:cNvSpPr txBox="1"/>
          <p:nvPr/>
        </p:nvSpPr>
        <p:spPr>
          <a:xfrm>
            <a:off x="747720" y="3600440"/>
            <a:ext cx="3287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Sent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9" name=""/>
          <p:cNvSpPr txBox="1"/>
          <p:nvPr/>
        </p:nvSpPr>
        <p:spPr>
          <a:xfrm>
            <a:off x="4102920" y="444084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0" name=""/>
          <p:cNvSpPr txBox="1"/>
          <p:nvPr/>
        </p:nvSpPr>
        <p:spPr>
          <a:xfrm>
            <a:off x="4322520" y="4020640"/>
            <a:ext cx="691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message · verified cloud agent · accessed via web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684" name="Table 7683"/>
          <p:cNvGraphicFramePr>
            <a:graphicFrameLocks noGrp="1"/>
          </p:cNvGraphicFramePr>
          <p:nvPr/>
        </p:nvGraphicFramePr>
        <p:xfrm>
          <a:off x="743712" y="1442440"/>
          <a:ext cx="72066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920"/>
                <a:gridCol w="39766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Not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Long-running tasks (&gt;5 min)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Quick questions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When you need to close laptop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debugging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Overnight batch processing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Tasks needing terminal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Parallel work streams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Security-sensitive code (local only)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8" name=""/>
          <p:cNvSpPr txBox="1"/>
          <p:nvPr/>
        </p:nvSpPr>
        <p:spPr>
          <a:xfrm>
            <a:off x="3331380" y="3331520"/>
            <a:ext cx="5529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and Resuming Sessions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9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6" name=""/>
          <p:cNvSpPr txBox="1"/>
          <p:nvPr/>
        </p:nvSpPr>
        <p:spPr>
          <a:xfrm>
            <a:off x="743712" y="850000"/>
            <a:ext cx="6320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Session Management Commands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8" name=""/>
          <p:cNvSpPr txBox="1"/>
          <p:nvPr/>
        </p:nvSpPr>
        <p:spPr>
          <a:xfrm>
            <a:off x="747720" y="3184840"/>
            <a:ext cx="5844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Name sessions with the first message: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754" name="Table 7753"/>
          <p:cNvGraphicFramePr>
            <a:graphicFrameLocks noGrp="1"/>
          </p:cNvGraphicFramePr>
          <p:nvPr/>
        </p:nvGraphicFramePr>
        <p:xfrm>
          <a:off x="743712" y="1442440"/>
          <a:ext cx="667320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5100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/resume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 all previous sessions and resume 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--resume [id]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Resume a specific session by ID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--list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 available sessions (alternative)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755" name="TextBox 7754"/>
          <p:cNvSpPr txBox="1"/>
          <p:nvPr/>
        </p:nvSpPr>
        <p:spPr>
          <a:xfrm>
            <a:off x="923760" y="3605040"/>
            <a:ext cx="56680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auth-refactor"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Session named "auth-refactor Agent"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5.4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2" name=""/>
          <p:cNvSpPr txBox="1"/>
          <p:nvPr/>
        </p:nvSpPr>
        <p:spPr>
          <a:xfrm>
            <a:off x="747720" y="1442440"/>
            <a:ext cx="552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multiple named sessions: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6" name=""/>
          <p:cNvSpPr txBox="1"/>
          <p:nvPr/>
        </p:nvSpPr>
        <p:spPr>
          <a:xfrm>
            <a:off x="747720" y="3038640"/>
            <a:ext cx="332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 all sessions: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4" name="TextBox 7773"/>
          <p:cNvSpPr txBox="1"/>
          <p:nvPr/>
        </p:nvSpPr>
        <p:spPr>
          <a:xfrm>
            <a:off x="743712" y="1862640"/>
            <a:ext cx="85483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frontend-cleanup"   # do work, exit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db-optimization"  # do work, exit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docs-update"</a:t>
            </a:r>
          </a:p>
        </p:txBody>
      </p:sp>
      <p:sp>
        <p:nvSpPr>
          <p:cNvPr id="7775" name="TextBox 7774"/>
          <p:cNvSpPr txBox="1"/>
          <p:nvPr/>
        </p:nvSpPr>
        <p:spPr>
          <a:xfrm>
            <a:off x="923760" y="3458840"/>
            <a:ext cx="580516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/resume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1. frontend-cleanup Agent (2 hours ago)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2. db-optimization Agent (1 hour ago)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3. docs-update Agent (30 minutes ago)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5.4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4" name=""/>
          <p:cNvSpPr txBox="1"/>
          <p:nvPr/>
        </p:nvSpPr>
        <p:spPr>
          <a:xfrm>
            <a:off x="747720" y="1442440"/>
            <a:ext cx="3117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Resume by ID: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5" name=""/>
          <p:cNvSpPr txBox="1"/>
          <p:nvPr/>
        </p:nvSpPr>
        <p:spPr>
          <a:xfrm>
            <a:off x="923760" y="1862640"/>
            <a:ext cx="4223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--resume abc123-def456-ghi789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6" name=""/>
          <p:cNvSpPr txBox="1"/>
          <p:nvPr/>
        </p:nvSpPr>
        <p:spPr>
          <a:xfrm>
            <a:off x="747720" y="2162600"/>
            <a:ext cx="6793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Concurrent sessions in different terminals: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9" name=""/>
          <p:cNvSpPr txBox="1"/>
          <p:nvPr/>
        </p:nvSpPr>
        <p:spPr>
          <a:xfrm>
            <a:off x="747720" y="3454000"/>
            <a:ext cx="4100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Context management: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0" name=""/>
          <p:cNvSpPr txBox="1"/>
          <p:nvPr/>
        </p:nvSpPr>
        <p:spPr>
          <a:xfrm>
            <a:off x="923760" y="3874200"/>
            <a:ext cx="6878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/compress   # Summarize conversation, free context window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4" name="TextBox 7793"/>
          <p:cNvSpPr txBox="1"/>
          <p:nvPr/>
        </p:nvSpPr>
        <p:spPr>
          <a:xfrm>
            <a:off x="923760" y="2582800"/>
            <a:ext cx="6353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Terminal 1: agent --resume frontend-cleanup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Terminal 2: agent --resume db-optimization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7" name=""/>
          <p:cNvSpPr txBox="1"/>
          <p:nvPr/>
        </p:nvSpPr>
        <p:spPr>
          <a:xfrm>
            <a:off x="743712" y="850000"/>
            <a:ext cx="799632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5.4 — Steps 6–7 &amp;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8" name=""/>
          <p:cNvSpPr txBox="1"/>
          <p:nvPr/>
        </p:nvSpPr>
        <p:spPr>
          <a:xfrm>
            <a:off x="747720" y="0"/>
            <a:ext cx="63356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0" name=""/>
          <p:cNvSpPr txBox="1"/>
          <p:nvPr/>
        </p:nvSpPr>
        <p:spPr>
          <a:xfrm>
            <a:off x="747720" y="0"/>
            <a:ext cx="21013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7: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1" name=""/>
          <p:cNvSpPr txBox="1"/>
          <p:nvPr/>
        </p:nvSpPr>
        <p:spPr>
          <a:xfrm>
            <a:off x="2916720" y="0"/>
            <a:ext cx="33188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bin/cursor-sessions.sh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2" name=""/>
          <p:cNvSpPr txBox="1"/>
          <p:nvPr/>
        </p:nvSpPr>
        <p:spPr>
          <a:xfrm>
            <a:off x="6303240" y="0"/>
            <a:ext cx="38466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list and manage sessions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4" name=""/>
          <p:cNvSpPr txBox="1"/>
          <p:nvPr/>
        </p:nvSpPr>
        <p:spPr>
          <a:xfrm>
            <a:off x="747720" y="0"/>
            <a:ext cx="19314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Naming: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5" name=""/>
          <p:cNvSpPr txBox="1"/>
          <p:nvPr/>
        </p:nvSpPr>
        <p:spPr>
          <a:xfrm>
            <a:off x="2746800" y="122308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[area]-[task]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7" name=""/>
          <p:cNvSpPr txBox="1"/>
          <p:nvPr/>
        </p:nvSpPr>
        <p:spPr>
          <a:xfrm>
            <a:off x="743712" y="382680"/>
            <a:ext cx="18133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format (e.g.,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8" name=""/>
          <p:cNvSpPr txBox="1"/>
          <p:nvPr/>
        </p:nvSpPr>
        <p:spPr>
          <a:xfrm>
            <a:off x="6656760" y="1577760"/>
            <a:ext cx="18104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api-auth-fix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9" name=""/>
          <p:cNvSpPr txBox="1"/>
          <p:nvPr/>
        </p:nvSpPr>
        <p:spPr>
          <a:xfrm>
            <a:off x="8535240" y="8028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1" name=""/>
          <p:cNvSpPr txBox="1"/>
          <p:nvPr/>
        </p:nvSpPr>
        <p:spPr>
          <a:xfrm>
            <a:off x="747720" y="1932440"/>
            <a:ext cx="19479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2" name=""/>
          <p:cNvSpPr txBox="1"/>
          <p:nvPr/>
        </p:nvSpPr>
        <p:spPr>
          <a:xfrm>
            <a:off x="2763720" y="2772840"/>
            <a:ext cx="1358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/compress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3" name=""/>
          <p:cNvSpPr txBox="1"/>
          <p:nvPr/>
        </p:nvSpPr>
        <p:spPr>
          <a:xfrm>
            <a:off x="4189680" y="2352640"/>
            <a:ext cx="70149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on long sessions · cloud handoff for very long tasks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4" name=""/>
          <p:cNvSpPr txBox="1"/>
          <p:nvPr/>
        </p:nvSpPr>
        <p:spPr>
          <a:xfrm>
            <a:off x="743712" y="3127520"/>
            <a:ext cx="95716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Cleanup: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Sessions persist indefinitely — manually complete or discard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5" name=""/>
          <p:cNvSpPr txBox="1"/>
          <p:nvPr/>
        </p:nvSpPr>
        <p:spPr>
          <a:xfrm>
            <a:off x="747720" y="3547720"/>
            <a:ext cx="1796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finished ones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7" name=""/>
          <p:cNvSpPr txBox="1"/>
          <p:nvPr/>
        </p:nvSpPr>
        <p:spPr>
          <a:xfrm>
            <a:off x="747720" y="3967920"/>
            <a:ext cx="76413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named sessions · listed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8" name=""/>
          <p:cNvSpPr txBox="1"/>
          <p:nvPr/>
        </p:nvSpPr>
        <p:spPr>
          <a:xfrm>
            <a:off x="8456760" y="4808320"/>
            <a:ext cx="105660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/resume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9" name=""/>
          <p:cNvSpPr txBox="1"/>
          <p:nvPr/>
        </p:nvSpPr>
        <p:spPr>
          <a:xfrm>
            <a:off x="9581040" y="4388120"/>
            <a:ext cx="1643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resumed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1" name=""/>
          <p:cNvSpPr txBox="1"/>
          <p:nvPr/>
        </p:nvSpPr>
        <p:spPr>
          <a:xfrm>
            <a:off x="747720" y="5163000"/>
            <a:ext cx="7462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2" name=""/>
          <p:cNvSpPr txBox="1"/>
          <p:nvPr/>
        </p:nvSpPr>
        <p:spPr>
          <a:xfrm>
            <a:off x="1561680" y="5583200"/>
            <a:ext cx="1358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/compress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7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16" name="Table 7915"/>
          <p:cNvGraphicFramePr>
            <a:graphicFrameLocks noGrp="1"/>
          </p:cNvGraphicFramePr>
          <p:nvPr/>
        </p:nvGraphicFramePr>
        <p:xfrm>
          <a:off x="743712" y="1442440"/>
          <a:ext cx="56359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056440"/>
                <a:gridCol w="28032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CLI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Real-time terminal AI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One-Shot CLI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Scripting &amp; automation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Handoff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Remote/long-running tasks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Session Management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Concurrent work handling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1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4" name="TextBox 7933"/>
          <p:cNvSpPr txBox="1"/>
          <p:nvPr/>
        </p:nvSpPr>
        <p:spPr>
          <a:xfrm>
            <a:off x="743712" y="1442440"/>
            <a:ext cx="92341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BASIC: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                 Start interactive session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"prompt"         One-shot command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--mode=ask       Read-only mode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--mode=plan      Plan before code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--model &lt;name&gt;   Specify 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 SESSION:  /model  /compress  /rules  /commands  /resume  /usage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CLOUD:  &amp; "message"  →  cursor.com/agents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KEYS:  Shift+Enter (new line)  |  Ctrl+D twice (exit)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7" name=""/>
          <p:cNvSpPr txBox="1"/>
          <p:nvPr/>
        </p:nvSpPr>
        <p:spPr>
          <a:xfrm>
            <a:off x="743712" y="850000"/>
            <a:ext cx="130212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Day 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8" name=""/>
          <p:cNvSpPr txBox="1"/>
          <p:nvPr/>
        </p:nvSpPr>
        <p:spPr>
          <a:xfrm>
            <a:off x="743712" y="3327480"/>
            <a:ext cx="5506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Agents, APIs &amp; Analytics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9" name=""/>
          <p:cNvSpPr txBox="1"/>
          <p:nvPr/>
        </p:nvSpPr>
        <p:spPr>
          <a:xfrm>
            <a:off x="747720" y="3919920"/>
            <a:ext cx="5997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Complete Course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" name=""/>
          <p:cNvSpPr txBox="1"/>
          <p:nvPr/>
        </p:nvSpPr>
        <p:spPr>
          <a:xfrm>
            <a:off x="3481320" y="2674620"/>
            <a:ext cx="52293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in the UI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7" name=""/>
          <p:cNvSpPr txBox="1"/>
          <p:nvPr/>
        </p:nvSpPr>
        <p:spPr>
          <a:xfrm>
            <a:off x="1982820" y="3320740"/>
            <a:ext cx="8226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· Day 2 (Hands-On + Demonstration)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8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~90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9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2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017" name="Table 8016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~90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demonstration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account, GitHub repository access, Modules 1–5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Cloud Agents UI for remote execution, artifact collection, and messaging integrations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0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2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4" name=""/>
          <p:cNvSpPr txBox="1"/>
          <p:nvPr/>
        </p:nvSpPr>
        <p:spPr>
          <a:xfrm>
            <a:off x="1357200" y="1862640"/>
            <a:ext cx="720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Launch and monitor Cloud Agents from the Cursor UI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6" name=""/>
          <p:cNvSpPr txBox="1"/>
          <p:nvPr/>
        </p:nvSpPr>
        <p:spPr>
          <a:xfrm>
            <a:off x="743712" y="2282840"/>
            <a:ext cx="774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Collect and download artifacts from completed cloud runs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8" name=""/>
          <p:cNvSpPr txBox="1"/>
          <p:nvPr/>
        </p:nvSpPr>
        <p:spPr>
          <a:xfrm>
            <a:off x="743712" y="2703040"/>
            <a:ext cx="870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Trigger Cloud Agents from messaging platforms (Slack, Discord)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9" name=""/>
          <p:cNvSpPr txBox="1"/>
          <p:nvPr/>
        </p:nvSpPr>
        <p:spPr>
          <a:xfrm>
            <a:off x="1357200" y="3123240"/>
            <a:ext cx="547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Manage cloud agent history and settings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1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107" name="Table 8106"/>
          <p:cNvGraphicFramePr>
            <a:graphicFrameLocks noGrp="1"/>
          </p:cNvGraphicFramePr>
          <p:nvPr/>
        </p:nvGraphicFramePr>
        <p:xfrm>
          <a:off x="743712" y="1442440"/>
          <a:ext cx="563592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408336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Launching a Cloud 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 Artifacts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Agents from Messaging Platforms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6.1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1" name=""/>
          <p:cNvSpPr txBox="1"/>
          <p:nvPr/>
        </p:nvSpPr>
        <p:spPr>
          <a:xfrm>
            <a:off x="3870480" y="3331520"/>
            <a:ext cx="4451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Launching a Cloud Agent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2" name=""/>
          <p:cNvSpPr txBox="1"/>
          <p:nvPr/>
        </p:nvSpPr>
        <p:spPr>
          <a:xfrm>
            <a:off x="3622440" y="385396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15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3" name=""/>
          <p:cNvSpPr txBox="1"/>
          <p:nvPr/>
        </p:nvSpPr>
        <p:spPr>
          <a:xfrm>
            <a:off x="743712" y="850000"/>
            <a:ext cx="5614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vs. Local Agent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238" name="Table 8237"/>
          <p:cNvGraphicFramePr>
            <a:graphicFrameLocks noGrp="1"/>
          </p:cNvGraphicFramePr>
          <p:nvPr/>
        </p:nvGraphicFramePr>
        <p:xfrm>
          <a:off x="743712" y="1442440"/>
          <a:ext cx="680940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400"/>
                <a:gridCol w="2056440"/>
                <a:gridCol w="30165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Local 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Cloud 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Runs 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machine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Cursor's infrastructure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Persistence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Ends when you quit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Continues indefinitely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Local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Web, mobile, API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access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terminal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Simulated/scripted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Local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GitHub repos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work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Batch, scheduled, hands-off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1" name=""/>
          <p:cNvSpPr txBox="1"/>
          <p:nvPr/>
        </p:nvSpPr>
        <p:spPr>
          <a:xfrm>
            <a:off x="743712" y="850000"/>
            <a:ext cx="5085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Cloud 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3" name=""/>
          <p:cNvSpPr txBox="1"/>
          <p:nvPr/>
        </p:nvSpPr>
        <p:spPr>
          <a:xfrm>
            <a:off x="747720" y="1442440"/>
            <a:ext cx="138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for: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5" name=""/>
          <p:cNvSpPr txBox="1"/>
          <p:nvPr/>
        </p:nvSpPr>
        <p:spPr>
          <a:xfrm>
            <a:off x="1357200" y="1862640"/>
            <a:ext cx="632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Long-running tasks (&gt;10 min) · Scheduled jobs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7" name=""/>
          <p:cNvSpPr txBox="1"/>
          <p:nvPr/>
        </p:nvSpPr>
        <p:spPr>
          <a:xfrm>
            <a:off x="1357200" y="2282840"/>
            <a:ext cx="5167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Tasks while offline · Parallel execution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8" name=""/>
          <p:cNvSpPr txBox="1"/>
          <p:nvPr/>
        </p:nvSpPr>
        <p:spPr>
          <a:xfrm>
            <a:off x="1357200" y="2703040"/>
            <a:ext cx="587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Team-accessible results (share agent URL)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0" name=""/>
          <p:cNvSpPr txBox="1"/>
          <p:nvPr/>
        </p:nvSpPr>
        <p:spPr>
          <a:xfrm>
            <a:off x="747720" y="3123240"/>
            <a:ext cx="1168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Bad for: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2" name=""/>
          <p:cNvSpPr txBox="1"/>
          <p:nvPr/>
        </p:nvSpPr>
        <p:spPr>
          <a:xfrm>
            <a:off x="1357200" y="3543440"/>
            <a:ext cx="5202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Interactive debugging · Local-only files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3" name=""/>
          <p:cNvSpPr txBox="1"/>
          <p:nvPr/>
        </p:nvSpPr>
        <p:spPr>
          <a:xfrm>
            <a:off x="1357200" y="3963640"/>
            <a:ext cx="557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Security-sensitive code · Quick questions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8" name=""/>
          <p:cNvSpPr txBox="1"/>
          <p:nvPr/>
        </p:nvSpPr>
        <p:spPr>
          <a:xfrm>
            <a:off x="743712" y="850000"/>
            <a:ext cx="5174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Accessing Cloud Agents UI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310" name="Table 8309"/>
          <p:cNvGraphicFramePr>
            <a:graphicFrameLocks noGrp="1"/>
          </p:cNvGraphicFramePr>
          <p:nvPr/>
        </p:nvGraphicFramePr>
        <p:xfrm>
          <a:off x="743712" y="1442440"/>
          <a:ext cx="6886560" cy="19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Steps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From Cursor Editor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→ Cloud Agents (or cloud icon in sidebar)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From 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https://cursor.com/agents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From Mobile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cursor.com/agents (responsive web)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5" name=""/>
          <p:cNvSpPr txBox="1"/>
          <p:nvPr/>
        </p:nvSpPr>
        <p:spPr>
          <a:xfrm>
            <a:off x="743712" y="536040"/>
            <a:ext cx="4535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 Dashboard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0" name=""/>
          <p:cNvSpPr txBox="1"/>
          <p:nvPr/>
        </p:nvSpPr>
        <p:spPr>
          <a:xfrm>
            <a:off x="1417320" y="4438080"/>
            <a:ext cx="579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security-audit-2024    running • 12 min elapsed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4" name=""/>
          <p:cNvSpPr txBox="1"/>
          <p:nvPr/>
        </p:nvSpPr>
        <p:spPr>
          <a:xfrm>
            <a:off x="1417320" y="4738040"/>
            <a:ext cx="579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doc-generator           running • 3 min elapsed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9" name=""/>
          <p:cNvSpPr txBox="1"/>
          <p:nvPr/>
        </p:nvSpPr>
        <p:spPr>
          <a:xfrm>
            <a:off x="1417320" y="5038000"/>
            <a:ext cx="5671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pr-review-42            FINISHED • 2 artifacts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3" name=""/>
          <p:cNvSpPr txBox="1"/>
          <p:nvPr/>
        </p:nvSpPr>
        <p:spPr>
          <a:xfrm>
            <a:off x="1417320" y="5337960"/>
            <a:ext cx="5550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test-suite              FINISHED • 1 artifact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7" name=""/>
          <p:cNvSpPr txBox="1"/>
          <p:nvPr/>
        </p:nvSpPr>
        <p:spPr>
          <a:xfrm>
            <a:off x="1417320" y="5637920"/>
            <a:ext cx="6154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deploy-staging          ERROR • Auth token expired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1" name="TextBox 8340"/>
          <p:cNvSpPr txBox="1"/>
          <p:nvPr/>
        </p:nvSpPr>
        <p:spPr>
          <a:xfrm>
            <a:off x="923760" y="1128480"/>
            <a:ext cx="758824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Active (2)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🔄 security-audit-2024    running • 12 min elapsed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🔄 doc-generator           running • 3 min elapsed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Completed (4)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✅ pr-review-42            FINISHED • 2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✅ test-suite              FINISHED • 1 artifact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Failed (1)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❌ deploy-staging          ERROR • Auth token expired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8" name=""/>
          <p:cNvSpPr txBox="1"/>
          <p:nvPr/>
        </p:nvSpPr>
        <p:spPr>
          <a:xfrm>
            <a:off x="743712" y="56708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9" name=""/>
          <p:cNvSpPr txBox="1"/>
          <p:nvPr/>
        </p:nvSpPr>
        <p:spPr>
          <a:xfrm>
            <a:off x="747720" y="1159520"/>
            <a:ext cx="4558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Navigate to Cloud Agents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2" name=""/>
          <p:cNvSpPr txBox="1"/>
          <p:nvPr/>
        </p:nvSpPr>
        <p:spPr>
          <a:xfrm>
            <a:off x="747720" y="2450920"/>
            <a:ext cx="458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Click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"+ New"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fill out: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9" name=""/>
          <p:cNvSpPr txBox="1"/>
          <p:nvPr/>
        </p:nvSpPr>
        <p:spPr>
          <a:xfrm>
            <a:off x="923760" y="5637920"/>
            <a:ext cx="1931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Auto-create PR: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0" name=""/>
          <p:cNvSpPr txBox="1"/>
          <p:nvPr/>
        </p:nvSpPr>
        <p:spPr>
          <a:xfrm>
            <a:off x="2854440" y="5266320"/>
            <a:ext cx="2192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egoeUISymbol"/>
                <a:ea typeface="SegoeUISymbol"/>
              </a:rPr>
              <a:t>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4" name="TextBox 8363"/>
          <p:cNvSpPr txBox="1"/>
          <p:nvPr/>
        </p:nvSpPr>
        <p:spPr>
          <a:xfrm>
            <a:off x="923760" y="1579720"/>
            <a:ext cx="70396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Cursor Editor: cloud icon or View → Cloud 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open https://cursor.com/agents</a:t>
            </a:r>
          </a:p>
        </p:txBody>
      </p:sp>
      <p:sp>
        <p:nvSpPr>
          <p:cNvPr id="8365" name="TextBox 8364"/>
          <p:cNvSpPr txBox="1"/>
          <p:nvPr/>
        </p:nvSpPr>
        <p:spPr>
          <a:xfrm>
            <a:off x="923760" y="2871120"/>
            <a:ext cx="79997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Repository: https://github.com/YOUR_ORG/YOUR_REPO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Branch: main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Prompt: Read README and main source files. Summarize: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What this project does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Key dependencies · How to run locally · Common issues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Model: claude-4.6-sonnet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Auto-create PR: ☐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3" name=""/>
          <p:cNvSpPr txBox="1"/>
          <p:nvPr/>
        </p:nvSpPr>
        <p:spPr>
          <a:xfrm>
            <a:off x="743712" y="14584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6.1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4" name=""/>
          <p:cNvSpPr txBox="1"/>
          <p:nvPr/>
        </p:nvSpPr>
        <p:spPr>
          <a:xfrm>
            <a:off x="747720" y="738280"/>
            <a:ext cx="4811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Monitor live log in real time: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0" name=""/>
          <p:cNvSpPr txBox="1"/>
          <p:nvPr/>
        </p:nvSpPr>
        <p:spPr>
          <a:xfrm>
            <a:off x="747720" y="2944080"/>
            <a:ext cx="5184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settings (gear icon):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6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447" name="Table 8446"/>
          <p:cNvGraphicFramePr>
            <a:graphicFrameLocks noGrp="1"/>
          </p:cNvGraphicFramePr>
          <p:nvPr/>
        </p:nvGraphicFramePr>
        <p:xfrm>
          <a:off x="743712" y="3364280"/>
          <a:ext cx="53930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33366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Default Model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Preferred model for new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Auto-create PR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PRs on completion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Notification Email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Completion notifications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 URL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 completion events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Max Run Time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 min – 24 hrs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448" name="TextBox 8447"/>
          <p:cNvSpPr txBox="1"/>
          <p:nvPr/>
        </p:nvSpPr>
        <p:spPr>
          <a:xfrm>
            <a:off x="923760" y="1158480"/>
            <a:ext cx="457072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[10:45:01] Agent starting...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[10:45:02] Cloning repository...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[10:45:15] Repository cloned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[10:45:16] Reading README.md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[10:45:40] Generating summary...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4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6.1 — Steps 5–6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5" name=""/>
          <p:cNvSpPr txBox="1"/>
          <p:nvPr/>
        </p:nvSpPr>
        <p:spPr>
          <a:xfrm>
            <a:off x="747720" y="1442440"/>
            <a:ext cx="4490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Launch with PR creation: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2" name=""/>
          <p:cNvSpPr txBox="1"/>
          <p:nvPr/>
        </p:nvSpPr>
        <p:spPr>
          <a:xfrm>
            <a:off x="747720" y="3038640"/>
            <a:ext cx="493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Share agent URL with team: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3" name=""/>
          <p:cNvSpPr txBox="1"/>
          <p:nvPr/>
        </p:nvSpPr>
        <p:spPr>
          <a:xfrm>
            <a:off x="923760" y="3458840"/>
            <a:ext cx="5068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https://cursor.com/agents/agt_abc123def456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4" name=""/>
          <p:cNvSpPr txBox="1"/>
          <p:nvPr/>
        </p:nvSpPr>
        <p:spPr>
          <a:xfrm>
            <a:off x="743712" y="3758800"/>
            <a:ext cx="1004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Launched agent · monitored logs · configured settings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5" name=""/>
          <p:cNvSpPr txBox="1"/>
          <p:nvPr/>
        </p:nvSpPr>
        <p:spPr>
          <a:xfrm>
            <a:off x="747720" y="4179000"/>
            <a:ext cx="1627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shared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9" name="TextBox 8468"/>
          <p:cNvSpPr txBox="1"/>
          <p:nvPr/>
        </p:nvSpPr>
        <p:spPr>
          <a:xfrm>
            <a:off x="743712" y="1862640"/>
            <a:ext cx="101942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Prompt: Add CONTRIBUTING.md with dev setup, tests, PR process, code style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Auto-create PR: ✅ Yes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Branch prefix: docs/contributing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6.2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3" name=""/>
          <p:cNvSpPr txBox="1"/>
          <p:nvPr/>
        </p:nvSpPr>
        <p:spPr>
          <a:xfrm>
            <a:off x="4234620" y="3331520"/>
            <a:ext cx="3722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 Artifacts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4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7" name=""/>
          <p:cNvSpPr txBox="1"/>
          <p:nvPr/>
        </p:nvSpPr>
        <p:spPr>
          <a:xfrm>
            <a:off x="743712" y="850000"/>
            <a:ext cx="3347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Types of Artifacts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5" name=""/>
          <p:cNvSpPr txBox="1"/>
          <p:nvPr/>
        </p:nvSpPr>
        <p:spPr>
          <a:xfrm>
            <a:off x="743712" y="4431640"/>
            <a:ext cx="946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"Files produced by the agent that you can download or view in the UI."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599" name="Table 8598"/>
          <p:cNvGraphicFramePr>
            <a:graphicFrameLocks noGrp="1"/>
          </p:cNvGraphicFramePr>
          <p:nvPr/>
        </p:nvGraphicFramePr>
        <p:xfrm>
          <a:off x="743712" y="1442440"/>
          <a:ext cx="421956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Artifact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Log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agent.log, debug.log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.py, .js, *.html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.md, .txt, *.json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Images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.png, .jpg, *.svg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Archives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.zip, .tar.gz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 results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junit.xml, coverage.json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" name=""/>
          <p:cNvSpPr txBox="1"/>
          <p:nvPr/>
        </p:nvSpPr>
        <p:spPr>
          <a:xfrm>
            <a:off x="743712" y="850000"/>
            <a:ext cx="2973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Artifact Storage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5" name=""/>
          <p:cNvSpPr txBox="1"/>
          <p:nvPr/>
        </p:nvSpPr>
        <p:spPr>
          <a:xfrm>
            <a:off x="1357200" y="1442440"/>
            <a:ext cx="254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Stored for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 days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7" name=""/>
          <p:cNvSpPr txBox="1"/>
          <p:nvPr/>
        </p:nvSpPr>
        <p:spPr>
          <a:xfrm>
            <a:off x="1357200" y="1862640"/>
            <a:ext cx="357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Multiple artifacts per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9" name=""/>
          <p:cNvSpPr txBox="1"/>
          <p:nvPr/>
        </p:nvSpPr>
        <p:spPr>
          <a:xfrm>
            <a:off x="1357200" y="2282840"/>
            <a:ext cx="5489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Download URLs expire after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0" name=""/>
          <p:cNvSpPr txBox="1"/>
          <p:nvPr/>
        </p:nvSpPr>
        <p:spPr>
          <a:xfrm>
            <a:off x="1357200" y="2703040"/>
            <a:ext cx="557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100MB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per file ·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1GB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total per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9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0" name=""/>
          <p:cNvSpPr txBox="1"/>
          <p:nvPr/>
        </p:nvSpPr>
        <p:spPr>
          <a:xfrm>
            <a:off x="747720" y="1442440"/>
            <a:ext cx="6219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Launch agent that generates artifacts: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7" name=""/>
          <p:cNvSpPr txBox="1"/>
          <p:nvPr/>
        </p:nvSpPr>
        <p:spPr>
          <a:xfrm>
            <a:off x="743712" y="4257840"/>
            <a:ext cx="9995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After completion, view artifact list in UI with Download buttons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8" name=""/>
          <p:cNvSpPr txBox="1"/>
          <p:nvPr/>
        </p:nvSpPr>
        <p:spPr>
          <a:xfrm>
            <a:off x="747720" y="4678040"/>
            <a:ext cx="2642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Download All (zip)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2" name="TextBox 8631"/>
          <p:cNvSpPr txBox="1"/>
          <p:nvPr/>
        </p:nvSpPr>
        <p:spPr>
          <a:xfrm>
            <a:off x="743712" y="1862640"/>
            <a:ext cx="86855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Generate: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api_documentation.md — OpenAPI-style docs for all endpoints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test_report.json — test suite summary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screenshot.png — main UI screenshot (if applicable)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dependencies.txt — all packages and versions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Place all in artifacts/ directory.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6" name=""/>
          <p:cNvSpPr txBox="1"/>
          <p:nvPr/>
        </p:nvSpPr>
        <p:spPr>
          <a:xfrm>
            <a:off x="747720" y="1442440"/>
            <a:ext cx="4964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Download individual artifacts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7" name=""/>
          <p:cNvSpPr txBox="1"/>
          <p:nvPr/>
        </p:nvSpPr>
        <p:spPr>
          <a:xfrm>
            <a:off x="747720" y="1862640"/>
            <a:ext cx="3727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Download all as zip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9" name=""/>
          <p:cNvSpPr txBox="1"/>
          <p:nvPr/>
        </p:nvSpPr>
        <p:spPr>
          <a:xfrm>
            <a:off x="747720" y="2282840"/>
            <a:ext cx="3760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Preview in browser: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1" name=""/>
          <p:cNvSpPr txBox="1"/>
          <p:nvPr/>
        </p:nvSpPr>
        <p:spPr>
          <a:xfrm>
            <a:off x="1357200" y="2703040"/>
            <a:ext cx="401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Markdown → rendered HTML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3" name=""/>
          <p:cNvSpPr txBox="1"/>
          <p:nvPr/>
        </p:nvSpPr>
        <p:spPr>
          <a:xfrm>
            <a:off x="1357200" y="3123240"/>
            <a:ext cx="332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Images → inline preview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4" name=""/>
          <p:cNvSpPr txBox="1"/>
          <p:nvPr/>
        </p:nvSpPr>
        <p:spPr>
          <a:xfrm>
            <a:off x="1357200" y="3543440"/>
            <a:ext cx="3879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JSON → formatted tree 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3" name=""/>
          <p:cNvSpPr txBox="1"/>
          <p:nvPr/>
        </p:nvSpPr>
        <p:spPr>
          <a:xfrm>
            <a:off x="743712" y="850000"/>
            <a:ext cx="5067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API Access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2" name=""/>
          <p:cNvSpPr txBox="1"/>
          <p:nvPr/>
        </p:nvSpPr>
        <p:spPr>
          <a:xfrm>
            <a:off x="747720" y="41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3" name=""/>
          <p:cNvSpPr txBox="1"/>
          <p:nvPr/>
        </p:nvSpPr>
        <p:spPr>
          <a:xfrm>
            <a:off x="1815840" y="4982840"/>
            <a:ext cx="3620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bin/process-artifacts.sh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4" name=""/>
          <p:cNvSpPr txBox="1"/>
          <p:nvPr/>
        </p:nvSpPr>
        <p:spPr>
          <a:xfrm>
            <a:off x="5504040" y="4562640"/>
            <a:ext cx="582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batch-download all artifacts for an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5" name=""/>
          <p:cNvSpPr txBox="1"/>
          <p:nvPr/>
        </p:nvSpPr>
        <p:spPr>
          <a:xfrm>
            <a:off x="747720" y="5337520"/>
            <a:ext cx="390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9" name="TextBox 8668"/>
          <p:cNvSpPr txBox="1"/>
          <p:nvPr/>
        </p:nvSpPr>
        <p:spPr>
          <a:xfrm>
            <a:off x="743712" y="1442440"/>
            <a:ext cx="937132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List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"https://api.cursor.com/v1/agents/$AGENT_ID/artifacts" | jq '.'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Download specific artifact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DOWNLOAD_URL=$(curl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".../artifacts/download?path=artifacts/report.md" | jq -r '.url')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-L -o report.md "$DOWNLOAD_URL"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" name=""/>
          <p:cNvSpPr txBox="1"/>
          <p:nvPr/>
        </p:nvSpPr>
        <p:spPr>
          <a:xfrm>
            <a:off x="743712" y="850000"/>
            <a:ext cx="6144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CI/CD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0" name=""/>
          <p:cNvSpPr txBox="1"/>
          <p:nvPr/>
        </p:nvSpPr>
        <p:spPr>
          <a:xfrm>
            <a:off x="743712" y="3228040"/>
            <a:ext cx="10259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Generated artifacts · downloaded single + zip · accessed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1" name=""/>
          <p:cNvSpPr txBox="1"/>
          <p:nvPr/>
        </p:nvSpPr>
        <p:spPr>
          <a:xfrm>
            <a:off x="747720" y="3648240"/>
            <a:ext cx="96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via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5" name="TextBox 8684"/>
          <p:cNvSpPr txBox="1"/>
          <p:nvPr/>
        </p:nvSpPr>
        <p:spPr>
          <a:xfrm>
            <a:off x="743712" y="1442440"/>
            <a:ext cx="991996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GitHub Actions — download test results from completed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name: Download Cloud Agent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run: |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curl -s -u "${{ secrets.CURSOR_API_KEY }}:"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".../artifacts/download?path=test_results.xml" &gt; test_results.xml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6.3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9" name=""/>
          <p:cNvSpPr txBox="1"/>
          <p:nvPr/>
        </p:nvSpPr>
        <p:spPr>
          <a:xfrm>
            <a:off x="2550000" y="3331520"/>
            <a:ext cx="7092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from Messaging Platforms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0" name=""/>
          <p:cNvSpPr txBox="1"/>
          <p:nvPr/>
        </p:nvSpPr>
        <p:spPr>
          <a:xfrm>
            <a:off x="3808740" y="3853960"/>
            <a:ext cx="457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" name=""/>
          <p:cNvSpPr txBox="1"/>
          <p:nvPr/>
        </p:nvSpPr>
        <p:spPr>
          <a:xfrm>
            <a:off x="743712" y="850000"/>
            <a:ext cx="4359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Supported Integrations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784" name="Table 8783"/>
          <p:cNvGraphicFramePr>
            <a:graphicFrameLocks noGrp="1"/>
          </p:cNvGraphicFramePr>
          <p:nvPr/>
        </p:nvGraphicFramePr>
        <p:xfrm>
          <a:off x="743712" y="1442440"/>
          <a:ext cx="78762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400"/>
                <a:gridCol w="4083360"/>
                <a:gridCol w="20564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Capabilities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Slack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Command triggering, notifications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(Slack app)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Discord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Command triggering, webhook responses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(Bot token)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 integration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(Webhook)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Generic Webhook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POST-triggered 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 (any platform)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9" name=""/>
          <p:cNvSpPr txBox="1"/>
          <p:nvPr/>
        </p:nvSpPr>
        <p:spPr>
          <a:xfrm>
            <a:off x="743712" y="850000"/>
            <a:ext cx="6649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Messaging Integration Architecture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3" name="TextBox 8802"/>
          <p:cNvSpPr txBox="1"/>
          <p:nvPr/>
        </p:nvSpPr>
        <p:spPr>
          <a:xfrm>
            <a:off x="923760" y="1442440"/>
            <a:ext cx="66281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Slack/Discord/Teams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│  "/cursor review PR #42"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Webhook Receiver (your server or Cursor hosted)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│  POST /v1/agents with webhookUrl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Cursor Cloud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│  POST to webhookUrl when complete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Webhook Receiver → Post response to Slack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8" name=""/>
          <p:cNvSpPr txBox="1"/>
          <p:nvPr/>
        </p:nvSpPr>
        <p:spPr>
          <a:xfrm>
            <a:off x="743712" y="850000"/>
            <a:ext cx="4536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Slack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9" name=""/>
          <p:cNvSpPr txBox="1"/>
          <p:nvPr/>
        </p:nvSpPr>
        <p:spPr>
          <a:xfrm>
            <a:off x="747720" y="1442440"/>
            <a:ext cx="574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Slack App at api.slack.com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0" name=""/>
          <p:cNvSpPr txBox="1"/>
          <p:nvPr/>
        </p:nvSpPr>
        <p:spPr>
          <a:xfrm>
            <a:off x="747720" y="1862640"/>
            <a:ext cx="472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slash command: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5" name=""/>
          <p:cNvSpPr txBox="1"/>
          <p:nvPr/>
        </p:nvSpPr>
        <p:spPr>
          <a:xfrm>
            <a:off x="747720" y="3458840"/>
            <a:ext cx="725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Deploy webhook receiver (Flask/Python) that: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7" name=""/>
          <p:cNvSpPr txBox="1"/>
          <p:nvPr/>
        </p:nvSpPr>
        <p:spPr>
          <a:xfrm>
            <a:off x="743712" y="3879040"/>
            <a:ext cx="770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Parses Slack command → launches Cloud Agent via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9" name=""/>
          <p:cNvSpPr txBox="1"/>
          <p:nvPr/>
        </p:nvSpPr>
        <p:spPr>
          <a:xfrm>
            <a:off x="1357200" y="4299240"/>
            <a:ext cx="5845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Acknowledges immediately with agent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0" name=""/>
          <p:cNvSpPr txBox="1"/>
          <p:nvPr/>
        </p:nvSpPr>
        <p:spPr>
          <a:xfrm>
            <a:off x="1357200" y="4719440"/>
            <a:ext cx="6438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Posts completion summary when webhook fires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4" name="TextBox 8823"/>
          <p:cNvSpPr txBox="1"/>
          <p:nvPr/>
        </p:nvSpPr>
        <p:spPr>
          <a:xfrm>
            <a:off x="923760" y="2282840"/>
            <a:ext cx="799972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Command: /cursor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Request URL: https://your-server.com/webhook/slack-cursor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Usage Hint: [prompt or command]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1" name=""/>
          <p:cNvSpPr txBox="1"/>
          <p:nvPr/>
        </p:nvSpPr>
        <p:spPr>
          <a:xfrm>
            <a:off x="743712" y="850000"/>
            <a:ext cx="3678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Slack Usage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2" name=""/>
          <p:cNvSpPr txBox="1"/>
          <p:nvPr/>
        </p:nvSpPr>
        <p:spPr>
          <a:xfrm>
            <a:off x="747720" y="1442440"/>
            <a:ext cx="1169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Slack: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3" name=""/>
          <p:cNvSpPr txBox="1"/>
          <p:nvPr/>
        </p:nvSpPr>
        <p:spPr>
          <a:xfrm>
            <a:off x="923760" y="1862640"/>
            <a:ext cx="724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/cursor Review the recent commits and summarize what changed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8" name=""/>
          <p:cNvSpPr txBox="1"/>
          <p:nvPr/>
        </p:nvSpPr>
        <p:spPr>
          <a:xfrm>
            <a:off x="747720" y="2162600"/>
            <a:ext cx="155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9" name=""/>
          <p:cNvSpPr txBox="1"/>
          <p:nvPr/>
        </p:nvSpPr>
        <p:spPr>
          <a:xfrm>
            <a:off x="1176120" y="2582800"/>
            <a:ext cx="4223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Launching Cloud Agent `agt_abc123`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9" name="TextBox 8858"/>
          <p:cNvSpPr txBox="1"/>
          <p:nvPr/>
        </p:nvSpPr>
        <p:spPr>
          <a:xfrm>
            <a:off x="743712" y="2882760"/>
            <a:ext cx="923416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🤖 Launching Cloud Agent `agt_abc123`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Watch progress: https://cursor.com/agents/agt_abc123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✅ Cloud Agent Complete!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Summary: 3 commits — fixed login bug, added tests, updated README.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PR: https://github.com/your-org/your-repo/pull/43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4" name=""/>
          <p:cNvSpPr txBox="1"/>
          <p:nvPr/>
        </p:nvSpPr>
        <p:spPr>
          <a:xfrm>
            <a:off x="743712" y="850000"/>
            <a:ext cx="4976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Discord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8" name=""/>
          <p:cNvSpPr txBox="1"/>
          <p:nvPr/>
        </p:nvSpPr>
        <p:spPr>
          <a:xfrm>
            <a:off x="923760" y="3523160"/>
            <a:ext cx="2293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ctx.send(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1" name=""/>
          <p:cNvSpPr txBox="1"/>
          <p:nvPr/>
        </p:nvSpPr>
        <p:spPr>
          <a:xfrm>
            <a:off x="3216600" y="2923240"/>
            <a:ext cx="241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f"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2" name=""/>
          <p:cNvSpPr txBox="1"/>
          <p:nvPr/>
        </p:nvSpPr>
        <p:spPr>
          <a:xfrm>
            <a:off x="743712" y="3223200"/>
            <a:ext cx="6516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Agent launched: https://cursor.com/agents/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{agent_id}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3" name=""/>
          <p:cNvSpPr txBox="1"/>
          <p:nvPr/>
        </p:nvSpPr>
        <p:spPr>
          <a:xfrm>
            <a:off x="10225800" y="3823120"/>
            <a:ext cx="219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5" name=""/>
          <p:cNvSpPr txBox="1"/>
          <p:nvPr/>
        </p:nvSpPr>
        <p:spPr>
          <a:xfrm>
            <a:off x="747720" y="4123080"/>
            <a:ext cx="105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6" name=""/>
          <p:cNvSpPr txBox="1"/>
          <p:nvPr/>
        </p:nvSpPr>
        <p:spPr>
          <a:xfrm>
            <a:off x="743712" y="4543280"/>
            <a:ext cx="70894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!cursor Add error handling to all API endpoints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0" name="TextBox 8879"/>
          <p:cNvSpPr txBox="1"/>
          <p:nvPr/>
        </p:nvSpPr>
        <p:spPr>
          <a:xfrm>
            <a:off x="743712" y="1442440"/>
            <a:ext cx="107429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@bot.command(name='cursor')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async def cursor_command(ctx, *, prompt):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requests.post("https://api.cursor.com/v1/agents", ...)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await ctx.send(f"✅ Agent launched: https://cursor.com/agents/{agent_id}")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5" name=""/>
          <p:cNvSpPr txBox="1"/>
          <p:nvPr/>
        </p:nvSpPr>
        <p:spPr>
          <a:xfrm>
            <a:off x="743712" y="850000"/>
            <a:ext cx="627516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Generic Webhook &amp; Notifications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6" name=""/>
          <p:cNvSpPr txBox="1"/>
          <p:nvPr/>
        </p:nvSpPr>
        <p:spPr>
          <a:xfrm>
            <a:off x="747720" y="336240"/>
            <a:ext cx="52002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0" name=""/>
          <p:cNvSpPr txBox="1"/>
          <p:nvPr/>
        </p:nvSpPr>
        <p:spPr>
          <a:xfrm>
            <a:off x="743712" y="1932440"/>
            <a:ext cx="104875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cases: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GitHub webhook on PR · Cron jobs · CI/CD post-deploy · Internal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1" name=""/>
          <p:cNvSpPr txBox="1"/>
          <p:nvPr/>
        </p:nvSpPr>
        <p:spPr>
          <a:xfrm>
            <a:off x="747720" y="2352640"/>
            <a:ext cx="14410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dashboard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3" name=""/>
          <p:cNvSpPr txBox="1"/>
          <p:nvPr/>
        </p:nvSpPr>
        <p:spPr>
          <a:xfrm>
            <a:off x="747720" y="2772840"/>
            <a:ext cx="43534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Status notifications: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4" name=""/>
          <p:cNvSpPr txBox="1"/>
          <p:nvPr/>
        </p:nvSpPr>
        <p:spPr>
          <a:xfrm>
            <a:off x="743712" y="40334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notifyOnStart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6" name=""/>
          <p:cNvSpPr txBox="1"/>
          <p:nvPr/>
        </p:nvSpPr>
        <p:spPr>
          <a:xfrm>
            <a:off x="7198200" y="31930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7" name=""/>
          <p:cNvSpPr txBox="1"/>
          <p:nvPr/>
        </p:nvSpPr>
        <p:spPr>
          <a:xfrm>
            <a:off x="7436160" y="438812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notifyOnComplete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9" name=""/>
          <p:cNvSpPr txBox="1"/>
          <p:nvPr/>
        </p:nvSpPr>
        <p:spPr>
          <a:xfrm>
            <a:off x="9917640" y="36132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0" name=""/>
          <p:cNvSpPr txBox="1"/>
          <p:nvPr/>
        </p:nvSpPr>
        <p:spPr>
          <a:xfrm>
            <a:off x="816120" y="474280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notifyOnError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1" name=""/>
          <p:cNvSpPr txBox="1"/>
          <p:nvPr/>
        </p:nvSpPr>
        <p:spPr>
          <a:xfrm>
            <a:off x="743712" y="5097480"/>
            <a:ext cx="97754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architecture · saw Slack/Discord demos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2" name=""/>
          <p:cNvSpPr txBox="1"/>
          <p:nvPr/>
        </p:nvSpPr>
        <p:spPr>
          <a:xfrm>
            <a:off x="747720" y="5517680"/>
            <a:ext cx="25761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webhook triggering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Complete Course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6" name="TextBox 8905"/>
          <p:cNvSpPr txBox="1"/>
          <p:nvPr/>
        </p:nvSpPr>
        <p:spPr>
          <a:xfrm>
            <a:off x="743712" y="1442440"/>
            <a:ext cx="895984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https://your-server.com/trigger-agent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'{"prompt": "Run the weekly security scan", "repo": "..."}'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4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980" name="Table 8979"/>
          <p:cNvGraphicFramePr>
            <a:graphicFrameLocks noGrp="1"/>
          </p:cNvGraphicFramePr>
          <p:nvPr/>
        </p:nvGraphicFramePr>
        <p:xfrm>
          <a:off x="743712" y="1442440"/>
          <a:ext cx="563592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483160"/>
                <a:gridCol w="23764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Launching Cloud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Remote execution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 Artifacts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Output collection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Messaging Integrations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Chat-triggered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5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8" name="TextBox 8997"/>
          <p:cNvSpPr txBox="1"/>
          <p:nvPr/>
        </p:nvSpPr>
        <p:spPr>
          <a:xfrm>
            <a:off x="743712" y="1442440"/>
            <a:ext cx="106057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UI ACCESS: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Cursor Editor: View → Cloud 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Web: https://cursor.com/agents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LAUNCH:  + New → repo/branch → prompt → model → Launch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ARTIFACTS:  View in detail page · Download single/zip · API (30-day storage)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MESSAGING: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/cursor [prompt] in Slack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!cursor [prompt] in Discord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Webhook POST to trigger endpoint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"/>
          <p:cNvSpPr txBox="1"/>
          <p:nvPr/>
        </p:nvSpPr>
        <p:spPr>
          <a:xfrm>
            <a:off x="3291420" y="2674620"/>
            <a:ext cx="56091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API Foundations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2" name=""/>
          <p:cNvSpPr txBox="1"/>
          <p:nvPr/>
        </p:nvSpPr>
        <p:spPr>
          <a:xfrm>
            <a:off x="2533260" y="3320740"/>
            <a:ext cx="7125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· Day 2 (Concept + 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3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4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7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072" name="Table 9071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Concept + 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account, basic API familiarity, Python 3.8+ installed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Understand the Cursor API ecosystem, authenticate securely, handle errors, and optimize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5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7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9" name=""/>
          <p:cNvSpPr txBox="1"/>
          <p:nvPr/>
        </p:nvSpPr>
        <p:spPr>
          <a:xfrm>
            <a:off x="1357200" y="1862640"/>
            <a:ext cx="650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Identify the five Cursor APIs and their use cases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1" name=""/>
          <p:cNvSpPr txBox="1"/>
          <p:nvPr/>
        </p:nvSpPr>
        <p:spPr>
          <a:xfrm>
            <a:off x="1357200" y="2282840"/>
            <a:ext cx="5558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 and securely manage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3" name=""/>
          <p:cNvSpPr txBox="1"/>
          <p:nvPr/>
        </p:nvSpPr>
        <p:spPr>
          <a:xfrm>
            <a:off x="1357200" y="2703040"/>
            <a:ext cx="6472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 rate limit handling and error recovery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5" name=""/>
          <p:cNvSpPr txBox="1"/>
          <p:nvPr/>
        </p:nvSpPr>
        <p:spPr>
          <a:xfrm>
            <a:off x="1357200" y="3123240"/>
            <a:ext cx="609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ETag caching for efficient repeat queries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6" name=""/>
          <p:cNvSpPr txBox="1"/>
          <p:nvPr/>
        </p:nvSpPr>
        <p:spPr>
          <a:xfrm>
            <a:off x="1357200" y="3543440"/>
            <a:ext cx="6201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authentication by listing available models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4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196" name="Table 9195"/>
          <p:cNvGraphicFramePr>
            <a:graphicFrameLocks noGrp="1"/>
          </p:cNvGraphicFramePr>
          <p:nvPr/>
        </p:nvGraphicFramePr>
        <p:xfrm>
          <a:off x="743712" y="1442440"/>
          <a:ext cx="488916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33660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The Cursor API Landscape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Rate Limits and Error Handling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ETag Caching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Available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0" name=""/>
          <p:cNvSpPr txBox="1"/>
          <p:nvPr/>
        </p:nvSpPr>
        <p:spPr>
          <a:xfrm>
            <a:off x="3705960" y="3331520"/>
            <a:ext cx="4780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Cursor API Landscape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1" name=""/>
          <p:cNvSpPr txBox="1"/>
          <p:nvPr/>
        </p:nvSpPr>
        <p:spPr>
          <a:xfrm>
            <a:off x="4935180" y="3853960"/>
            <a:ext cx="232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9" name=""/>
          <p:cNvSpPr txBox="1"/>
          <p:nvPr/>
        </p:nvSpPr>
        <p:spPr>
          <a:xfrm>
            <a:off x="743712" y="850000"/>
            <a:ext cx="2599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Five APIs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316" name="Table 9315"/>
          <p:cNvGraphicFramePr>
            <a:graphicFrameLocks noGrp="1"/>
          </p:cNvGraphicFramePr>
          <p:nvPr/>
        </p:nvGraphicFramePr>
        <p:xfrm>
          <a:off x="743712" y="1442440"/>
          <a:ext cx="81962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2269800"/>
                <a:gridCol w="4083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/v1/chat/completions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OpenAI-compatible chat interface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and manage Cloud 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Upload/download files for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/v1/admin/*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management, analytics, policies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Register and manage webhook endpoints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0" name=""/>
          <p:cNvSpPr txBox="1"/>
          <p:nvPr/>
        </p:nvSpPr>
        <p:spPr>
          <a:xfrm>
            <a:off x="743712" y="850000"/>
            <a:ext cx="4359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API Comparison Matrix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484" name="Table 9483"/>
          <p:cNvGraphicFramePr>
            <a:graphicFrameLocks noGrp="1"/>
          </p:cNvGraphicFramePr>
          <p:nvPr/>
        </p:nvGraphicFramePr>
        <p:xfrm>
          <a:off x="743712" y="1442440"/>
          <a:ext cx="97488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1736400"/>
                <a:gridCol w="2163120"/>
                <a:gridCol w="1843080"/>
                <a:gridCol w="2163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Auth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Rate Limit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Primary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or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 token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Pay-per-token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Direct model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Per-run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Long-running tasks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Context upload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Higher limits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Included in plan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management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8" name=""/>
          <p:cNvSpPr txBox="1"/>
          <p:nvPr/>
        </p:nvSpPr>
        <p:spPr>
          <a:xfrm>
            <a:off x="743712" y="850000"/>
            <a:ext cx="4469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Which API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0" name=""/>
          <p:cNvSpPr txBox="1"/>
          <p:nvPr/>
        </p:nvSpPr>
        <p:spPr>
          <a:xfrm>
            <a:off x="743712" y="1442440"/>
            <a:ext cx="9334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Call a model directly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Chat Completions API (OpenAI-compatible)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2" name=""/>
          <p:cNvSpPr txBox="1"/>
          <p:nvPr/>
        </p:nvSpPr>
        <p:spPr>
          <a:xfrm>
            <a:off x="1357200" y="1862640"/>
            <a:ext cx="667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 long task that writes 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Agents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4" name=""/>
          <p:cNvSpPr txBox="1"/>
          <p:nvPr/>
        </p:nvSpPr>
        <p:spPr>
          <a:xfrm>
            <a:off x="1357200" y="2282840"/>
            <a:ext cx="631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Manage team usage and limits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Admin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5" name=""/>
          <p:cNvSpPr txBox="1"/>
          <p:nvPr/>
        </p:nvSpPr>
        <p:spPr>
          <a:xfrm>
            <a:off x="1357200" y="2703040"/>
            <a:ext cx="7419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 notified when agents complete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Webhooks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4" name=""/>
          <p:cNvSpPr txBox="1"/>
          <p:nvPr/>
        </p:nvSpPr>
        <p:spPr>
          <a:xfrm>
            <a:off x="743712" y="850000"/>
            <a:ext cx="4029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OpenAI Compatibility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4" name=""/>
          <p:cNvSpPr txBox="1"/>
          <p:nvPr/>
        </p:nvSpPr>
        <p:spPr>
          <a:xfrm>
            <a:off x="743712" y="5056840"/>
            <a:ext cx="989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Understand five APIs · select correct API · understand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5" name=""/>
          <p:cNvSpPr txBox="1"/>
          <p:nvPr/>
        </p:nvSpPr>
        <p:spPr>
          <a:xfrm>
            <a:off x="747720" y="5477040"/>
            <a:ext cx="279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OpenAI compatibility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9" name="TextBox 9518"/>
          <p:cNvSpPr txBox="1"/>
          <p:nvPr/>
        </p:nvSpPr>
        <p:spPr>
          <a:xfrm>
            <a:off x="923760" y="1442440"/>
            <a:ext cx="731392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from openai import OpenAI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client = OpenAI(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base_url="https://api.cursor.com/v1",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api_key="your-cursor-api-key"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client.chat.completions.create(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model="claude-4.6-sonnet",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messages=[{"role": "user", "content": "Hello!"}]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3" name=""/>
          <p:cNvSpPr txBox="1"/>
          <p:nvPr/>
        </p:nvSpPr>
        <p:spPr>
          <a:xfrm>
            <a:off x="4839960" y="3331520"/>
            <a:ext cx="2512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Authentication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4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9" name=""/>
          <p:cNvSpPr txBox="1"/>
          <p:nvPr/>
        </p:nvSpPr>
        <p:spPr>
          <a:xfrm>
            <a:off x="743712" y="850000"/>
            <a:ext cx="4513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Authentication Methods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622" name="Table 9621"/>
          <p:cNvGraphicFramePr>
            <a:graphicFrameLocks noGrp="1"/>
          </p:cNvGraphicFramePr>
          <p:nvPr/>
        </p:nvGraphicFramePr>
        <p:xfrm>
          <a:off x="743712" y="1442440"/>
          <a:ext cx="72361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301656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HTTP Basic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-u "api_key:"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CLI, curl, most SDKs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Bearer Token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Authorization: Bearer &lt;key&gt;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OAuth-style clients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Regular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Agents, Chat, Files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admin_ prefixed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only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" name=""/>
          <p:cNvSpPr txBox="1"/>
          <p:nvPr/>
        </p:nvSpPr>
        <p:spPr>
          <a:xfrm>
            <a:off x="743712" y="850000"/>
            <a:ext cx="2753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API Key Types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7" name=""/>
          <p:cNvSpPr txBox="1"/>
          <p:nvPr/>
        </p:nvSpPr>
        <p:spPr>
          <a:xfrm>
            <a:off x="747720" y="1442440"/>
            <a:ext cx="1915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API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9" name=""/>
          <p:cNvSpPr txBox="1"/>
          <p:nvPr/>
        </p:nvSpPr>
        <p:spPr>
          <a:xfrm>
            <a:off x="1357200" y="1862640"/>
            <a:ext cx="576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Generated in: Cursor Settings →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1" name=""/>
          <p:cNvSpPr txBox="1"/>
          <p:nvPr/>
        </p:nvSpPr>
        <p:spPr>
          <a:xfrm>
            <a:off x="1357200" y="2282840"/>
            <a:ext cx="113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3" name=""/>
          <p:cNvSpPr txBox="1"/>
          <p:nvPr/>
        </p:nvSpPr>
        <p:spPr>
          <a:xfrm>
            <a:off x="2560320" y="2703040"/>
            <a:ext cx="2866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cursor_xxxxxxxxxxxx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4" name=""/>
          <p:cNvSpPr txBox="1"/>
          <p:nvPr/>
        </p:nvSpPr>
        <p:spPr>
          <a:xfrm>
            <a:off x="1357200" y="3057720"/>
            <a:ext cx="594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 access: Agents, Chat, Files, Webhooks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6" name=""/>
          <p:cNvSpPr txBox="1"/>
          <p:nvPr/>
        </p:nvSpPr>
        <p:spPr>
          <a:xfrm>
            <a:off x="747720" y="3477920"/>
            <a:ext cx="2185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Admin API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8" name=""/>
          <p:cNvSpPr txBox="1"/>
          <p:nvPr/>
        </p:nvSpPr>
        <p:spPr>
          <a:xfrm>
            <a:off x="1357200" y="3898120"/>
            <a:ext cx="6574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Generated in: Organization Settings →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0" name=""/>
          <p:cNvSpPr txBox="1"/>
          <p:nvPr/>
        </p:nvSpPr>
        <p:spPr>
          <a:xfrm>
            <a:off x="1357200" y="4318320"/>
            <a:ext cx="113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2" name=""/>
          <p:cNvSpPr txBox="1"/>
          <p:nvPr/>
        </p:nvSpPr>
        <p:spPr>
          <a:xfrm>
            <a:off x="2560320" y="4738520"/>
            <a:ext cx="37713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cursor_admin_xxxxxxxxxxxx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3" name=""/>
          <p:cNvSpPr txBox="1"/>
          <p:nvPr/>
        </p:nvSpPr>
        <p:spPr>
          <a:xfrm>
            <a:off x="1357200" y="5093200"/>
            <a:ext cx="6260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 access: Admin API + everything User can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1" name=""/>
          <p:cNvSpPr txBox="1"/>
          <p:nvPr/>
        </p:nvSpPr>
        <p:spPr>
          <a:xfrm>
            <a:off x="743712" y="850000"/>
            <a:ext cx="4405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Security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3" name=""/>
          <p:cNvSpPr txBox="1"/>
          <p:nvPr/>
        </p:nvSpPr>
        <p:spPr>
          <a:xfrm>
            <a:off x="1357200" y="1442440"/>
            <a:ext cx="3913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Never commit API keys to git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5" name=""/>
          <p:cNvSpPr txBox="1"/>
          <p:nvPr/>
        </p:nvSpPr>
        <p:spPr>
          <a:xfrm>
            <a:off x="1357200" y="1862640"/>
            <a:ext cx="6319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environment variables or secret managers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7" name=""/>
          <p:cNvSpPr txBox="1"/>
          <p:nvPr/>
        </p:nvSpPr>
        <p:spPr>
          <a:xfrm>
            <a:off x="1357200" y="2282840"/>
            <a:ext cx="5404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Rotate keys periodically (every 90 days)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9" name=""/>
          <p:cNvSpPr txBox="1"/>
          <p:nvPr/>
        </p:nvSpPr>
        <p:spPr>
          <a:xfrm>
            <a:off x="1357200" y="2703040"/>
            <a:ext cx="5558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different keys for dev and production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1" name=""/>
          <p:cNvSpPr txBox="1"/>
          <p:nvPr/>
        </p:nvSpPr>
        <p:spPr>
          <a:xfrm>
            <a:off x="1357200" y="3123240"/>
            <a:ext cx="454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Revoke unused keys immediately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3" name=""/>
          <p:cNvSpPr txBox="1"/>
          <p:nvPr/>
        </p:nvSpPr>
        <p:spPr>
          <a:xfrm>
            <a:off x="1357200" y="3543440"/>
            <a:ext cx="570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Admin API keys only when necessary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4" name=""/>
          <p:cNvSpPr txBox="1"/>
          <p:nvPr/>
        </p:nvSpPr>
        <p:spPr>
          <a:xfrm>
            <a:off x="1357200" y="3963640"/>
            <a:ext cx="433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Monitor key usage in dashboard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7.2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6" name=""/>
          <p:cNvSpPr txBox="1"/>
          <p:nvPr/>
        </p:nvSpPr>
        <p:spPr>
          <a:xfrm>
            <a:off x="743712" y="1442440"/>
            <a:ext cx="10418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 User API Key via Cursor Settings → API Keys → Generate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7" name=""/>
          <p:cNvSpPr txBox="1"/>
          <p:nvPr/>
        </p:nvSpPr>
        <p:spPr>
          <a:xfrm>
            <a:off x="747720" y="1862640"/>
            <a:ext cx="1220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8" name=""/>
          <p:cNvSpPr txBox="1"/>
          <p:nvPr/>
        </p:nvSpPr>
        <p:spPr>
          <a:xfrm>
            <a:off x="747720" y="2282840"/>
            <a:ext cx="455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Set environment variable: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1" name=""/>
          <p:cNvSpPr txBox="1"/>
          <p:nvPr/>
        </p:nvSpPr>
        <p:spPr>
          <a:xfrm>
            <a:off x="747720" y="3574240"/>
            <a:ext cx="298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with curl: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7" name="TextBox 9686"/>
          <p:cNvSpPr txBox="1"/>
          <p:nvPr/>
        </p:nvSpPr>
        <p:spPr>
          <a:xfrm>
            <a:off x="923760" y="2703040"/>
            <a:ext cx="67652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CURSOR_USER_API_KEY="cursor_xxxxxxxxxxxx"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echo $CURSOR_USER_API_KEY</a:t>
            </a:r>
          </a:p>
        </p:txBody>
      </p:sp>
      <p:sp>
        <p:nvSpPr>
          <p:cNvPr id="9688" name="TextBox 9687"/>
          <p:cNvSpPr txBox="1"/>
          <p:nvPr/>
        </p:nvSpPr>
        <p:spPr>
          <a:xfrm>
            <a:off x="923760" y="3994440"/>
            <a:ext cx="6353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https://api.cursor.com/v1/models | head -20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4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7.2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5" name=""/>
          <p:cNvSpPr txBox="1"/>
          <p:nvPr/>
        </p:nvSpPr>
        <p:spPr>
          <a:xfrm>
            <a:off x="747720" y="1442440"/>
            <a:ext cx="469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with Python requests: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0" name=""/>
          <p:cNvSpPr txBox="1"/>
          <p:nvPr/>
        </p:nvSpPr>
        <p:spPr>
          <a:xfrm>
            <a:off x="747720" y="3343440"/>
            <a:ext cx="4235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with OpenAI SDK: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0" name="TextBox 9709"/>
          <p:cNvSpPr txBox="1"/>
          <p:nvPr/>
        </p:nvSpPr>
        <p:spPr>
          <a:xfrm>
            <a:off x="923760" y="1862640"/>
            <a:ext cx="566800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requests.get(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"https://api.cursor.com/v1/models",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auth=(API_KEY, "")  # Empty password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  <p:sp>
        <p:nvSpPr>
          <p:cNvPr id="9711" name="TextBox 9710"/>
          <p:cNvSpPr txBox="1"/>
          <p:nvPr/>
        </p:nvSpPr>
        <p:spPr>
          <a:xfrm>
            <a:off x="743712" y="3763640"/>
            <a:ext cx="9782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client = OpenAI(base_url="https://api.cursor.com/v1", api_key=API_KEY)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client.chat.completions.create(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model="gpt-5-mini",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messages=[{"role": "user", "content": "Say 'API works!'"}],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max_tokens=10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7.2 — Steps 6–7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6" name=""/>
          <p:cNvSpPr txBox="1"/>
          <p:nvPr/>
        </p:nvSpPr>
        <p:spPr>
          <a:xfrm>
            <a:off x="747720" y="1442440"/>
            <a:ext cx="576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 and test Admin API Key: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0" name=""/>
          <p:cNvSpPr txBox="1"/>
          <p:nvPr/>
        </p:nvSpPr>
        <p:spPr>
          <a:xfrm>
            <a:off x="743712" y="3038640"/>
            <a:ext cx="1058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7: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Revoke compromised keys via API or Settings → API Keys → Revoke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1" name=""/>
          <p:cNvSpPr txBox="1"/>
          <p:nvPr/>
        </p:nvSpPr>
        <p:spPr>
          <a:xfrm>
            <a:off x="743712" y="3458840"/>
            <a:ext cx="1053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Generated keys · tested curl, Python, OpenAI SDK · tested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2" name=""/>
          <p:cNvSpPr txBox="1"/>
          <p:nvPr/>
        </p:nvSpPr>
        <p:spPr>
          <a:xfrm>
            <a:off x="747720" y="3879040"/>
            <a:ext cx="142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Admin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6" name="TextBox 9725"/>
          <p:cNvSpPr txBox="1"/>
          <p:nvPr/>
        </p:nvSpPr>
        <p:spPr>
          <a:xfrm>
            <a:off x="923760" y="1862640"/>
            <a:ext cx="772540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CURSOR_ADMIN_API_KEY="cursor_admin_xxxxxxxxxxxx"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https://api.cursor.com/v1/admin/organization | jq '.'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0" name=""/>
          <p:cNvSpPr txBox="1"/>
          <p:nvPr/>
        </p:nvSpPr>
        <p:spPr>
          <a:xfrm>
            <a:off x="3386820" y="3331520"/>
            <a:ext cx="5418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Rate Limits and Error Handling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1" name=""/>
          <p:cNvSpPr txBox="1"/>
          <p:nvPr/>
        </p:nvSpPr>
        <p:spPr>
          <a:xfrm>
            <a:off x="3622440" y="385396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9" name=""/>
          <p:cNvSpPr txBox="1"/>
          <p:nvPr/>
        </p:nvSpPr>
        <p:spPr>
          <a:xfrm>
            <a:off x="743712" y="850000"/>
            <a:ext cx="3479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Rate Limits by API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841" name="Table 9840"/>
          <p:cNvGraphicFramePr>
            <a:graphicFrameLocks noGrp="1"/>
          </p:cNvGraphicFramePr>
          <p:nvPr/>
        </p:nvGraphicFramePr>
        <p:xfrm>
          <a:off x="743712" y="1442440"/>
          <a:ext cx="55292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200"/>
                <a:gridCol w="1523040"/>
                <a:gridCol w="1203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Limit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1000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 (tokens)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500k tokens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 (create)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100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500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2000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8" name=""/>
          <p:cNvSpPr txBox="1"/>
          <p:nvPr/>
        </p:nvSpPr>
        <p:spPr>
          <a:xfrm>
            <a:off x="743712" y="850000"/>
            <a:ext cx="5592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HTTP Status Codes to Handle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2" name=""/>
          <p:cNvSpPr txBox="1"/>
          <p:nvPr/>
        </p:nvSpPr>
        <p:spPr>
          <a:xfrm>
            <a:off x="3344040" y="278280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5" name=""/>
          <p:cNvSpPr txBox="1"/>
          <p:nvPr/>
        </p:nvSpPr>
        <p:spPr>
          <a:xfrm>
            <a:off x="3344040" y="323028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8" name=""/>
          <p:cNvSpPr txBox="1"/>
          <p:nvPr/>
        </p:nvSpPr>
        <p:spPr>
          <a:xfrm>
            <a:off x="3344040" y="368748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401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1" name=""/>
          <p:cNvSpPr txBox="1"/>
          <p:nvPr/>
        </p:nvSpPr>
        <p:spPr>
          <a:xfrm>
            <a:off x="3344040" y="414468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4" name=""/>
          <p:cNvSpPr txBox="1"/>
          <p:nvPr/>
        </p:nvSpPr>
        <p:spPr>
          <a:xfrm>
            <a:off x="3344040" y="459252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429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963" name="Table 9962"/>
          <p:cNvGraphicFramePr>
            <a:graphicFrameLocks noGrp="1"/>
          </p:cNvGraphicFramePr>
          <p:nvPr/>
        </p:nvGraphicFramePr>
        <p:xfrm>
          <a:off x="743712" y="1442440"/>
          <a:ext cx="531588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0"/>
                <a:gridCol w="1949760"/>
                <a:gridCol w="24831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Process response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Bad Request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Fix request parameters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401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Unauthorized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 permissions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429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 Many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Implement backoff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500/503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Server Error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Retry with backoff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4" name=""/>
          <p:cNvSpPr txBox="1"/>
          <p:nvPr/>
        </p:nvSpPr>
        <p:spPr>
          <a:xfrm>
            <a:off x="743712" y="850000"/>
            <a:ext cx="3589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Rate Limit Headers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3" name=""/>
          <p:cNvSpPr txBox="1"/>
          <p:nvPr/>
        </p:nvSpPr>
        <p:spPr>
          <a:xfrm>
            <a:off x="8523720" y="3282840"/>
            <a:ext cx="43632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1000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8" name=""/>
          <p:cNvSpPr txBox="1"/>
          <p:nvPr/>
        </p:nvSpPr>
        <p:spPr>
          <a:xfrm>
            <a:off x="8523720" y="3740040"/>
            <a:ext cx="32760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942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3" name=""/>
          <p:cNvSpPr txBox="1"/>
          <p:nvPr/>
        </p:nvSpPr>
        <p:spPr>
          <a:xfrm>
            <a:off x="8523720" y="4187880"/>
            <a:ext cx="109008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1700000000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7" name=""/>
          <p:cNvSpPr txBox="1"/>
          <p:nvPr/>
        </p:nvSpPr>
        <p:spPr>
          <a:xfrm>
            <a:off x="8523720" y="4645080"/>
            <a:ext cx="21852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061" name="Table 10060"/>
          <p:cNvGraphicFramePr>
            <a:graphicFrameLocks noGrp="1"/>
          </p:cNvGraphicFramePr>
          <p:nvPr/>
        </p:nvGraphicFramePr>
        <p:xfrm>
          <a:off x="743712" y="1442440"/>
          <a:ext cx="68094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480"/>
                <a:gridCol w="3229920"/>
                <a:gridCol w="1203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Header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X-RateLimit-Limit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Max requests per window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X-RateLimit-Remaining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Requests left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942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X-RateLimit-Reset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Window reset (Unix timestamp)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1700000000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Retry-After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Seconds to wait (on 429)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6" name=""/>
          <p:cNvSpPr txBox="1"/>
          <p:nvPr/>
        </p:nvSpPr>
        <p:spPr>
          <a:xfrm>
            <a:off x="743712" y="850000"/>
            <a:ext cx="6717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7.3 — Exponential Backoff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2" name="TextBox 10081"/>
          <p:cNvSpPr txBox="1"/>
          <p:nvPr/>
        </p:nvSpPr>
        <p:spPr>
          <a:xfrm>
            <a:off x="743712" y="1442440"/>
            <a:ext cx="85483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call_with_retry(url, max_retries=5, base_delay=1.0):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for attempt in range(max_retries):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response = requests.get(url, auth=AUTH)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response.status_code == 200: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return response.json()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400 &lt;= response.status_code &lt; 500: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return None  # Don't retry client errors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response.status_code in [429, 500, 502, 503, 504]: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delay = int(response.headers.get('Retry-After',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min(base_delay * (2 ** attempt), 60)))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time.sleep(delay)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None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5" name=""/>
          <p:cNvSpPr txBox="1"/>
          <p:nvPr/>
        </p:nvSpPr>
        <p:spPr>
          <a:xfrm>
            <a:off x="743712" y="850000"/>
            <a:ext cx="6805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7.3 — Rate Limiter &amp; 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7" name=""/>
          <p:cNvSpPr txBox="1"/>
          <p:nvPr/>
        </p:nvSpPr>
        <p:spPr>
          <a:xfrm>
            <a:off x="747720" y="1442440"/>
            <a:ext cx="4116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Monitor headers: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warn when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8" name=""/>
          <p:cNvSpPr txBox="1"/>
          <p:nvPr/>
        </p:nvSpPr>
        <p:spPr>
          <a:xfrm>
            <a:off x="743712" y="22828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X-RateLimit-Remaining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9" name=""/>
          <p:cNvSpPr txBox="1"/>
          <p:nvPr/>
        </p:nvSpPr>
        <p:spPr>
          <a:xfrm>
            <a:off x="8167680" y="1862640"/>
            <a:ext cx="192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&lt; 10% of limit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0" name=""/>
          <p:cNvSpPr txBox="1"/>
          <p:nvPr/>
        </p:nvSpPr>
        <p:spPr>
          <a:xfrm>
            <a:off x="743712" y="2637520"/>
            <a:ext cx="1041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 bucket rate limiter: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space requests evenly across the minute window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1" name=""/>
          <p:cNvSpPr txBox="1"/>
          <p:nvPr/>
        </p:nvSpPr>
        <p:spPr>
          <a:xfrm>
            <a:off x="743712" y="3057720"/>
            <a:ext cx="10571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CursorAPIClient: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combines rate limiting, retries on 429/5xx, timeout handling,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3" name=""/>
          <p:cNvSpPr txBox="1"/>
          <p:nvPr/>
        </p:nvSpPr>
        <p:spPr>
          <a:xfrm>
            <a:off x="747720" y="3477920"/>
            <a:ext cx="3220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typed methods like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4" name=""/>
          <p:cNvSpPr txBox="1"/>
          <p:nvPr/>
        </p:nvSpPr>
        <p:spPr>
          <a:xfrm>
            <a:off x="4035600" y="4318320"/>
            <a:ext cx="1810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get_models()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6" name=""/>
          <p:cNvSpPr txBox="1"/>
          <p:nvPr/>
        </p:nvSpPr>
        <p:spPr>
          <a:xfrm>
            <a:off x="743712" y="3898120"/>
            <a:ext cx="67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7" name=""/>
          <p:cNvSpPr txBox="1"/>
          <p:nvPr/>
        </p:nvSpPr>
        <p:spPr>
          <a:xfrm>
            <a:off x="6660360" y="4673000"/>
            <a:ext cx="21121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create_agent()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8" name=""/>
          <p:cNvSpPr txBox="1"/>
          <p:nvPr/>
        </p:nvSpPr>
        <p:spPr>
          <a:xfrm>
            <a:off x="743712" y="5027680"/>
            <a:ext cx="992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Backoff · header monitoring · rate limiter · robust client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9" name=""/>
          <p:cNvSpPr txBox="1"/>
          <p:nvPr/>
        </p:nvSpPr>
        <p:spPr>
          <a:xfrm>
            <a:off x="747720" y="5447880"/>
            <a:ext cx="695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7" name=""/>
          <p:cNvSpPr txBox="1"/>
          <p:nvPr/>
        </p:nvSpPr>
        <p:spPr>
          <a:xfrm>
            <a:off x="4840140" y="3331520"/>
            <a:ext cx="2511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ETag Caching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8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5" name=""/>
          <p:cNvSpPr txBox="1"/>
          <p:nvPr/>
        </p:nvSpPr>
        <p:spPr>
          <a:xfrm>
            <a:off x="743712" y="850000"/>
            <a:ext cx="3281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ETags?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6" name=""/>
          <p:cNvSpPr txBox="1"/>
          <p:nvPr/>
        </p:nvSpPr>
        <p:spPr>
          <a:xfrm>
            <a:off x="747720" y="1442440"/>
            <a:ext cx="745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ETags are unique identifiers for API response versions.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8" name=""/>
          <p:cNvSpPr txBox="1"/>
          <p:nvPr/>
        </p:nvSpPr>
        <p:spPr>
          <a:xfrm>
            <a:off x="1018440" y="1862640"/>
            <a:ext cx="1136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Send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9" name=""/>
          <p:cNvSpPr txBox="1"/>
          <p:nvPr/>
        </p:nvSpPr>
        <p:spPr>
          <a:xfrm>
            <a:off x="2222280" y="27030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If-None-Match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0" name=""/>
          <p:cNvSpPr txBox="1"/>
          <p:nvPr/>
        </p:nvSpPr>
        <p:spPr>
          <a:xfrm>
            <a:off x="743712" y="2282840"/>
            <a:ext cx="371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header with previous ETag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2" name=""/>
          <p:cNvSpPr txBox="1"/>
          <p:nvPr/>
        </p:nvSpPr>
        <p:spPr>
          <a:xfrm>
            <a:off x="1018440" y="3057720"/>
            <a:ext cx="235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Server returns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3" name=""/>
          <p:cNvSpPr txBox="1"/>
          <p:nvPr/>
        </p:nvSpPr>
        <p:spPr>
          <a:xfrm>
            <a:off x="3441600" y="389812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304 Not Modified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4" name=""/>
          <p:cNvSpPr txBox="1"/>
          <p:nvPr/>
        </p:nvSpPr>
        <p:spPr>
          <a:xfrm>
            <a:off x="743712" y="3477920"/>
            <a:ext cx="1830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if unchanged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5" name=""/>
          <p:cNvSpPr txBox="1"/>
          <p:nvPr/>
        </p:nvSpPr>
        <p:spPr>
          <a:xfrm>
            <a:off x="1018440" y="4252800"/>
            <a:ext cx="6082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No data transfer, no rate limit consumption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4" name=""/>
          <p:cNvSpPr txBox="1"/>
          <p:nvPr/>
        </p:nvSpPr>
        <p:spPr>
          <a:xfrm>
            <a:off x="743712" y="850000"/>
            <a:ext cx="1981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ETag 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3" name="TextBox 10142"/>
          <p:cNvSpPr txBox="1"/>
          <p:nvPr/>
        </p:nvSpPr>
        <p:spPr>
          <a:xfrm>
            <a:off x="923760" y="1442440"/>
            <a:ext cx="70396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Request 1: GET /v1/analytics/usage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200 OK, ETag: "abc123", Body: { ... data ...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Request 2: GET with If-None-Match: "abc123"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304 Not Modified (unchanged) OR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200 OK, ETag: "def456" (updated data)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7" name=""/>
          <p:cNvSpPr txBox="1"/>
          <p:nvPr/>
        </p:nvSpPr>
        <p:spPr>
          <a:xfrm>
            <a:off x="743712" y="850000"/>
            <a:ext cx="5459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Endpoints Supporting ETags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265" name="Table 10264"/>
          <p:cNvGraphicFramePr>
            <a:graphicFrameLocks noGrp="1"/>
          </p:cNvGraphicFramePr>
          <p:nvPr/>
        </p:nvGraphicFramePr>
        <p:xfrm>
          <a:off x="743712" y="1442440"/>
          <a:ext cx="584928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1416360"/>
                <a:gridCol w="22698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ETag Support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Cache Freshness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rarely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/v1/admin/members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occasionally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/v1/agents/{id}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during run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/v1/analytics/usage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changes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 (list)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⚠️ Partial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frequently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" name=""/>
          <p:cNvSpPr txBox="1"/>
          <p:nvPr/>
        </p:nvSpPr>
        <p:spPr>
          <a:xfrm>
            <a:off x="743712" y="850000"/>
            <a:ext cx="634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7.4 — Basic ETag Usage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1" name="TextBox 10280"/>
          <p:cNvSpPr txBox="1"/>
          <p:nvPr/>
        </p:nvSpPr>
        <p:spPr>
          <a:xfrm>
            <a:off x="743712" y="1442440"/>
            <a:ext cx="991996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get_with_etag(url, previous_etag=None):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headers = {'If-None-Match': previous_etag} if previous_etag else {}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requests.get(url, auth=AUTH, headers=headers)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response.status_code == 304: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return None, response.headers.get('ETag')  # Use cached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response.status_code == 200: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return response.json(), response.headers.get('ETag')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4" name=""/>
          <p:cNvSpPr txBox="1"/>
          <p:nvPr/>
        </p:nvSpPr>
        <p:spPr>
          <a:xfrm>
            <a:off x="743712" y="850000"/>
            <a:ext cx="8105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7.4 — ETagCache &amp; CachedClient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5" name=""/>
          <p:cNvSpPr txBox="1"/>
          <p:nvPr/>
        </p:nvSpPr>
        <p:spPr>
          <a:xfrm>
            <a:off x="747720" y="1442440"/>
            <a:ext cx="8606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ETagCache: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persistent pickle-based cache keyed by URL hash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7" name=""/>
          <p:cNvSpPr txBox="1"/>
          <p:nvPr/>
        </p:nvSpPr>
        <p:spPr>
          <a:xfrm>
            <a:off x="747720" y="1862640"/>
            <a:ext cx="304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CachedCursorClient: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9" name=""/>
          <p:cNvSpPr txBox="1"/>
          <p:nvPr/>
        </p:nvSpPr>
        <p:spPr>
          <a:xfrm>
            <a:off x="1357200" y="2282840"/>
            <a:ext cx="369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Check local cache → send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1" name=""/>
          <p:cNvSpPr txBox="1"/>
          <p:nvPr/>
        </p:nvSpPr>
        <p:spPr>
          <a:xfrm>
            <a:off x="743712" y="27030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If-None-Match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3" name=""/>
          <p:cNvSpPr txBox="1"/>
          <p:nvPr/>
        </p:nvSpPr>
        <p:spPr>
          <a:xfrm>
            <a:off x="1357200" y="3057720"/>
            <a:ext cx="576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304 → return cached data (Cache HIT)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4" name=""/>
          <p:cNvSpPr txBox="1"/>
          <p:nvPr/>
        </p:nvSpPr>
        <p:spPr>
          <a:xfrm>
            <a:off x="1357200" y="3477920"/>
            <a:ext cx="5303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200 → update cache (Cache MISS)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5" name=""/>
          <p:cNvSpPr txBox="1"/>
          <p:nvPr/>
        </p:nvSpPr>
        <p:spPr>
          <a:xfrm>
            <a:off x="743712" y="3898120"/>
            <a:ext cx="967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Batch analytics: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fetch 30 days of usage — unchanged days return 304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6" name=""/>
          <p:cNvSpPr txBox="1"/>
          <p:nvPr/>
        </p:nvSpPr>
        <p:spPr>
          <a:xfrm>
            <a:off x="747720" y="4318320"/>
            <a:ext cx="111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instantly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7" name=""/>
          <p:cNvSpPr txBox="1"/>
          <p:nvPr/>
        </p:nvSpPr>
        <p:spPr>
          <a:xfrm>
            <a:off x="743712" y="4738520"/>
            <a:ext cx="1048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Basic ETag request · persistent cache · analytics workload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8" name=""/>
          <p:cNvSpPr txBox="1"/>
          <p:nvPr/>
        </p:nvSpPr>
        <p:spPr>
          <a:xfrm>
            <a:off x="747720" y="5158720"/>
            <a:ext cx="105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6" name=""/>
          <p:cNvSpPr txBox="1"/>
          <p:nvPr/>
        </p:nvSpPr>
        <p:spPr>
          <a:xfrm>
            <a:off x="3970200" y="3331520"/>
            <a:ext cx="4251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Available Models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7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Exercise · 6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7" name=""/>
          <p:cNvSpPr txBox="1"/>
          <p:nvPr/>
        </p:nvSpPr>
        <p:spPr>
          <a:xfrm>
            <a:off x="743712" y="850000"/>
            <a:ext cx="4006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Models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8" name=""/>
          <p:cNvSpPr txBox="1"/>
          <p:nvPr/>
        </p:nvSpPr>
        <p:spPr>
          <a:xfrm>
            <a:off x="923760" y="1442440"/>
            <a:ext cx="1689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/v1/models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0" name=""/>
          <p:cNvSpPr txBox="1"/>
          <p:nvPr/>
        </p:nvSpPr>
        <p:spPr>
          <a:xfrm>
            <a:off x="747720" y="1742400"/>
            <a:ext cx="2880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 includes: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2" name=""/>
          <p:cNvSpPr txBox="1"/>
          <p:nvPr/>
        </p:nvSpPr>
        <p:spPr>
          <a:xfrm>
            <a:off x="1357200" y="2162600"/>
            <a:ext cx="6386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ID · Display name · Context window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4" name=""/>
          <p:cNvSpPr txBox="1"/>
          <p:nvPr/>
        </p:nvSpPr>
        <p:spPr>
          <a:xfrm>
            <a:off x="1357200" y="2582800"/>
            <a:ext cx="482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Pricing (input/output per 1M tokens)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5" name=""/>
          <p:cNvSpPr txBox="1"/>
          <p:nvPr/>
        </p:nvSpPr>
        <p:spPr>
          <a:xfrm>
            <a:off x="1357200" y="3003000"/>
            <a:ext cx="491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Capabilities (vision, tool calling, etc.)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6" name=""/>
          <p:cNvSpPr txBox="1"/>
          <p:nvPr/>
        </p:nvSpPr>
        <p:spPr>
          <a:xfrm>
            <a:off x="743712" y="3423200"/>
            <a:ext cx="834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"Simplest API call — perfect for verifying your API key works."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7.5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6" name=""/>
          <p:cNvSpPr txBox="1"/>
          <p:nvPr/>
        </p:nvSpPr>
        <p:spPr>
          <a:xfrm>
            <a:off x="747720" y="1442440"/>
            <a:ext cx="286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 with curl: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0" name=""/>
          <p:cNvSpPr txBox="1"/>
          <p:nvPr/>
        </p:nvSpPr>
        <p:spPr>
          <a:xfrm>
            <a:off x="743712" y="3038640"/>
            <a:ext cx="1052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Format with Python tabulate — Model ID, Context, Input/Output Price,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1" name=""/>
          <p:cNvSpPr txBox="1"/>
          <p:nvPr/>
        </p:nvSpPr>
        <p:spPr>
          <a:xfrm>
            <a:off x="747720" y="3458840"/>
            <a:ext cx="193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Vision support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5" name="TextBox 10344"/>
          <p:cNvSpPr txBox="1"/>
          <p:nvPr/>
        </p:nvSpPr>
        <p:spPr>
          <a:xfrm>
            <a:off x="743712" y="1862640"/>
            <a:ext cx="1097280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https://api.cursor.com/v1/models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'.data[] | {id: .id, context: .context_window, input_price: .pricing.input}'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7.5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3" name=""/>
          <p:cNvSpPr txBox="1"/>
          <p:nvPr/>
        </p:nvSpPr>
        <p:spPr>
          <a:xfrm>
            <a:off x="747720" y="1442440"/>
            <a:ext cx="293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Filter models: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8" name=""/>
          <p:cNvSpPr txBox="1"/>
          <p:nvPr/>
        </p:nvSpPr>
        <p:spPr>
          <a:xfrm>
            <a:off x="747720" y="3648240"/>
            <a:ext cx="423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Model selection helper: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2" name=""/>
          <p:cNvSpPr txBox="1"/>
          <p:nvPr/>
        </p:nvSpPr>
        <p:spPr>
          <a:xfrm>
            <a:off x="743712" y="5244440"/>
            <a:ext cx="1048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Listed with curl · formatted table · filtered · selection helper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6" name="TextBox 10365"/>
          <p:cNvSpPr txBox="1"/>
          <p:nvPr/>
        </p:nvSpPr>
        <p:spPr>
          <a:xfrm>
            <a:off x="743712" y="1862640"/>
            <a:ext cx="1046860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Models with 100k+ context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large_context = [m for m in models if m.get('context_window', 0) &gt;= 100000]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Cheapest by input price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cheapest = sorted(models, key=lambda x: x['pricing']['input'])[:5]</a:t>
            </a:r>
          </a:p>
        </p:txBody>
      </p:sp>
      <p:sp>
        <p:nvSpPr>
          <p:cNvPr id="10367" name="TextBox 10366"/>
          <p:cNvSpPr txBox="1"/>
          <p:nvPr/>
        </p:nvSpPr>
        <p:spPr>
          <a:xfrm>
            <a:off x="743712" y="4068440"/>
            <a:ext cx="868552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select_model("code_review", "balanced")  # → claude-4.6-sonnet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select_model("simple_fix", "low")        # → gpt-5-mini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select_model("frontend_ui", "high")      # → gemini-3.1-pro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0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472" name="Table 10471"/>
          <p:cNvGraphicFramePr>
            <a:graphicFrameLocks noGrp="1"/>
          </p:cNvGraphicFramePr>
          <p:nvPr/>
        </p:nvGraphicFramePr>
        <p:xfrm>
          <a:off x="743712" y="1442440"/>
          <a:ext cx="49958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269800"/>
                <a:gridCol w="1949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API Landscape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API selection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Key management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Rate Limits &amp; Errors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Robust clients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ETag Caching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Efficient queries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 smoke-test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7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1" name="TextBox 10490"/>
          <p:cNvSpPr txBox="1"/>
          <p:nvPr/>
        </p:nvSpPr>
        <p:spPr>
          <a:xfrm>
            <a:off x="743712" y="1442440"/>
            <a:ext cx="9508480" cy="4144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 URL: https://api.cursor.com/v1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AUTH:  -u "api_key:" (curl)  |  Bearer token  |  OpenAI SDK base_url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/models              List available models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POST /agents              Create cloud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/agents/{id}         Get agent status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/admin/members       List team members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/admin/analytics/usage  Usage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ERRORS:  429/5xx → retry with backoff  |  4xx → fix request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CACHE:   If-None-Match → handle 304 Not Modified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" name=""/>
          <p:cNvSpPr txBox="1"/>
          <p:nvPr/>
        </p:nvSpPr>
        <p:spPr>
          <a:xfrm>
            <a:off x="2234820" y="2674620"/>
            <a:ext cx="77223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API and Webhooks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5" name=""/>
          <p:cNvSpPr txBox="1"/>
          <p:nvPr/>
        </p:nvSpPr>
        <p:spPr>
          <a:xfrm>
            <a:off x="3496980" y="3320740"/>
            <a:ext cx="519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· Day 2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6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0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565" name="Table 10564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 (Module 7), Python 3.8+, ngrok installed, GitHub repository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Programmatically create, stream, and manage Cloud Agents, and set up webhook notifications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8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0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2" name=""/>
          <p:cNvSpPr txBox="1"/>
          <p:nvPr/>
        </p:nvSpPr>
        <p:spPr>
          <a:xfrm>
            <a:off x="1357200" y="1862640"/>
            <a:ext cx="7234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 Cloud Agent programmatically using the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4" name=""/>
          <p:cNvSpPr txBox="1"/>
          <p:nvPr/>
        </p:nvSpPr>
        <p:spPr>
          <a:xfrm>
            <a:off x="743712" y="2282840"/>
            <a:ext cx="925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Stream agent responses in real-time using SSE with resume support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6" name=""/>
          <p:cNvSpPr txBox="1"/>
          <p:nvPr/>
        </p:nvSpPr>
        <p:spPr>
          <a:xfrm>
            <a:off x="1357200" y="2703040"/>
            <a:ext cx="689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 and download artifacts from a completed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8" name=""/>
          <p:cNvSpPr txBox="1"/>
          <p:nvPr/>
        </p:nvSpPr>
        <p:spPr>
          <a:xfrm>
            <a:off x="1357200" y="3123240"/>
            <a:ext cx="6879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 webhook endpoint with HMAC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0" name=""/>
          <p:cNvSpPr txBox="1"/>
          <p:nvPr/>
        </p:nvSpPr>
        <p:spPr>
          <a:xfrm>
            <a:off x="1357200" y="3543440"/>
            <a:ext cx="4642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webhooks locally using ngrok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1" name=""/>
          <p:cNvSpPr txBox="1"/>
          <p:nvPr/>
        </p:nvSpPr>
        <p:spPr>
          <a:xfrm>
            <a:off x="1357200" y="3963640"/>
            <a:ext cx="630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an end-to-end automated agent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2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707" name="Table 10706"/>
          <p:cNvGraphicFramePr>
            <a:graphicFrameLocks noGrp="1"/>
          </p:cNvGraphicFramePr>
          <p:nvPr/>
        </p:nvGraphicFramePr>
        <p:xfrm>
          <a:off x="743712" y="1442440"/>
          <a:ext cx="584928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429672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Cloud Agent Programmatically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Streaming Agent Responses (SSE)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and Downloading 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Webhook Endpoint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Testing Webhooks Locally with ngrok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End-to-End Automated Agent Workflow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17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1" name=""/>
          <p:cNvSpPr txBox="1"/>
          <p:nvPr/>
        </p:nvSpPr>
        <p:spPr>
          <a:xfrm>
            <a:off x="2450820" y="3331520"/>
            <a:ext cx="7290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Cloud Agent Programmatically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2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8" name=""/>
          <p:cNvSpPr txBox="1"/>
          <p:nvPr/>
        </p:nvSpPr>
        <p:spPr>
          <a:xfrm>
            <a:off x="743712" y="850000"/>
            <a:ext cx="2565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+ Runs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6" name=""/>
          <p:cNvSpPr txBox="1"/>
          <p:nvPr/>
        </p:nvSpPr>
        <p:spPr>
          <a:xfrm>
            <a:off x="747720" y="3048640"/>
            <a:ext cx="211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endpoint: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7" name=""/>
          <p:cNvSpPr txBox="1"/>
          <p:nvPr/>
        </p:nvSpPr>
        <p:spPr>
          <a:xfrm>
            <a:off x="2932920" y="3468840"/>
            <a:ext cx="2262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POST /v1/agents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761" name="Table 10760"/>
          <p:cNvGraphicFramePr>
            <a:graphicFrameLocks noGrp="1"/>
          </p:cNvGraphicFramePr>
          <p:nvPr/>
        </p:nvGraphicFramePr>
        <p:xfrm>
          <a:off x="743712" y="1442440"/>
          <a:ext cx="5713080" cy="152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Durable entity with conversation history and workspace state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execution (one prompt/response cycle)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3" name=""/>
          <p:cNvSpPr txBox="1"/>
          <p:nvPr/>
        </p:nvSpPr>
        <p:spPr>
          <a:xfrm>
            <a:off x="743712" y="498920"/>
            <a:ext cx="2819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Request Fields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4" name=""/>
          <p:cNvSpPr txBox="1"/>
          <p:nvPr/>
        </p:nvSpPr>
        <p:spPr>
          <a:xfrm>
            <a:off x="747720" y="1091360"/>
            <a:ext cx="142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4" name=""/>
          <p:cNvSpPr txBox="1"/>
          <p:nvPr/>
        </p:nvSpPr>
        <p:spPr>
          <a:xfrm>
            <a:off x="747720" y="2838360"/>
            <a:ext cx="1422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Optional: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5" name=""/>
          <p:cNvSpPr txBox="1"/>
          <p:nvPr/>
        </p:nvSpPr>
        <p:spPr>
          <a:xfrm>
            <a:off x="2238480" y="4519160"/>
            <a:ext cx="1810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autoCreatePR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7" name=""/>
          <p:cNvSpPr txBox="1"/>
          <p:nvPr/>
        </p:nvSpPr>
        <p:spPr>
          <a:xfrm>
            <a:off x="4116600" y="325856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8" name=""/>
          <p:cNvSpPr txBox="1"/>
          <p:nvPr/>
        </p:nvSpPr>
        <p:spPr>
          <a:xfrm>
            <a:off x="4456080" y="4873840"/>
            <a:ext cx="1207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model.id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0" name=""/>
          <p:cNvSpPr txBox="1"/>
          <p:nvPr/>
        </p:nvSpPr>
        <p:spPr>
          <a:xfrm>
            <a:off x="743712" y="367876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1" name=""/>
          <p:cNvSpPr txBox="1"/>
          <p:nvPr/>
        </p:nvSpPr>
        <p:spPr>
          <a:xfrm>
            <a:off x="743712" y="5228520"/>
            <a:ext cx="15091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webhookUrl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3" name=""/>
          <p:cNvSpPr txBox="1"/>
          <p:nvPr/>
        </p:nvSpPr>
        <p:spPr>
          <a:xfrm>
            <a:off x="7647120" y="409896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4" name=""/>
          <p:cNvSpPr txBox="1"/>
          <p:nvPr/>
        </p:nvSpPr>
        <p:spPr>
          <a:xfrm>
            <a:off x="7986600" y="558320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webhookSecret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818" name="Table 10817"/>
          <p:cNvGraphicFramePr>
            <a:graphicFrameLocks noGrp="1"/>
          </p:cNvGraphicFramePr>
          <p:nvPr/>
        </p:nvGraphicFramePr>
        <p:xfrm>
          <a:off x="743712" y="1511560"/>
          <a:ext cx="453960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32299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prompt.text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a README.md file"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repos[].url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"https://github.com/org/repo"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" name=""/>
          <p:cNvSpPr txBox="1"/>
          <p:nvPr/>
        </p:nvSpPr>
        <p:spPr>
          <a:xfrm>
            <a:off x="743712" y="850000"/>
            <a:ext cx="588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8.1 — Create with curl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6" name="TextBox 10835"/>
          <p:cNvSpPr txBox="1"/>
          <p:nvPr/>
        </p:nvSpPr>
        <p:spPr>
          <a:xfrm>
            <a:off x="743712" y="1442440"/>
            <a:ext cx="1097280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CURSOR_USER_API_KEY="cursor_xxxxxxxxxxxx"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https://api.cursor.com/v1/agents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"prompt": {"text": "Add a README.md file with setup instructions"},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"repos": [{"url": "https://github.com/YOUR_ORG/YOUR_REPO", "startingRef": "main"}],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"autoCreatePR":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}' | jq '.'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1" name=""/>
          <p:cNvSpPr txBox="1"/>
          <p:nvPr/>
        </p:nvSpPr>
        <p:spPr>
          <a:xfrm>
            <a:off x="743712" y="850000"/>
            <a:ext cx="5132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8.1 — Capture IDs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7" name=""/>
          <p:cNvSpPr txBox="1"/>
          <p:nvPr/>
        </p:nvSpPr>
        <p:spPr>
          <a:xfrm>
            <a:off x="747720" y="3228040"/>
            <a:ext cx="3727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with specific model: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8" name=""/>
          <p:cNvSpPr txBox="1"/>
          <p:nvPr/>
        </p:nvSpPr>
        <p:spPr>
          <a:xfrm>
            <a:off x="4542840" y="36482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"model": {"id": "claude-4.7-opus"}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2" name="TextBox 10851"/>
          <p:cNvSpPr txBox="1"/>
          <p:nvPr/>
        </p:nvSpPr>
        <p:spPr>
          <a:xfrm>
            <a:off x="923760" y="1442440"/>
            <a:ext cx="745108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AGENT_ID=$(echo "$RESPONSE" | jq -r '.agent.id')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RUN_ID=$(echo "$RESPONSE" | jq -r '.run.id')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echo "Agent ID: $AGENT_ID"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echo "Dashboard: https://cursor.com/agents/$AGENT_ID"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7" name=""/>
          <p:cNvSpPr txBox="1"/>
          <p:nvPr/>
        </p:nvSpPr>
        <p:spPr>
          <a:xfrm>
            <a:off x="743712" y="850000"/>
            <a:ext cx="5594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8.1 — Python Helper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9" name=""/>
          <p:cNvSpPr txBox="1"/>
          <p:nvPr/>
        </p:nvSpPr>
        <p:spPr>
          <a:xfrm>
            <a:off x="743712" y="5056840"/>
            <a:ext cx="9878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Agent created · IDs captured · appears in dashboard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0" name=""/>
          <p:cNvSpPr txBox="1"/>
          <p:nvPr/>
        </p:nvSpPr>
        <p:spPr>
          <a:xfrm>
            <a:off x="747720" y="5477040"/>
            <a:ext cx="298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function 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4" name="TextBox 10873"/>
          <p:cNvSpPr txBox="1"/>
          <p:nvPr/>
        </p:nvSpPr>
        <p:spPr>
          <a:xfrm>
            <a:off x="743712" y="1442440"/>
            <a:ext cx="104686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create_agent(prompt, repo_url, auto_create_pr=False, model=None):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payload =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"prompt": {"text": prompt},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"repos": [{"url": repo_url}],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"autoCreatePR": auto_create_pr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model: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payload["model"] = {"id": model}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requests.post(f"{BASE_URL}/agents", auth=AUTH, json=payload)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data = response.json()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data["agent"]["id"], data["run"]["id"]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8" name=""/>
          <p:cNvSpPr txBox="1"/>
          <p:nvPr/>
        </p:nvSpPr>
        <p:spPr>
          <a:xfrm>
            <a:off x="2990280" y="3331520"/>
            <a:ext cx="6211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Streaming Agent Responses (SSE)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9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3" name=""/>
          <p:cNvSpPr txBox="1"/>
          <p:nvPr/>
        </p:nvSpPr>
        <p:spPr>
          <a:xfrm>
            <a:off x="743712" y="850000"/>
            <a:ext cx="323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SSE Event Types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035" name="Table 11034"/>
          <p:cNvGraphicFramePr>
            <a:graphicFrameLocks noGrp="1"/>
          </p:cNvGraphicFramePr>
          <p:nvPr/>
        </p:nvGraphicFramePr>
        <p:xfrm>
          <a:off x="743712" y="1442440"/>
          <a:ext cx="766284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20"/>
                <a:gridCol w="2269800"/>
                <a:gridCol w="42967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It Happens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Data 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 status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{"status":"RUNNING"}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speaks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{"text":"I'll read the file..."}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thinking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is reasoning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{"text":"Let me consider..."}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tool_call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uses a tool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{"name":"read_file","status":"started"}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 completes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{"status":"FINISHED"}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Something went wrong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{"message":"..."}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 ends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" name=""/>
          <p:cNvSpPr txBox="1"/>
          <p:nvPr/>
        </p:nvSpPr>
        <p:spPr>
          <a:xfrm>
            <a:off x="743712" y="850000"/>
            <a:ext cx="3170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Resume Support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0" name=""/>
          <p:cNvSpPr txBox="1"/>
          <p:nvPr/>
        </p:nvSpPr>
        <p:spPr>
          <a:xfrm>
            <a:off x="747720" y="1442440"/>
            <a:ext cx="347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SSE streams support the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1" name=""/>
          <p:cNvSpPr txBox="1"/>
          <p:nvPr/>
        </p:nvSpPr>
        <p:spPr>
          <a:xfrm>
            <a:off x="743712" y="22828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Last-Event-ID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2" name=""/>
          <p:cNvSpPr txBox="1"/>
          <p:nvPr/>
        </p:nvSpPr>
        <p:spPr>
          <a:xfrm>
            <a:off x="6318360" y="1862640"/>
            <a:ext cx="4829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header — if your connection drops,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3" name=""/>
          <p:cNvSpPr txBox="1"/>
          <p:nvPr/>
        </p:nvSpPr>
        <p:spPr>
          <a:xfrm>
            <a:off x="747720" y="2637520"/>
            <a:ext cx="493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resume from the last received event.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2" name=""/>
          <p:cNvSpPr txBox="1"/>
          <p:nvPr/>
        </p:nvSpPr>
        <p:spPr>
          <a:xfrm>
            <a:off x="743712" y="850000"/>
            <a:ext cx="5991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8.2 — Stream with curl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7" name=""/>
          <p:cNvSpPr txBox="1"/>
          <p:nvPr/>
        </p:nvSpPr>
        <p:spPr>
          <a:xfrm>
            <a:off x="747720" y="2618440"/>
            <a:ext cx="3304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Parse lines starting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8" name=""/>
          <p:cNvSpPr txBox="1"/>
          <p:nvPr/>
        </p:nvSpPr>
        <p:spPr>
          <a:xfrm>
            <a:off x="4119480" y="387904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event: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0" name=""/>
          <p:cNvSpPr txBox="1"/>
          <p:nvPr/>
        </p:nvSpPr>
        <p:spPr>
          <a:xfrm>
            <a:off x="743712" y="3038640"/>
            <a:ext cx="67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1" name=""/>
          <p:cNvSpPr txBox="1"/>
          <p:nvPr/>
        </p:nvSpPr>
        <p:spPr>
          <a:xfrm>
            <a:off x="743712" y="423372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data: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2" name=""/>
          <p:cNvSpPr txBox="1"/>
          <p:nvPr/>
        </p:nvSpPr>
        <p:spPr>
          <a:xfrm>
            <a:off x="6662160" y="3458840"/>
            <a:ext cx="437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print assistant text, tool calls,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3" name=""/>
          <p:cNvSpPr txBox="1"/>
          <p:nvPr/>
        </p:nvSpPr>
        <p:spPr>
          <a:xfrm>
            <a:off x="747720" y="4588400"/>
            <a:ext cx="2322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result status.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7" name="TextBox 11066"/>
          <p:cNvSpPr txBox="1"/>
          <p:nvPr/>
        </p:nvSpPr>
        <p:spPr>
          <a:xfrm>
            <a:off x="743712" y="1442440"/>
            <a:ext cx="92341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-N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"Accept: text/event-stream"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"https://api.cursor.com/v1/agents/$AGENT_ID/runs/$RUN_ID/stream"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2" name=""/>
          <p:cNvSpPr txBox="1"/>
          <p:nvPr/>
        </p:nvSpPr>
        <p:spPr>
          <a:xfrm>
            <a:off x="743712" y="850000"/>
            <a:ext cx="6364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8.2 — Python SSE 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6" name="TextBox 11085"/>
          <p:cNvSpPr txBox="1"/>
          <p:nvPr/>
        </p:nvSpPr>
        <p:spPr>
          <a:xfrm>
            <a:off x="743712" y="1442440"/>
            <a:ext cx="86855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stream_agent_response(agent_id, run_id, on_event=None):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url = f"{BASE_URL}/agents/{agent_id}/runs/{run_id}/stream"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requests.get(url, auth=AUTH, stream=True)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for line in response.iter_lines():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line.startswith(b'event:'):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current_event = line[6:].strip().decode()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elif line.startswith(b'data:'):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data = json.loads(line[5:].strip())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if on_event: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on_event(current_event, data)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" name=""/>
          <p:cNvSpPr txBox="1"/>
          <p:nvPr/>
        </p:nvSpPr>
        <p:spPr>
          <a:xfrm>
            <a:off x="743712" y="144920"/>
            <a:ext cx="691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8.2 — ResumableSSEClient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1" name=""/>
          <p:cNvSpPr txBox="1"/>
          <p:nvPr/>
        </p:nvSpPr>
        <p:spPr>
          <a:xfrm>
            <a:off x="747720" y="737360"/>
            <a:ext cx="847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2" name=""/>
          <p:cNvSpPr txBox="1"/>
          <p:nvPr/>
        </p:nvSpPr>
        <p:spPr>
          <a:xfrm>
            <a:off x="1651680" y="241816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last_event_id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4" name=""/>
          <p:cNvSpPr txBox="1"/>
          <p:nvPr/>
        </p:nvSpPr>
        <p:spPr>
          <a:xfrm>
            <a:off x="3680640" y="1157560"/>
            <a:ext cx="779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from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5" name=""/>
          <p:cNvSpPr txBox="1"/>
          <p:nvPr/>
        </p:nvSpPr>
        <p:spPr>
          <a:xfrm>
            <a:off x="4528080" y="2772840"/>
            <a:ext cx="4532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id: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7" name=""/>
          <p:cNvSpPr txBox="1"/>
          <p:nvPr/>
        </p:nvSpPr>
        <p:spPr>
          <a:xfrm>
            <a:off x="743712" y="1577760"/>
            <a:ext cx="2338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lines → send as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8" name=""/>
          <p:cNvSpPr txBox="1"/>
          <p:nvPr/>
        </p:nvSpPr>
        <p:spPr>
          <a:xfrm>
            <a:off x="7455600" y="312752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Last-Event-ID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9" name=""/>
          <p:cNvSpPr txBox="1"/>
          <p:nvPr/>
        </p:nvSpPr>
        <p:spPr>
          <a:xfrm>
            <a:off x="9484920" y="1997960"/>
            <a:ext cx="145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header 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0" name=""/>
          <p:cNvSpPr txBox="1"/>
          <p:nvPr/>
        </p:nvSpPr>
        <p:spPr>
          <a:xfrm>
            <a:off x="747720" y="3482200"/>
            <a:ext cx="133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reconnect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2" name=""/>
          <p:cNvSpPr txBox="1"/>
          <p:nvPr/>
        </p:nvSpPr>
        <p:spPr>
          <a:xfrm>
            <a:off x="747720" y="3902400"/>
            <a:ext cx="847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Also: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3" name=""/>
          <p:cNvSpPr txBox="1"/>
          <p:nvPr/>
        </p:nvSpPr>
        <p:spPr>
          <a:xfrm>
            <a:off x="1662840" y="474280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stream_to_file()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4" name=""/>
          <p:cNvSpPr txBox="1"/>
          <p:nvPr/>
        </p:nvSpPr>
        <p:spPr>
          <a:xfrm>
            <a:off x="743712" y="4322600"/>
            <a:ext cx="4625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saves full SSE log for later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5" name=""/>
          <p:cNvSpPr txBox="1"/>
          <p:nvPr/>
        </p:nvSpPr>
        <p:spPr>
          <a:xfrm>
            <a:off x="743712" y="5097480"/>
            <a:ext cx="1053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Stream connected · received events · Python client works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6" name=""/>
          <p:cNvSpPr txBox="1"/>
          <p:nvPr/>
        </p:nvSpPr>
        <p:spPr>
          <a:xfrm>
            <a:off x="747720" y="5517680"/>
            <a:ext cx="2846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resume implemented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4" name=""/>
          <p:cNvSpPr txBox="1"/>
          <p:nvPr/>
        </p:nvSpPr>
        <p:spPr>
          <a:xfrm>
            <a:off x="3166140" y="3331520"/>
            <a:ext cx="5859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and Downloading Artifacts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5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4" name=""/>
          <p:cNvSpPr txBox="1"/>
          <p:nvPr/>
        </p:nvSpPr>
        <p:spPr>
          <a:xfrm>
            <a:off x="743712" y="850000"/>
            <a:ext cx="2774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6" name=""/>
          <p:cNvSpPr txBox="1"/>
          <p:nvPr/>
        </p:nvSpPr>
        <p:spPr>
          <a:xfrm>
            <a:off x="747720" y="2769240"/>
            <a:ext cx="7165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Important: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Download URLs expire after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 minutes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180" name="Table 11179"/>
          <p:cNvGraphicFramePr>
            <a:graphicFrameLocks noGrp="1"/>
          </p:cNvGraphicFramePr>
          <p:nvPr/>
        </p:nvGraphicFramePr>
        <p:xfrm>
          <a:off x="743712" y="1442440"/>
          <a:ext cx="787620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320"/>
                <a:gridCol w="776280"/>
                <a:gridCol w="33366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/v1/agents/{id}/artifacts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 all 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/v1/agents/{id}/artifacts/download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Get presigned URL for download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5" name=""/>
          <p:cNvSpPr txBox="1"/>
          <p:nvPr/>
        </p:nvSpPr>
        <p:spPr>
          <a:xfrm>
            <a:off x="743712" y="850000"/>
            <a:ext cx="4955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8.3 — Wait &amp; 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8" name="TextBox 11197"/>
          <p:cNvSpPr txBox="1"/>
          <p:nvPr/>
        </p:nvSpPr>
        <p:spPr>
          <a:xfrm>
            <a:off x="743712" y="1442440"/>
            <a:ext cx="1097280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wait_for_completion(agent_id, timeout=300, poll_interval=5):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while time.time() - start &lt; timeout: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status = get_agent_status(agent_id).get('status')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status == 'FINISHED': return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elif status == 'ERROR': return False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time.sleep(poll_interval)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list_artifacts(agent_id):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requests.get(f"{BASE_URL}/agents/{agent_id}/artifacts", auth=AUTH)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response.json().get('items', [])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3" name=""/>
          <p:cNvSpPr txBox="1"/>
          <p:nvPr/>
        </p:nvSpPr>
        <p:spPr>
          <a:xfrm>
            <a:off x="743712" y="850000"/>
            <a:ext cx="4801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8.3 — Download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4" name=""/>
          <p:cNvSpPr txBox="1"/>
          <p:nvPr/>
        </p:nvSpPr>
        <p:spPr>
          <a:xfrm>
            <a:off x="747720" y="1442440"/>
            <a:ext cx="211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Single artifact: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1" name=""/>
          <p:cNvSpPr txBox="1"/>
          <p:nvPr/>
        </p:nvSpPr>
        <p:spPr>
          <a:xfrm>
            <a:off x="743712" y="3953040"/>
            <a:ext cx="10131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All artifacts: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loop items, create subdirs, download each via presigned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5" name="TextBox 11214"/>
          <p:cNvSpPr txBox="1"/>
          <p:nvPr/>
        </p:nvSpPr>
        <p:spPr>
          <a:xfrm>
            <a:off x="923760" y="1862640"/>
            <a:ext cx="77254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requests.get(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f"{BASE_URL}/agents/{agent_id}/artifacts/download",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auth=AUTH, params={"path": artifact_path}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download_url = response.json().get('url')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curl download_url → save to disk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0" name=""/>
          <p:cNvSpPr txBox="1"/>
          <p:nvPr/>
        </p:nvSpPr>
        <p:spPr>
          <a:xfrm>
            <a:off x="743712" y="850000"/>
            <a:ext cx="5461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8.3 — CI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5" name=""/>
          <p:cNvSpPr txBox="1"/>
          <p:nvPr/>
        </p:nvSpPr>
        <p:spPr>
          <a:xfrm>
            <a:off x="743712" y="2923240"/>
            <a:ext cx="9835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Listed artifacts · downloaded single + all · CI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6" name=""/>
          <p:cNvSpPr txBox="1"/>
          <p:nvPr/>
        </p:nvSpPr>
        <p:spPr>
          <a:xfrm>
            <a:off x="747720" y="3343440"/>
            <a:ext cx="142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0" name="TextBox 11229"/>
          <p:cNvSpPr txBox="1"/>
          <p:nvPr/>
        </p:nvSpPr>
        <p:spPr>
          <a:xfrm>
            <a:off x="743712" y="1442440"/>
            <a:ext cx="103314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process_test_results(agent_id):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wait_for_completion(agent_id, timeout=600)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download_artifact(agent_id, "artifacts/junit.xml", "test_results.xml")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# Parse XML → exit 1 if failures/errors, else exit 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4" name=""/>
          <p:cNvSpPr txBox="1"/>
          <p:nvPr/>
        </p:nvSpPr>
        <p:spPr>
          <a:xfrm>
            <a:off x="3452340" y="3331520"/>
            <a:ext cx="5287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Webhook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5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0" name=""/>
          <p:cNvSpPr txBox="1"/>
          <p:nvPr/>
        </p:nvSpPr>
        <p:spPr>
          <a:xfrm>
            <a:off x="743712" y="850000"/>
            <a:ext cx="3457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Webhook Headers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298" name="Table 11297"/>
          <p:cNvGraphicFramePr>
            <a:graphicFrameLocks noGrp="1"/>
          </p:cNvGraphicFramePr>
          <p:nvPr/>
        </p:nvGraphicFramePr>
        <p:xfrm>
          <a:off x="743712" y="1442440"/>
          <a:ext cx="635316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1900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Header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X-Webhook-Signature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HMAC-SHA256 signature for verification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X-Webhook-ID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Unique delivery ID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X-Webhook-Event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 type (statusChange)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3" name=""/>
          <p:cNvSpPr txBox="1"/>
          <p:nvPr/>
        </p:nvSpPr>
        <p:spPr>
          <a:xfrm>
            <a:off x="743712" y="850000"/>
            <a:ext cx="341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Webhook Payload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5" name="TextBox 11314"/>
          <p:cNvSpPr txBox="1"/>
          <p:nvPr/>
        </p:nvSpPr>
        <p:spPr>
          <a:xfrm>
            <a:off x="743712" y="1442440"/>
            <a:ext cx="991996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"event": "statusChange",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"id": "agent_abc123",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"status": "FINISHED",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"source": {"repository": "https://github.com/your-org/your-repo"},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"target": {"url": "...", "prUrl": "https://github.com/.../pull/123"},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"summary": "Added README.md and fixed tests"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0" name=""/>
          <p:cNvSpPr txBox="1"/>
          <p:nvPr/>
        </p:nvSpPr>
        <p:spPr>
          <a:xfrm>
            <a:off x="743712" y="850000"/>
            <a:ext cx="6364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8.4 — HMAC Verification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7" name=""/>
          <p:cNvSpPr txBox="1"/>
          <p:nvPr/>
        </p:nvSpPr>
        <p:spPr>
          <a:xfrm>
            <a:off x="743712" y="3532840"/>
            <a:ext cx="1021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Flask route: verify signature → parse payload → handle FINISHED/ERROR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1" name="TextBox 11330"/>
          <p:cNvSpPr txBox="1"/>
          <p:nvPr/>
        </p:nvSpPr>
        <p:spPr>
          <a:xfrm>
            <a:off x="923760" y="1442440"/>
            <a:ext cx="799972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verify_signature(raw_body, signature_header):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received = signature_header[7:]  # strip "sha256="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expected = hmac.new(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WEBHOOK_SECRET.encode(), raw_body, hashlib.sha256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).hexdigest()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hmac.compare_digest(expected, received)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6" name=""/>
          <p:cNvSpPr txBox="1"/>
          <p:nvPr/>
        </p:nvSpPr>
        <p:spPr>
          <a:xfrm>
            <a:off x="743712" y="850000"/>
            <a:ext cx="6012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8.4 — Configure Agent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7" name=""/>
          <p:cNvSpPr txBox="1"/>
          <p:nvPr/>
        </p:nvSpPr>
        <p:spPr>
          <a:xfrm>
            <a:off x="743712" y="4752040"/>
            <a:ext cx="10555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Server running · signature verified · payload parsed ·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8" name=""/>
          <p:cNvSpPr txBox="1"/>
          <p:nvPr/>
        </p:nvSpPr>
        <p:spPr>
          <a:xfrm>
            <a:off x="747720" y="5172240"/>
            <a:ext cx="142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2" name="TextBox 11351"/>
          <p:cNvSpPr txBox="1"/>
          <p:nvPr/>
        </p:nvSpPr>
        <p:spPr>
          <a:xfrm>
            <a:off x="743712" y="1442440"/>
            <a:ext cx="895984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https://api.cursor.com/v1/agents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"prompt": {"text": "Add a CONTRIBUTING.md file"},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"repos": [{"url": "https://github.com/YOUR_ORG/YOUR_REPO"}],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"webhookUrl": "https://your-domain.com/webhook/cursor",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"webhookSecret": "your-secret-here",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"autoCreatePR":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6" name=""/>
          <p:cNvSpPr txBox="1"/>
          <p:nvPr/>
        </p:nvSpPr>
        <p:spPr>
          <a:xfrm>
            <a:off x="2825040" y="3331520"/>
            <a:ext cx="6541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Testing Webhooks Locally with ngrok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7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4" name=""/>
          <p:cNvSpPr txBox="1"/>
          <p:nvPr/>
        </p:nvSpPr>
        <p:spPr>
          <a:xfrm>
            <a:off x="743712" y="850000"/>
            <a:ext cx="2862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ngrok?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6" name=""/>
          <p:cNvSpPr txBox="1"/>
          <p:nvPr/>
        </p:nvSpPr>
        <p:spPr>
          <a:xfrm>
            <a:off x="747720" y="1442440"/>
            <a:ext cx="8505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Creates a secure tunnel from a public URL to your local server.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8" name=""/>
          <p:cNvSpPr txBox="1"/>
          <p:nvPr/>
        </p:nvSpPr>
        <p:spPr>
          <a:xfrm>
            <a:off x="1357200" y="1862640"/>
            <a:ext cx="4490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webhooks without deploying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9" name=""/>
          <p:cNvSpPr txBox="1"/>
          <p:nvPr/>
        </p:nvSpPr>
        <p:spPr>
          <a:xfrm>
            <a:off x="1357200" y="2282840"/>
            <a:ext cx="506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Debug locally · Demo to stakeholders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0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8.5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1" name=""/>
          <p:cNvSpPr txBox="1"/>
          <p:nvPr/>
        </p:nvSpPr>
        <p:spPr>
          <a:xfrm>
            <a:off x="747720" y="1442440"/>
            <a:ext cx="274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tunnel: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4" name=""/>
          <p:cNvSpPr txBox="1"/>
          <p:nvPr/>
        </p:nvSpPr>
        <p:spPr>
          <a:xfrm>
            <a:off x="747720" y="2733840"/>
            <a:ext cx="3591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Copy HTTPS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5" name=""/>
          <p:cNvSpPr txBox="1"/>
          <p:nvPr/>
        </p:nvSpPr>
        <p:spPr>
          <a:xfrm>
            <a:off x="747720" y="3154040"/>
            <a:ext cx="511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agent with ngrok URL: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1" name="TextBox 11390"/>
          <p:cNvSpPr txBox="1"/>
          <p:nvPr/>
        </p:nvSpPr>
        <p:spPr>
          <a:xfrm>
            <a:off x="743712" y="18626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ngrok http 5000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Forwarding: https://abc123.ngrok.io -&gt; http://localhost:5000</a:t>
            </a:r>
          </a:p>
        </p:txBody>
      </p:sp>
      <p:sp>
        <p:nvSpPr>
          <p:cNvPr id="11392" name="TextBox 11391"/>
          <p:cNvSpPr txBox="1"/>
          <p:nvPr/>
        </p:nvSpPr>
        <p:spPr>
          <a:xfrm>
            <a:off x="743712" y="3574240"/>
            <a:ext cx="95084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https://api.cursor.com/v1/agents ...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'{"webhookUrl": "https://abc123.ngrok.io/webhook/cursor", ...}'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4" name=""/>
          <p:cNvSpPr txBox="1"/>
          <p:nvPr/>
        </p:nvSpPr>
        <p:spPr>
          <a:xfrm>
            <a:off x="743712" y="850000"/>
            <a:ext cx="6101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8.5 — Inspect &amp; Replay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6" name=""/>
          <p:cNvSpPr txBox="1"/>
          <p:nvPr/>
        </p:nvSpPr>
        <p:spPr>
          <a:xfrm>
            <a:off x="747720" y="1442440"/>
            <a:ext cx="376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Inspect requests at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7" name=""/>
          <p:cNvSpPr txBox="1"/>
          <p:nvPr/>
        </p:nvSpPr>
        <p:spPr>
          <a:xfrm>
            <a:off x="743712" y="18626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http://127.0.0.1:4040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8" name=""/>
          <p:cNvSpPr txBox="1"/>
          <p:nvPr/>
        </p:nvSpPr>
        <p:spPr>
          <a:xfrm>
            <a:off x="743712" y="2217320"/>
            <a:ext cx="999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Replay failed webhooks (ngrok premium) — inspect raw body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9" name=""/>
          <p:cNvSpPr txBox="1"/>
          <p:nvPr/>
        </p:nvSpPr>
        <p:spPr>
          <a:xfrm>
            <a:off x="747720" y="2637520"/>
            <a:ext cx="110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headers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0" name=""/>
          <p:cNvSpPr txBox="1"/>
          <p:nvPr/>
        </p:nvSpPr>
        <p:spPr>
          <a:xfrm>
            <a:off x="743712" y="3057720"/>
            <a:ext cx="10640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Tunnel established · webhook received · signature verified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1" name=""/>
          <p:cNvSpPr txBox="1"/>
          <p:nvPr/>
        </p:nvSpPr>
        <p:spPr>
          <a:xfrm>
            <a:off x="747720" y="3477920"/>
            <a:ext cx="286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inspected in ngrok UI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9" name=""/>
          <p:cNvSpPr txBox="1"/>
          <p:nvPr/>
        </p:nvSpPr>
        <p:spPr>
          <a:xfrm>
            <a:off x="2637840" y="3331520"/>
            <a:ext cx="691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End-to-End Automated Agent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0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7" name=""/>
          <p:cNvSpPr txBox="1"/>
          <p:nvPr/>
        </p:nvSpPr>
        <p:spPr>
          <a:xfrm>
            <a:off x="743712" y="850000"/>
            <a:ext cx="4777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Capstone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9" name=""/>
          <p:cNvSpPr txBox="1"/>
          <p:nvPr/>
        </p:nvSpPr>
        <p:spPr>
          <a:xfrm>
            <a:off x="747720" y="1442440"/>
            <a:ext cx="337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Combine everything into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0" name=""/>
          <p:cNvSpPr txBox="1"/>
          <p:nvPr/>
        </p:nvSpPr>
        <p:spPr>
          <a:xfrm>
            <a:off x="743712" y="22828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automated_workflow.py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1" name=""/>
          <p:cNvSpPr txBox="1"/>
          <p:nvPr/>
        </p:nvSpPr>
        <p:spPr>
          <a:xfrm>
            <a:off x="742356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2" name=""/>
          <p:cNvSpPr txBox="1"/>
          <p:nvPr/>
        </p:nvSpPr>
        <p:spPr>
          <a:xfrm>
            <a:off x="1018440" y="2637520"/>
            <a:ext cx="616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agent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(with optional webhook URL)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3" name=""/>
          <p:cNvSpPr txBox="1"/>
          <p:nvPr/>
        </p:nvSpPr>
        <p:spPr>
          <a:xfrm>
            <a:off x="1018440" y="3057720"/>
            <a:ext cx="601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Wait for completion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(webhook or polling)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4" name=""/>
          <p:cNvSpPr txBox="1"/>
          <p:nvPr/>
        </p:nvSpPr>
        <p:spPr>
          <a:xfrm>
            <a:off x="1018440" y="3477920"/>
            <a:ext cx="306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Download artifacts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5" name=""/>
          <p:cNvSpPr txBox="1"/>
          <p:nvPr/>
        </p:nvSpPr>
        <p:spPr>
          <a:xfrm>
            <a:off x="1018440" y="3898120"/>
            <a:ext cx="643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Process results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(CI exit codes, notifications)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4" name=""/>
          <p:cNvSpPr txBox="1"/>
          <p:nvPr/>
        </p:nvSpPr>
        <p:spPr>
          <a:xfrm>
            <a:off x="743712" y="850000"/>
            <a:ext cx="422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Workflow Architecture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2" name="TextBox 11441"/>
          <p:cNvSpPr txBox="1"/>
          <p:nvPr/>
        </p:nvSpPr>
        <p:spPr>
          <a:xfrm>
            <a:off x="743712" y="1442440"/>
            <a:ext cx="909700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create_agent() → wait (webhook OR polling) → download_artifacts()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↑                    ↑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Flask webhook server   completion_event.set()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(background thread)    on FINISHED status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7" name=""/>
          <p:cNvSpPr txBox="1"/>
          <p:nvPr/>
        </p:nvSpPr>
        <p:spPr>
          <a:xfrm>
            <a:off x="743712" y="850000"/>
            <a:ext cx="3368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Run the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8" name="TextBox 11457"/>
          <p:cNvSpPr txBox="1"/>
          <p:nvPr/>
        </p:nvSpPr>
        <p:spPr>
          <a:xfrm>
            <a:off x="743712" y="1442440"/>
            <a:ext cx="964564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CURSOR_USER_API_KEY="cursor_xxxxxxxxxxxx"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automated_workflow.py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--repo "https://github.com/YOUR_ORG/YOUR_REPO"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--prompt "Add a comprehensive README.md with setup and API docs"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--output "./outputs"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Polling only (no webhook):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automated_workflow.py --repo "..." --prompt "..." --no-webhook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" name=""/>
          <p:cNvSpPr txBox="1"/>
          <p:nvPr/>
        </p:nvSpPr>
        <p:spPr>
          <a:xfrm>
            <a:off x="743712" y="850000"/>
            <a:ext cx="3191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Workflow Output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9" name=""/>
          <p:cNvSpPr txBox="1"/>
          <p:nvPr/>
        </p:nvSpPr>
        <p:spPr>
          <a:xfrm>
            <a:off x="1176120" y="1442440"/>
            <a:ext cx="3741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CLOUD AGENT AUTOMATED WORKFLOW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3" name=""/>
          <p:cNvSpPr txBox="1"/>
          <p:nvPr/>
        </p:nvSpPr>
        <p:spPr>
          <a:xfrm>
            <a:off x="1176120" y="1742400"/>
            <a:ext cx="4706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Creating agent... Agent ID: agt_abc123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6" name=""/>
          <p:cNvSpPr txBox="1"/>
          <p:nvPr/>
        </p:nvSpPr>
        <p:spPr>
          <a:xfrm>
            <a:off x="1176120" y="2042360"/>
            <a:ext cx="3137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Waiting for completion...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8" name=""/>
          <p:cNvSpPr txBox="1"/>
          <p:nvPr/>
        </p:nvSpPr>
        <p:spPr>
          <a:xfrm>
            <a:off x="1176120" y="2342320"/>
            <a:ext cx="5430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Webhook received: Agent agt_abc123 completed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1" name=""/>
          <p:cNvSpPr txBox="1"/>
          <p:nvPr/>
        </p:nvSpPr>
        <p:spPr>
          <a:xfrm>
            <a:off x="1176120" y="2642280"/>
            <a:ext cx="4947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Downloaded 3 artifacts to agent_outputs/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2" name=""/>
          <p:cNvSpPr txBox="1"/>
          <p:nvPr/>
        </p:nvSpPr>
        <p:spPr>
          <a:xfrm>
            <a:off x="1176120" y="2942240"/>
            <a:ext cx="2172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WORKFLOW COMPLETE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3" name=""/>
          <p:cNvSpPr txBox="1"/>
          <p:nvPr/>
        </p:nvSpPr>
        <p:spPr>
          <a:xfrm>
            <a:off x="743712" y="3242200"/>
            <a:ext cx="965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Creates agent · waits (webhook/polling) · downloads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4" name=""/>
          <p:cNvSpPr txBox="1"/>
          <p:nvPr/>
        </p:nvSpPr>
        <p:spPr>
          <a:xfrm>
            <a:off x="747720" y="3662400"/>
            <a:ext cx="333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artifacts · end-to-end run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5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620" name="Table 11619"/>
          <p:cNvGraphicFramePr>
            <a:graphicFrameLocks noGrp="1"/>
          </p:cNvGraphicFramePr>
          <p:nvPr/>
        </p:nvGraphicFramePr>
        <p:xfrm>
          <a:off x="743712" y="1442440"/>
          <a:ext cx="723612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656640"/>
                <a:gridCol w="28032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Cloud 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Programmatic agent launch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Streaming Agent Responses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SSE with resume support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and Downloading 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CI pipeline integration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Webhook Endpoint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HMAC verification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Testing Webhooks with ngrok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Local tunnel debugging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End-to-End Workflow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Complete automation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5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8" name="TextBox 11637"/>
          <p:cNvSpPr txBox="1"/>
          <p:nvPr/>
        </p:nvSpPr>
        <p:spPr>
          <a:xfrm>
            <a:off x="743712" y="1442440"/>
            <a:ext cx="99199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POST /v1/agents                         Create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                    Get status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/v1/agents/{id}/runs/{id}/stream   SSE stream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/v1/agents/{id}/artifacts          List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/v1/agents/{id}/artifacts/download Download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WEBHOOK:  X-Webhook-Signature (HMAC-SHA256)  |  X-Webhook-Event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SSE:  status · assistant · thinking · tool_call · result · error · done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NGROK:  ngrok http 5000  |  inspect at http://127.0.0.1:4040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1" name=""/>
          <p:cNvSpPr txBox="1"/>
          <p:nvPr/>
        </p:nvSpPr>
        <p:spPr>
          <a:xfrm>
            <a:off x="3074160" y="2674620"/>
            <a:ext cx="604368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Admin and Analytics APIs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2" name=""/>
          <p:cNvSpPr txBox="1"/>
          <p:nvPr/>
        </p:nvSpPr>
        <p:spPr>
          <a:xfrm>
            <a:off x="1883820" y="3320740"/>
            <a:ext cx="8424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· Day 2 (Hands-On + Demonstrations)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3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~75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4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7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711" name="Table 11710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~75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demonstrations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 (not User key), Python 3.8+, Modules 7–8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team management, usage analytics, cost governance, and safe admin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4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6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8" name=""/>
          <p:cNvSpPr txBox="1"/>
          <p:nvPr/>
        </p:nvSpPr>
        <p:spPr>
          <a:xfrm>
            <a:off x="1357200" y="1862640"/>
            <a:ext cx="6777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 and manage team members programmatically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0" name=""/>
          <p:cNvSpPr txBox="1"/>
          <p:nvPr/>
        </p:nvSpPr>
        <p:spPr>
          <a:xfrm>
            <a:off x="743712" y="2282840"/>
            <a:ext cx="755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Retrieve daily usage data for cost tracking and reporting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2" name=""/>
          <p:cNvSpPr txBox="1"/>
          <p:nvPr/>
        </p:nvSpPr>
        <p:spPr>
          <a:xfrm>
            <a:off x="1357200" y="2703040"/>
            <a:ext cx="5964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Set user spend limits for budget governance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4" name=""/>
          <p:cNvSpPr txBox="1"/>
          <p:nvPr/>
        </p:nvSpPr>
        <p:spPr>
          <a:xfrm>
            <a:off x="1357200" y="3123240"/>
            <a:ext cx="6828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Analyze model usage for cost optimization insights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6" name=""/>
          <p:cNvSpPr txBox="1"/>
          <p:nvPr/>
        </p:nvSpPr>
        <p:spPr>
          <a:xfrm>
            <a:off x="1357200" y="3543440"/>
            <a:ext cx="6404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daily active users for leadership reporting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8" name=""/>
          <p:cNvSpPr txBox="1"/>
          <p:nvPr/>
        </p:nvSpPr>
        <p:spPr>
          <a:xfrm>
            <a:off x="743712" y="3963640"/>
            <a:ext cx="7641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responsible leaderboards without privacy violations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0" name=""/>
          <p:cNvSpPr txBox="1"/>
          <p:nvPr/>
        </p:nvSpPr>
        <p:spPr>
          <a:xfrm>
            <a:off x="743712" y="4383840"/>
            <a:ext cx="8065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Analyze conversation intent and complexity (demonstration)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1" name=""/>
          <p:cNvSpPr txBox="1"/>
          <p:nvPr/>
        </p:nvSpPr>
        <p:spPr>
          <a:xfrm>
            <a:off x="743712" y="4804040"/>
            <a:ext cx="9063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Safely remove team members with proper patterns (demonstration)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5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935" name="Table 11934"/>
          <p:cNvGraphicFramePr>
            <a:graphicFrameLocks noGrp="1"/>
          </p:cNvGraphicFramePr>
          <p:nvPr/>
        </p:nvGraphicFramePr>
        <p:xfrm>
          <a:off x="743712" y="1442440"/>
          <a:ext cx="566544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123240"/>
                <a:gridCol w="776280"/>
                <a:gridCol w="989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Team Members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Usage Data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Setting User Spend Limits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Usage Analytics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Active Users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Leaderboards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Conversation Insights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Destructive Admin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9" name=""/>
          <p:cNvSpPr txBox="1"/>
          <p:nvPr/>
        </p:nvSpPr>
        <p:spPr>
          <a:xfrm>
            <a:off x="4080720" y="3331520"/>
            <a:ext cx="4030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Team Members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0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8" name=""/>
          <p:cNvSpPr txBox="1"/>
          <p:nvPr/>
        </p:nvSpPr>
        <p:spPr>
          <a:xfrm>
            <a:off x="743712" y="850000"/>
            <a:ext cx="449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User vs. Admin API Key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9" name=""/>
          <p:cNvSpPr txBox="1"/>
          <p:nvPr/>
        </p:nvSpPr>
        <p:spPr>
          <a:xfrm>
            <a:off x="747720" y="4016040"/>
            <a:ext cx="211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endpoint: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0" name=""/>
          <p:cNvSpPr txBox="1"/>
          <p:nvPr/>
        </p:nvSpPr>
        <p:spPr>
          <a:xfrm>
            <a:off x="2932920" y="44362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/v1/admin/members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064" name="Table 12063"/>
          <p:cNvGraphicFramePr>
            <a:graphicFrameLocks noGrp="1"/>
          </p:cNvGraphicFramePr>
          <p:nvPr/>
        </p:nvGraphicFramePr>
        <p:xfrm>
          <a:off x="743712" y="1442440"/>
          <a:ext cx="62760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160"/>
                <a:gridCol w="1629720"/>
                <a:gridCol w="2163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Admin API Key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user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Entire organization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list members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view others' usage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modify policies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cursor_xxx...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cursor_admin_xxx...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9" name=""/>
          <p:cNvSpPr txBox="1"/>
          <p:nvPr/>
        </p:nvSpPr>
        <p:spPr>
          <a:xfrm>
            <a:off x="743712" y="850000"/>
            <a:ext cx="5220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9.1 — Setup &amp; 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0" name="TextBox 12079"/>
          <p:cNvSpPr txBox="1"/>
          <p:nvPr/>
        </p:nvSpPr>
        <p:spPr>
          <a:xfrm>
            <a:off x="923760" y="1442440"/>
            <a:ext cx="772540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CURSOR_ADMIN_API_KEY="cursor_admin_xxxxxxxxxxxx"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Verify admin access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https://api.cursor.com/v1/admin/organization | jq '.'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List all team members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"https://api.cursor.com/v1/admin/members" | jq '.'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5" name=""/>
          <p:cNvSpPr txBox="1"/>
          <p:nvPr/>
        </p:nvSpPr>
        <p:spPr>
          <a:xfrm>
            <a:off x="743712" y="403280"/>
            <a:ext cx="6694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9.1 — Pagination &amp; Export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6" name=""/>
          <p:cNvSpPr txBox="1"/>
          <p:nvPr/>
        </p:nvSpPr>
        <p:spPr>
          <a:xfrm>
            <a:off x="747720" y="995720"/>
            <a:ext cx="166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Pagination: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0" name=""/>
          <p:cNvSpPr txBox="1"/>
          <p:nvPr/>
        </p:nvSpPr>
        <p:spPr>
          <a:xfrm>
            <a:off x="747720" y="2287120"/>
            <a:ext cx="6556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loop with offset until empty → export to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1" name=""/>
          <p:cNvSpPr txBox="1"/>
          <p:nvPr/>
        </p:nvSpPr>
        <p:spPr>
          <a:xfrm>
            <a:off x="7366320" y="3127520"/>
            <a:ext cx="2262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team_roster.csv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2" name=""/>
          <p:cNvSpPr txBox="1"/>
          <p:nvPr/>
        </p:nvSpPr>
        <p:spPr>
          <a:xfrm>
            <a:off x="9696960" y="2707320"/>
            <a:ext cx="167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(email, role,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3" name=""/>
          <p:cNvSpPr txBox="1"/>
          <p:nvPr/>
        </p:nvSpPr>
        <p:spPr>
          <a:xfrm>
            <a:off x="747720" y="3482200"/>
            <a:ext cx="3660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status, joined, lastActiveAt)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5" name=""/>
          <p:cNvSpPr txBox="1"/>
          <p:nvPr/>
        </p:nvSpPr>
        <p:spPr>
          <a:xfrm>
            <a:off x="747720" y="3902400"/>
            <a:ext cx="113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Helper: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6" name=""/>
          <p:cNvSpPr txBox="1"/>
          <p:nvPr/>
        </p:nvSpPr>
        <p:spPr>
          <a:xfrm>
            <a:off x="1950840" y="4742800"/>
            <a:ext cx="40730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get_user_id_by_email(email)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7" name=""/>
          <p:cNvSpPr txBox="1"/>
          <p:nvPr/>
        </p:nvSpPr>
        <p:spPr>
          <a:xfrm>
            <a:off x="6091560" y="4322600"/>
            <a:ext cx="3795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downstream admin calls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8" name=""/>
          <p:cNvSpPr txBox="1"/>
          <p:nvPr/>
        </p:nvSpPr>
        <p:spPr>
          <a:xfrm>
            <a:off x="743712" y="5097480"/>
            <a:ext cx="981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Authenticated · listed members · handled pagination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9" name=""/>
          <p:cNvSpPr txBox="1"/>
          <p:nvPr/>
        </p:nvSpPr>
        <p:spPr>
          <a:xfrm>
            <a:off x="747720" y="5517680"/>
            <a:ext cx="189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exported CSV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3" name="TextBox 12102"/>
          <p:cNvSpPr txBox="1"/>
          <p:nvPr/>
        </p:nvSpPr>
        <p:spPr>
          <a:xfrm>
            <a:off x="743712" y="1415920"/>
            <a:ext cx="85483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"https://api.cursor.com/v1/admin/members?limit=10&amp;offset=0"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7" name=""/>
          <p:cNvSpPr txBox="1"/>
          <p:nvPr/>
        </p:nvSpPr>
        <p:spPr>
          <a:xfrm>
            <a:off x="4553940" y="3331520"/>
            <a:ext cx="3084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Daily Usage Data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8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7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8" name=""/>
          <p:cNvSpPr txBox="1"/>
          <p:nvPr/>
        </p:nvSpPr>
        <p:spPr>
          <a:xfrm>
            <a:off x="816120" y="1442440"/>
            <a:ext cx="52794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/v1/admin/analytics/usage/daily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0" name=""/>
          <p:cNvSpPr txBox="1"/>
          <p:nvPr/>
        </p:nvSpPr>
        <p:spPr>
          <a:xfrm>
            <a:off x="747720" y="1797120"/>
            <a:ext cx="125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Returns: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2" name=""/>
          <p:cNvSpPr txBox="1"/>
          <p:nvPr/>
        </p:nvSpPr>
        <p:spPr>
          <a:xfrm>
            <a:off x="1357200" y="2217320"/>
            <a:ext cx="5422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Cost per day · Input/output token counts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3" name=""/>
          <p:cNvSpPr txBox="1"/>
          <p:nvPr/>
        </p:nvSpPr>
        <p:spPr>
          <a:xfrm>
            <a:off x="743712" y="2637520"/>
            <a:ext cx="850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Active users per day · Breakdown by user and model (optional)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4" name=""/>
          <p:cNvSpPr txBox="1"/>
          <p:nvPr/>
        </p:nvSpPr>
        <p:spPr>
          <a:xfrm>
            <a:off x="743712" y="3057720"/>
            <a:ext cx="952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"Finance asks: 'What did we spend yesterday?' Engineering leads 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5" name=""/>
          <p:cNvSpPr txBox="1"/>
          <p:nvPr/>
        </p:nvSpPr>
        <p:spPr>
          <a:xfrm>
            <a:off x="1090440" y="3477920"/>
            <a:ext cx="277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'Who's using what?'"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4" name=""/>
          <p:cNvSpPr txBox="1"/>
          <p:nvPr/>
        </p:nvSpPr>
        <p:spPr>
          <a:xfrm>
            <a:off x="743712" y="850000"/>
            <a:ext cx="5573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9.2 — Weekly Usage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3" name="TextBox 12142"/>
          <p:cNvSpPr txBox="1"/>
          <p:nvPr/>
        </p:nvSpPr>
        <p:spPr>
          <a:xfrm>
            <a:off x="743712" y="1442440"/>
            <a:ext cx="10972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END=$(date +%Y-%m-%d)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START=$(date -d "7 days ago" +%Y-%m-%d)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"https://api.cursor.com/v1/admin/analytics/usage/daily?startDate=$START&amp;endDate=$END"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'.daily[] | {date: .date, cost: .cost, tokens: .totalTokens, users: .activeUsers}'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6" name=""/>
          <p:cNvSpPr txBox="1"/>
          <p:nvPr/>
        </p:nvSpPr>
        <p:spPr>
          <a:xfrm>
            <a:off x="743712" y="850000"/>
            <a:ext cx="5175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9.2 — Cost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8" name=""/>
          <p:cNvSpPr txBox="1"/>
          <p:nvPr/>
        </p:nvSpPr>
        <p:spPr>
          <a:xfrm>
            <a:off x="747720" y="1442440"/>
            <a:ext cx="10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9" name=""/>
          <p:cNvSpPr txBox="1"/>
          <p:nvPr/>
        </p:nvSpPr>
        <p:spPr>
          <a:xfrm>
            <a:off x="1849680" y="2282840"/>
            <a:ext cx="33188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generate_cost_report()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1" name=""/>
          <p:cNvSpPr txBox="1"/>
          <p:nvPr/>
        </p:nvSpPr>
        <p:spPr>
          <a:xfrm>
            <a:off x="743712" y="1862640"/>
            <a:ext cx="223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last 30 days: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3" name=""/>
          <p:cNvSpPr txBox="1"/>
          <p:nvPr/>
        </p:nvSpPr>
        <p:spPr>
          <a:xfrm>
            <a:off x="1357200" y="2637520"/>
            <a:ext cx="6709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Total cost · total tokens · average daily cost/users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5" name=""/>
          <p:cNvSpPr txBox="1"/>
          <p:nvPr/>
        </p:nvSpPr>
        <p:spPr>
          <a:xfrm>
            <a:off x="1357200" y="3057720"/>
            <a:ext cx="6234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Week-over-week change · top 5 costliest days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7" name=""/>
          <p:cNvSpPr txBox="1"/>
          <p:nvPr/>
        </p:nvSpPr>
        <p:spPr>
          <a:xfrm>
            <a:off x="1357200" y="3477920"/>
            <a:ext cx="491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Daily breakdown table (last 14 days)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8" name=""/>
          <p:cNvSpPr txBox="1"/>
          <p:nvPr/>
        </p:nvSpPr>
        <p:spPr>
          <a:xfrm>
            <a:off x="1357200" y="3898120"/>
            <a:ext cx="532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Budget alerts at $300 / $500 thresholds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9" name=""/>
          <p:cNvSpPr txBox="1"/>
          <p:nvPr/>
        </p:nvSpPr>
        <p:spPr>
          <a:xfrm>
            <a:off x="743712" y="4318320"/>
            <a:ext cx="964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date range · calculated trends · generated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0" name=""/>
          <p:cNvSpPr txBox="1"/>
          <p:nvPr/>
        </p:nvSpPr>
        <p:spPr>
          <a:xfrm>
            <a:off x="747720" y="4738520"/>
            <a:ext cx="206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readable report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3" name=""/>
          <p:cNvSpPr txBox="1"/>
          <p:nvPr/>
        </p:nvSpPr>
        <p:spPr>
          <a:xfrm>
            <a:off x="1154160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8" name=""/>
          <p:cNvSpPr txBox="1"/>
          <p:nvPr/>
        </p:nvSpPr>
        <p:spPr>
          <a:xfrm>
            <a:off x="3805140" y="3331520"/>
            <a:ext cx="4581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Setting User Spend Limits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9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6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7" name=""/>
          <p:cNvSpPr txBox="1"/>
          <p:nvPr/>
        </p:nvSpPr>
        <p:spPr>
          <a:xfrm>
            <a:off x="816120" y="1442440"/>
            <a:ext cx="69386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PATCH /v1/admin/policies/users/{userId}/limits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8" name=""/>
          <p:cNvSpPr txBox="1"/>
          <p:nvPr/>
        </p:nvSpPr>
        <p:spPr>
          <a:xfrm>
            <a:off x="3564360" y="1797120"/>
            <a:ext cx="6832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0" name=""/>
          <p:cNvSpPr txBox="1"/>
          <p:nvPr/>
        </p:nvSpPr>
        <p:spPr>
          <a:xfrm>
            <a:off x="743712" y="2123000"/>
            <a:ext cx="9399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Behavior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1" name=""/>
          <p:cNvSpPr txBox="1"/>
          <p:nvPr/>
        </p:nvSpPr>
        <p:spPr>
          <a:xfrm>
            <a:off x="3613680" y="2774760"/>
            <a:ext cx="54540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alert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3" name=""/>
          <p:cNvSpPr txBox="1"/>
          <p:nvPr/>
        </p:nvSpPr>
        <p:spPr>
          <a:xfrm>
            <a:off x="743712" y="2448880"/>
            <a:ext cx="3209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Send notification but allow usage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4" name=""/>
          <p:cNvSpPr txBox="1"/>
          <p:nvPr/>
        </p:nvSpPr>
        <p:spPr>
          <a:xfrm>
            <a:off x="3613680" y="3379360"/>
            <a:ext cx="54540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block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5" name=""/>
          <p:cNvSpPr txBox="1"/>
          <p:nvPr/>
        </p:nvSpPr>
        <p:spPr>
          <a:xfrm>
            <a:off x="743712" y="3053480"/>
            <a:ext cx="4123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Prevent any further requests for the month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4" name=""/>
          <p:cNvSpPr txBox="1"/>
          <p:nvPr/>
        </p:nvSpPr>
        <p:spPr>
          <a:xfrm>
            <a:off x="743712" y="850000"/>
            <a:ext cx="4802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9.3 — Set Limits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2" name=""/>
          <p:cNvSpPr txBox="1"/>
          <p:nvPr/>
        </p:nvSpPr>
        <p:spPr>
          <a:xfrm>
            <a:off x="747720" y="3837640"/>
            <a:ext cx="269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Check current limit: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3" name=""/>
          <p:cNvSpPr txBox="1"/>
          <p:nvPr/>
        </p:nvSpPr>
        <p:spPr>
          <a:xfrm>
            <a:off x="743712" y="4257840"/>
            <a:ext cx="5731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.../policies/users/{userId}/limits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7" name="TextBox 12236"/>
          <p:cNvSpPr txBox="1"/>
          <p:nvPr/>
        </p:nvSpPr>
        <p:spPr>
          <a:xfrm>
            <a:off x="743712" y="1442440"/>
            <a:ext cx="1019428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USER_ID=$(curl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"https://api.cursor.com/v1/admin/members?email=developer@company.com"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-r '.members[0].id')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PATCH ".../policies/users/$USER_ID/limits"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'{"monthlyLimit": 50.00, "exceedanceAction": "block"}'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2" name=""/>
          <p:cNvSpPr txBox="1"/>
          <p:nvPr/>
        </p:nvSpPr>
        <p:spPr>
          <a:xfrm>
            <a:off x="743712" y="850000"/>
            <a:ext cx="5043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9.3 — Bulk Limits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4" name=""/>
          <p:cNvSpPr txBox="1"/>
          <p:nvPr/>
        </p:nvSpPr>
        <p:spPr>
          <a:xfrm>
            <a:off x="747720" y="1442440"/>
            <a:ext cx="204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CSV bulk set: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5" name=""/>
          <p:cNvSpPr txBox="1"/>
          <p:nvPr/>
        </p:nvSpPr>
        <p:spPr>
          <a:xfrm>
            <a:off x="2865600" y="1862640"/>
            <a:ext cx="4223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email, monthly_limit, action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0" name=""/>
          <p:cNvSpPr txBox="1"/>
          <p:nvPr/>
        </p:nvSpPr>
        <p:spPr>
          <a:xfrm>
            <a:off x="747720" y="3393320"/>
            <a:ext cx="352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Find heavy users: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query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1" name=""/>
          <p:cNvSpPr txBox="1"/>
          <p:nvPr/>
        </p:nvSpPr>
        <p:spPr>
          <a:xfrm>
            <a:off x="743712" y="4233720"/>
            <a:ext cx="33188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/analytics/usage/users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2" name=""/>
          <p:cNvSpPr txBox="1"/>
          <p:nvPr/>
        </p:nvSpPr>
        <p:spPr>
          <a:xfrm>
            <a:off x="7726320" y="3813520"/>
            <a:ext cx="3456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current month → filter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3" name=""/>
          <p:cNvSpPr txBox="1"/>
          <p:nvPr/>
        </p:nvSpPr>
        <p:spPr>
          <a:xfrm>
            <a:off x="747720" y="4588400"/>
            <a:ext cx="216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cost &gt; threshold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4" name=""/>
          <p:cNvSpPr txBox="1"/>
          <p:nvPr/>
        </p:nvSpPr>
        <p:spPr>
          <a:xfrm>
            <a:off x="743712" y="5008600"/>
            <a:ext cx="9317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user ID · set limit · verified · bulk setting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5" name=""/>
          <p:cNvSpPr txBox="1"/>
          <p:nvPr/>
        </p:nvSpPr>
        <p:spPr>
          <a:xfrm>
            <a:off x="747720" y="5428800"/>
            <a:ext cx="174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9" name="TextBox 12258"/>
          <p:cNvSpPr txBox="1"/>
          <p:nvPr/>
        </p:nvSpPr>
        <p:spPr>
          <a:xfrm>
            <a:off x="923760" y="2217320"/>
            <a:ext cx="44335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intern@company.com,20,block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contractor@company.com,50,alert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lead@company.com,200,alert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3" name=""/>
          <p:cNvSpPr txBox="1"/>
          <p:nvPr/>
        </p:nvSpPr>
        <p:spPr>
          <a:xfrm>
            <a:off x="4080540" y="3331520"/>
            <a:ext cx="4030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Model Usage Analytics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4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3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4" name=""/>
          <p:cNvSpPr txBox="1"/>
          <p:nvPr/>
        </p:nvSpPr>
        <p:spPr>
          <a:xfrm>
            <a:off x="816120" y="1442440"/>
            <a:ext cx="54302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/v1/admin/analytics/usage/models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5" name=""/>
          <p:cNvSpPr txBox="1"/>
          <p:nvPr/>
        </p:nvSpPr>
        <p:spPr>
          <a:xfrm>
            <a:off x="743712" y="1797120"/>
            <a:ext cx="973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"Which models are actually being used? Is Opus worth the cost? Should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6" name=""/>
          <p:cNvSpPr txBox="1"/>
          <p:nvPr/>
        </p:nvSpPr>
        <p:spPr>
          <a:xfrm>
            <a:off x="1090440" y="2217320"/>
            <a:ext cx="570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train people on cheaper alternatives?"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5" name=""/>
          <p:cNvSpPr txBox="1"/>
          <p:nvPr/>
        </p:nvSpPr>
        <p:spPr>
          <a:xfrm>
            <a:off x="743712" y="850000"/>
            <a:ext cx="6298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9.4 — Model Breakdown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6" name="TextBox 12295"/>
          <p:cNvSpPr txBox="1"/>
          <p:nvPr/>
        </p:nvSpPr>
        <p:spPr>
          <a:xfrm>
            <a:off x="743712" y="1442440"/>
            <a:ext cx="1060576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".../analytics/usage/models?startDate=$START&amp;endDate=$END"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'.models[] | {model: .modelId, cost: .cost, requests: .requestCount}'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Find Opus overuse per user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".../analytics/usage/users?startDate=$START&amp;endDate=$END"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'.users[] | select(.modelBreakdown."claude-4.7-opus" != null)'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0" name=""/>
          <p:cNvSpPr txBox="1"/>
          <p:nvPr/>
        </p:nvSpPr>
        <p:spPr>
          <a:xfrm>
            <a:off x="743712" y="850000"/>
            <a:ext cx="6694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9.4 — Optimization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1" name=""/>
          <p:cNvSpPr txBox="1"/>
          <p:nvPr/>
        </p:nvSpPr>
        <p:spPr>
          <a:xfrm>
            <a:off x="816120" y="1862640"/>
            <a:ext cx="4525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generate_optimization_report()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3" name=""/>
          <p:cNvSpPr txBox="1"/>
          <p:nvPr/>
        </p:nvSpPr>
        <p:spPr>
          <a:xfrm>
            <a:off x="743712" y="14424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5" name=""/>
          <p:cNvSpPr txBox="1"/>
          <p:nvPr/>
        </p:nvSpPr>
        <p:spPr>
          <a:xfrm>
            <a:off x="1357200" y="2217320"/>
            <a:ext cx="460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cost breakdown (% of total)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7" name=""/>
          <p:cNvSpPr txBox="1"/>
          <p:nvPr/>
        </p:nvSpPr>
        <p:spPr>
          <a:xfrm>
            <a:off x="743712" y="2637520"/>
            <a:ext cx="847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Users on Claude Opus → suggest Sonnet for non-critical tasks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9" name=""/>
          <p:cNvSpPr txBox="1"/>
          <p:nvPr/>
        </p:nvSpPr>
        <p:spPr>
          <a:xfrm>
            <a:off x="743712" y="3057720"/>
            <a:ext cx="835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Sonnet usage → suggest GPT-5.3 Codex (40% savings)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0" name=""/>
          <p:cNvSpPr txBox="1"/>
          <p:nvPr/>
        </p:nvSpPr>
        <p:spPr>
          <a:xfrm>
            <a:off x="1357200" y="3477920"/>
            <a:ext cx="6388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Estimated monthly savings if guidelines applied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1" name=""/>
          <p:cNvSpPr txBox="1"/>
          <p:nvPr/>
        </p:nvSpPr>
        <p:spPr>
          <a:xfrm>
            <a:off x="743712" y="3898120"/>
            <a:ext cx="1033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model breakdown · identified expensive users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2" name=""/>
          <p:cNvSpPr txBox="1"/>
          <p:nvPr/>
        </p:nvSpPr>
        <p:spPr>
          <a:xfrm>
            <a:off x="747720" y="4318320"/>
            <a:ext cx="3880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generated recommendations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0" name=""/>
          <p:cNvSpPr txBox="1"/>
          <p:nvPr/>
        </p:nvSpPr>
        <p:spPr>
          <a:xfrm>
            <a:off x="3883080" y="3331520"/>
            <a:ext cx="4425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Daily Active Users (DAU)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1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Exercise · 6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9" name=""/>
          <p:cNvSpPr txBox="1"/>
          <p:nvPr/>
        </p:nvSpPr>
        <p:spPr>
          <a:xfrm>
            <a:off x="743712" y="850000"/>
            <a:ext cx="3324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DAU Matters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1" name=""/>
          <p:cNvSpPr txBox="1"/>
          <p:nvPr/>
        </p:nvSpPr>
        <p:spPr>
          <a:xfrm>
            <a:off x="1357200" y="1442440"/>
            <a:ext cx="362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adoption after rollout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3" name=""/>
          <p:cNvSpPr txBox="1"/>
          <p:nvPr/>
        </p:nvSpPr>
        <p:spPr>
          <a:xfrm>
            <a:off x="1357200" y="1862640"/>
            <a:ext cx="533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Identify unused licenses for reallocation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5" name=""/>
          <p:cNvSpPr txBox="1"/>
          <p:nvPr/>
        </p:nvSpPr>
        <p:spPr>
          <a:xfrm>
            <a:off x="1357200" y="2282840"/>
            <a:ext cx="486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Measure impact of training sessions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6" name=""/>
          <p:cNvSpPr txBox="1"/>
          <p:nvPr/>
        </p:nvSpPr>
        <p:spPr>
          <a:xfrm>
            <a:off x="1357200" y="2703040"/>
            <a:ext cx="4084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Justify renewal and expansion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8" name=""/>
          <p:cNvSpPr txBox="1"/>
          <p:nvPr/>
        </p:nvSpPr>
        <p:spPr>
          <a:xfrm>
            <a:off x="747720" y="3123240"/>
            <a:ext cx="122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Source: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9" name=""/>
          <p:cNvSpPr txBox="1"/>
          <p:nvPr/>
        </p:nvSpPr>
        <p:spPr>
          <a:xfrm>
            <a:off x="2035800" y="3963640"/>
            <a:ext cx="1659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activeUsers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1" name=""/>
          <p:cNvSpPr txBox="1"/>
          <p:nvPr/>
        </p:nvSpPr>
        <p:spPr>
          <a:xfrm>
            <a:off x="3763440" y="3543440"/>
            <a:ext cx="142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field from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2" name=""/>
          <p:cNvSpPr txBox="1"/>
          <p:nvPr/>
        </p:nvSpPr>
        <p:spPr>
          <a:xfrm>
            <a:off x="5254560" y="4318320"/>
            <a:ext cx="4223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/admin/analytics/usage/daily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1" name=""/>
          <p:cNvSpPr txBox="1"/>
          <p:nvPr/>
        </p:nvSpPr>
        <p:spPr>
          <a:xfrm>
            <a:off x="743712" y="850000"/>
            <a:ext cx="5153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9.5 — DAU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7" name=""/>
          <p:cNvSpPr txBox="1"/>
          <p:nvPr/>
        </p:nvSpPr>
        <p:spPr>
          <a:xfrm>
            <a:off x="747720" y="2923240"/>
            <a:ext cx="3709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leadership report: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9" name=""/>
          <p:cNvSpPr txBox="1"/>
          <p:nvPr/>
        </p:nvSpPr>
        <p:spPr>
          <a:xfrm>
            <a:off x="1357200" y="3343440"/>
            <a:ext cx="740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Average/median/peak DAU · adoption rate (% of team)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1" name=""/>
          <p:cNvSpPr txBox="1"/>
          <p:nvPr/>
        </p:nvSpPr>
        <p:spPr>
          <a:xfrm>
            <a:off x="1357200" y="3763640"/>
            <a:ext cx="4896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WoW growth rate · weekly averages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2" name=""/>
          <p:cNvSpPr txBox="1"/>
          <p:nvPr/>
        </p:nvSpPr>
        <p:spPr>
          <a:xfrm>
            <a:off x="743712" y="4183840"/>
            <a:ext cx="9260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Health assessment: &gt;80% excellent · &gt;50% good · &lt;30% investigate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3" name=""/>
          <p:cNvSpPr txBox="1"/>
          <p:nvPr/>
        </p:nvSpPr>
        <p:spPr>
          <a:xfrm>
            <a:off x="743712" y="4604040"/>
            <a:ext cx="1067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Calculated DAU · adoption metrics · leadership-ready report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7" name="TextBox 12366"/>
          <p:cNvSpPr txBox="1"/>
          <p:nvPr/>
        </p:nvSpPr>
        <p:spPr>
          <a:xfrm>
            <a:off x="743712" y="1442440"/>
            <a:ext cx="978280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".../analytics/usage/daily?startDate=$START&amp;endDate=$END"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'{avg_weekly: ([.daily[-7:] | .[].activeUsers] | add / length),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peak: ([.daily[] | .activeUsers] | max)}'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1" name=""/>
          <p:cNvSpPr txBox="1"/>
          <p:nvPr/>
        </p:nvSpPr>
        <p:spPr>
          <a:xfrm>
            <a:off x="4872900" y="3331520"/>
            <a:ext cx="2446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Leaderboards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2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6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6" name=""/>
          <p:cNvSpPr txBox="1"/>
          <p:nvPr/>
        </p:nvSpPr>
        <p:spPr>
          <a:xfrm>
            <a:off x="743712" y="850000"/>
            <a:ext cx="687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Responsible Leaderboard Principles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440" name="Table 12439"/>
          <p:cNvGraphicFramePr>
            <a:graphicFrameLocks noGrp="1"/>
          </p:cNvGraphicFramePr>
          <p:nvPr/>
        </p:nvGraphicFramePr>
        <p:xfrm>
          <a:off x="743712" y="1442440"/>
          <a:ext cx="74199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200"/>
                <a:gridCol w="4616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Principle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Anonymize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Roles or anonymized names, not full emails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Focus on positive metrics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Show savings, not spending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Opt-in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Allow users to choose public visibility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Show team size, role differences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5" name=""/>
          <p:cNvSpPr txBox="1"/>
          <p:nvPr/>
        </p:nvSpPr>
        <p:spPr>
          <a:xfrm>
            <a:off x="743712" y="850000"/>
            <a:ext cx="6717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9.6 — Three Leaderboards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6" name=""/>
          <p:cNvSpPr txBox="1"/>
          <p:nvPr/>
        </p:nvSpPr>
        <p:spPr>
          <a:xfrm>
            <a:off x="743712" y="1442440"/>
            <a:ext cx="10299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Engagement leaderboard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rank by request count (anonymized emails)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7" name=""/>
          <p:cNvSpPr txBox="1"/>
          <p:nvPr/>
        </p:nvSpPr>
        <p:spPr>
          <a:xfrm>
            <a:off x="747720" y="1862640"/>
            <a:ext cx="7166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Efficiency leaderboard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tokens per dollar spent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8" name=""/>
          <p:cNvSpPr txBox="1"/>
          <p:nvPr/>
        </p:nvSpPr>
        <p:spPr>
          <a:xfrm>
            <a:off x="743712" y="2282840"/>
            <a:ext cx="1069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Savings leaderboard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users who saved by choosing efficient models over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9" name=""/>
          <p:cNvSpPr txBox="1"/>
          <p:nvPr/>
        </p:nvSpPr>
        <p:spPr>
          <a:xfrm>
            <a:off x="747720" y="2703040"/>
            <a:ext cx="729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3" name=""/>
          <p:cNvSpPr txBox="1"/>
          <p:nvPr/>
        </p:nvSpPr>
        <p:spPr>
          <a:xfrm>
            <a:off x="743712" y="4299240"/>
            <a:ext cx="943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Anonymized · efficiency-focused · savings-focused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4" name=""/>
          <p:cNvSpPr txBox="1"/>
          <p:nvPr/>
        </p:nvSpPr>
        <p:spPr>
          <a:xfrm>
            <a:off x="747720" y="4719440"/>
            <a:ext cx="177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leaderboards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8" name="TextBox 12457"/>
          <p:cNvSpPr txBox="1"/>
          <p:nvPr/>
        </p:nvSpPr>
        <p:spPr>
          <a:xfrm>
            <a:off x="923760" y="3123240"/>
            <a:ext cx="58051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anonymize_email(email):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local = email.split('@')[0]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local[:2] + "..." + local[-2:]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1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9.7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2" name=""/>
          <p:cNvSpPr txBox="1"/>
          <p:nvPr/>
        </p:nvSpPr>
        <p:spPr>
          <a:xfrm>
            <a:off x="4190520" y="3331520"/>
            <a:ext cx="381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Conversation Insights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3" name=""/>
          <p:cNvSpPr txBox="1"/>
          <p:nvPr/>
        </p:nvSpPr>
        <p:spPr>
          <a:xfrm>
            <a:off x="3893520" y="3853960"/>
            <a:ext cx="4404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6 min · 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1" name=""/>
          <p:cNvSpPr txBox="1"/>
          <p:nvPr/>
        </p:nvSpPr>
        <p:spPr>
          <a:xfrm>
            <a:off x="743712" y="850000"/>
            <a:ext cx="6627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Conversation Insights Reveal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3" name=""/>
          <p:cNvSpPr txBox="1"/>
          <p:nvPr/>
        </p:nvSpPr>
        <p:spPr>
          <a:xfrm>
            <a:off x="1357200" y="1442440"/>
            <a:ext cx="545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 questions vs. complex refactors?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5" name=""/>
          <p:cNvSpPr txBox="1"/>
          <p:nvPr/>
        </p:nvSpPr>
        <p:spPr>
          <a:xfrm>
            <a:off x="1357200" y="1862640"/>
            <a:ext cx="4049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common task categories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7" name=""/>
          <p:cNvSpPr txBox="1"/>
          <p:nvPr/>
        </p:nvSpPr>
        <p:spPr>
          <a:xfrm>
            <a:off x="1357200" y="2282840"/>
            <a:ext cx="3033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Where users get stuck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8" name=""/>
          <p:cNvSpPr txBox="1"/>
          <p:nvPr/>
        </p:nvSpPr>
        <p:spPr>
          <a:xfrm>
            <a:off x="1357200" y="2703040"/>
            <a:ext cx="6471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Which models perform best for which task types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0" name=""/>
          <p:cNvSpPr txBox="1"/>
          <p:nvPr/>
        </p:nvSpPr>
        <p:spPr>
          <a:xfrm>
            <a:off x="747720" y="3123240"/>
            <a:ext cx="150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Endpoint: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1" name=""/>
          <p:cNvSpPr txBox="1"/>
          <p:nvPr/>
        </p:nvSpPr>
        <p:spPr>
          <a:xfrm>
            <a:off x="2322720" y="3963640"/>
            <a:ext cx="55810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/v1/admin/analytics/conversations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2" name=""/>
          <p:cNvSpPr txBox="1"/>
          <p:nvPr/>
        </p:nvSpPr>
        <p:spPr>
          <a:xfrm>
            <a:off x="7971840" y="3543440"/>
            <a:ext cx="3269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(may require Enterprise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3" name=""/>
          <p:cNvSpPr txBox="1"/>
          <p:nvPr/>
        </p:nvSpPr>
        <p:spPr>
          <a:xfrm>
            <a:off x="747720" y="4318320"/>
            <a:ext cx="67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1" name=""/>
          <p:cNvSpPr txBox="1"/>
          <p:nvPr/>
        </p:nvSpPr>
        <p:spPr>
          <a:xfrm>
            <a:off x="743712" y="850000"/>
            <a:ext cx="4161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Intent Analysis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2" name=""/>
          <p:cNvSpPr txBox="1"/>
          <p:nvPr/>
        </p:nvSpPr>
        <p:spPr>
          <a:xfrm>
            <a:off x="1176120" y="1442440"/>
            <a:ext cx="3499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CONVERSATION INTENT ANALYSIS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2" name="TextBox 12511"/>
          <p:cNvSpPr txBox="1"/>
          <p:nvPr/>
        </p:nvSpPr>
        <p:spPr>
          <a:xfrm>
            <a:off x="923760" y="1742400"/>
            <a:ext cx="553084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🎯 CONVERSATION INTENT ANALYSIS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debug              ████████████ 35.2%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refactor           ████████ 22.1%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document           ██████ 16.8%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test               ████ 11.5%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feature            ███ 8.9%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understand         ██ 5.5%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5" name=""/>
          <p:cNvSpPr txBox="1"/>
          <p:nvPr/>
        </p:nvSpPr>
        <p:spPr>
          <a:xfrm>
            <a:off x="743712" y="850000"/>
            <a:ext cx="6033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Complexity &amp; Categories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7" name=""/>
          <p:cNvSpPr txBox="1"/>
          <p:nvPr/>
        </p:nvSpPr>
        <p:spPr>
          <a:xfrm>
            <a:off x="747720" y="1442440"/>
            <a:ext cx="3506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Complexity distribution: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8" name=""/>
          <p:cNvSpPr txBox="1"/>
          <p:nvPr/>
        </p:nvSpPr>
        <p:spPr>
          <a:xfrm>
            <a:off x="743712" y="1862640"/>
            <a:ext cx="8386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 45% · moderate 33% · complex 15% · architectural 7%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0" name=""/>
          <p:cNvSpPr txBox="1"/>
          <p:nvPr/>
        </p:nvSpPr>
        <p:spPr>
          <a:xfrm>
            <a:off x="747720" y="2282840"/>
            <a:ext cx="271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Category analysis: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1" name=""/>
          <p:cNvSpPr txBox="1"/>
          <p:nvPr/>
        </p:nvSpPr>
        <p:spPr>
          <a:xfrm>
            <a:off x="743712" y="2703040"/>
            <a:ext cx="9946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backend 40% · frontend 29% · database 15% · devops 10% · security 6%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3" name=""/>
          <p:cNvSpPr txBox="1"/>
          <p:nvPr/>
        </p:nvSpPr>
        <p:spPr>
          <a:xfrm>
            <a:off x="747720" y="3123240"/>
            <a:ext cx="590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Stuck patterns: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conversations &gt;5 min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4" name=""/>
          <p:cNvSpPr txBox="1"/>
          <p:nvPr/>
        </p:nvSpPr>
        <p:spPr>
          <a:xfrm>
            <a:off x="6719760" y="3963640"/>
            <a:ext cx="21121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success: false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5" name=""/>
          <p:cNvSpPr txBox="1"/>
          <p:nvPr/>
        </p:nvSpPr>
        <p:spPr>
          <a:xfrm>
            <a:off x="8899560" y="3543440"/>
            <a:ext cx="154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suggest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6" name=""/>
          <p:cNvSpPr txBox="1"/>
          <p:nvPr/>
        </p:nvSpPr>
        <p:spPr>
          <a:xfrm>
            <a:off x="747720" y="4318320"/>
            <a:ext cx="1729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training/docs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7" name=""/>
          <p:cNvSpPr txBox="1"/>
          <p:nvPr/>
        </p:nvSpPr>
        <p:spPr>
          <a:xfrm>
            <a:off x="743712" y="4738520"/>
            <a:ext cx="10690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capabilities · intent/complexity/category tracking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8" name=""/>
          <p:cNvSpPr txBox="1"/>
          <p:nvPr/>
        </p:nvSpPr>
        <p:spPr>
          <a:xfrm>
            <a:off x="747720" y="5158720"/>
            <a:ext cx="2084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· stuck patterns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9.8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6" name=""/>
          <p:cNvSpPr txBox="1"/>
          <p:nvPr/>
        </p:nvSpPr>
        <p:spPr>
          <a:xfrm>
            <a:off x="3464040" y="3331520"/>
            <a:ext cx="526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Destructive Admin Operations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7" name=""/>
          <p:cNvSpPr txBox="1"/>
          <p:nvPr/>
        </p:nvSpPr>
        <p:spPr>
          <a:xfrm>
            <a:off x="3893520" y="3853960"/>
            <a:ext cx="4404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6 min · 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4" name=""/>
          <p:cNvSpPr txBox="1"/>
          <p:nvPr/>
        </p:nvSpPr>
        <p:spPr>
          <a:xfrm>
            <a:off x="743712" y="850000"/>
            <a:ext cx="4471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Safe Removal Playbook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5" name=""/>
          <p:cNvSpPr txBox="1"/>
          <p:nvPr/>
        </p:nvSpPr>
        <p:spPr>
          <a:xfrm>
            <a:off x="1018440" y="1442440"/>
            <a:ext cx="6183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Audit first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active agents, runs,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6" name=""/>
          <p:cNvSpPr txBox="1"/>
          <p:nvPr/>
        </p:nvSpPr>
        <p:spPr>
          <a:xfrm>
            <a:off x="743712" y="1862640"/>
            <a:ext cx="847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 delete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deactivate (no new agents; existing continue)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7" name=""/>
          <p:cNvSpPr txBox="1"/>
          <p:nvPr/>
        </p:nvSpPr>
        <p:spPr>
          <a:xfrm>
            <a:off x="1018440" y="2282840"/>
            <a:ext cx="704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Transfer ownership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critical agents, webhooks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8" name=""/>
          <p:cNvSpPr txBox="1"/>
          <p:nvPr/>
        </p:nvSpPr>
        <p:spPr>
          <a:xfrm>
            <a:off x="1018440" y="2703040"/>
            <a:ext cx="586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Log everything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compliance audit trail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9" name=""/>
          <p:cNvSpPr txBox="1"/>
          <p:nvPr/>
        </p:nvSpPr>
        <p:spPr>
          <a:xfrm>
            <a:off x="1018440" y="3123240"/>
            <a:ext cx="736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Confirm before hard delete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GDPR/security only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8" name=""/>
          <p:cNvSpPr txBox="1"/>
          <p:nvPr/>
        </p:nvSpPr>
        <p:spPr>
          <a:xfrm>
            <a:off x="743712" y="850000"/>
            <a:ext cx="682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SafeRemovalDemo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5" name=""/>
          <p:cNvSpPr txBox="1"/>
          <p:nvPr/>
        </p:nvSpPr>
        <p:spPr>
          <a:xfrm>
            <a:off x="743712" y="3532840"/>
            <a:ext cx="942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Bulk deactivation: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find users inactive 90+ days → review → notify 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6" name=""/>
          <p:cNvSpPr txBox="1"/>
          <p:nvPr/>
        </p:nvSpPr>
        <p:spPr>
          <a:xfrm>
            <a:off x="747720" y="3953040"/>
            <a:ext cx="139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deactivate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7" name=""/>
          <p:cNvSpPr txBox="1"/>
          <p:nvPr/>
        </p:nvSpPr>
        <p:spPr>
          <a:xfrm>
            <a:off x="743712" y="4373240"/>
            <a:ext cx="10199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5-step pattern · audit-first · soft vs hard delete · resource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8" name=""/>
          <p:cNvSpPr txBox="1"/>
          <p:nvPr/>
        </p:nvSpPr>
        <p:spPr>
          <a:xfrm>
            <a:off x="747720" y="4793440"/>
            <a:ext cx="1033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2" name="TextBox 12571"/>
          <p:cNvSpPr txBox="1"/>
          <p:nvPr/>
        </p:nvSpPr>
        <p:spPr>
          <a:xfrm>
            <a:off x="923760" y="1442440"/>
            <a:ext cx="60794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1: find_user(email) → user_id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2: audit_resources() → agents, runs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3: deactivate() → status: inactive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4: transfer_resources(new_owner_email)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5: hard_delete() → permanent (rare)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generate_audit_report()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5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726" name="Table 12725"/>
          <p:cNvGraphicFramePr>
            <a:graphicFrameLocks noGrp="1"/>
          </p:cNvGraphicFramePr>
          <p:nvPr/>
        </p:nvGraphicFramePr>
        <p:xfrm>
          <a:off x="743712" y="1442440"/>
          <a:ext cx="456912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803200"/>
                <a:gridCol w="989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Team Members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Usage Data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Setting User Spend Limits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Usage Analytics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Active Users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Leaderboards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Conversation Insights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Destructive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1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4" name="TextBox 12743"/>
          <p:cNvSpPr txBox="1"/>
          <p:nvPr/>
        </p:nvSpPr>
        <p:spPr>
          <a:xfrm>
            <a:off x="743712" y="1442440"/>
            <a:ext cx="93713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/admin/members                    List members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/admin/analytics/usage/daily      Daily 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/admin/analytics/usage/models     Model 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/admin/analytics/usage/users      Per-user 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PATCH /admin/policies/users/{id}/limits Set spend limits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/admin/members/{id}/resources     User resources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LEADERBOARDS:  Anonymize · positive metrics · opt-in · role context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REMOVAL:       Audit → Deactivate → Transfer → Log → Confirm delete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7" name=""/>
          <p:cNvSpPr txBox="1"/>
          <p:nvPr/>
        </p:nvSpPr>
        <p:spPr>
          <a:xfrm>
            <a:off x="2370000" y="2674620"/>
            <a:ext cx="745200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AI Code Tracking and Reporting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8" name=""/>
          <p:cNvSpPr txBox="1"/>
          <p:nvPr/>
        </p:nvSpPr>
        <p:spPr>
          <a:xfrm>
            <a:off x="1454520" y="3320740"/>
            <a:ext cx="9282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· Day 2 (Hands-On + Take-Home Project)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9" name=""/>
          <p:cNvSpPr txBox="1"/>
          <p:nvPr/>
        </p:nvSpPr>
        <p:spPr>
          <a:xfrm>
            <a:off x="2843220" y="3843180"/>
            <a:ext cx="6505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~20 min + take-home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3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817" name="Table 12816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~20 minutes (plus take-home project)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take-home 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key, Git repository access, Modules 8–9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Track AI vs. human contributions, export metrics to BI tools, build compliance dashboards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0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2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4" name=""/>
          <p:cNvSpPr txBox="1"/>
          <p:nvPr/>
        </p:nvSpPr>
        <p:spPr>
          <a:xfrm>
            <a:off x="1357200" y="1862640"/>
            <a:ext cx="640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Attribute AI vs. human contributions per commit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6" name=""/>
          <p:cNvSpPr txBox="1"/>
          <p:nvPr/>
        </p:nvSpPr>
        <p:spPr>
          <a:xfrm>
            <a:off x="1357200" y="2282840"/>
            <a:ext cx="560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Stream metrics to BI tools via CSV export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8" name=""/>
          <p:cNvSpPr txBox="1"/>
          <p:nvPr/>
        </p:nvSpPr>
        <p:spPr>
          <a:xfrm>
            <a:off x="1357200" y="2703040"/>
            <a:ext cx="6692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Access granular AI change events for compliance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9" name=""/>
          <p:cNvSpPr txBox="1"/>
          <p:nvPr/>
        </p:nvSpPr>
        <p:spPr>
          <a:xfrm>
            <a:off x="743712" y="3123240"/>
            <a:ext cx="876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a complete reporting dashboard combining all data sources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923" name="Table 12922"/>
          <p:cNvGraphicFramePr>
            <a:graphicFrameLocks noGrp="1"/>
          </p:cNvGraphicFramePr>
          <p:nvPr/>
        </p:nvGraphicFramePr>
        <p:xfrm>
          <a:off x="743712" y="1442440"/>
          <a:ext cx="62760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549960"/>
                <a:gridCol w="1949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Commit Metrics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Bulk Export via CSV Streaming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Granular AI Change Events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Reporting Dashboard Architecture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 min + take-home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6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7" name=""/>
          <p:cNvSpPr txBox="1"/>
          <p:nvPr/>
        </p:nvSpPr>
        <p:spPr>
          <a:xfrm>
            <a:off x="4477620" y="3331520"/>
            <a:ext cx="3236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AI Commit Metrics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8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3 min · Exercise · 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7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8" name=""/>
          <p:cNvSpPr txBox="1"/>
          <p:nvPr/>
        </p:nvSpPr>
        <p:spPr>
          <a:xfrm>
            <a:off x="816120" y="1442440"/>
            <a:ext cx="46760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/v1/admin/analytics/commits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0" name=""/>
          <p:cNvSpPr txBox="1"/>
          <p:nvPr/>
        </p:nvSpPr>
        <p:spPr>
          <a:xfrm>
            <a:off x="747720" y="1797120"/>
            <a:ext cx="2981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this measures: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2" name=""/>
          <p:cNvSpPr txBox="1"/>
          <p:nvPr/>
        </p:nvSpPr>
        <p:spPr>
          <a:xfrm>
            <a:off x="1357200" y="2217320"/>
            <a:ext cx="3931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Lines added by AI vs. human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4" name=""/>
          <p:cNvSpPr txBox="1"/>
          <p:nvPr/>
        </p:nvSpPr>
        <p:spPr>
          <a:xfrm>
            <a:off x="1357200" y="2637520"/>
            <a:ext cx="4693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Files modified by agent vs. manual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5" name=""/>
          <p:cNvSpPr txBox="1"/>
          <p:nvPr/>
        </p:nvSpPr>
        <p:spPr>
          <a:xfrm>
            <a:off x="1357200" y="3057720"/>
            <a:ext cx="696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Commit-level attribution · Per-developer breakdown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6" name=""/>
          <p:cNvSpPr txBox="1"/>
          <p:nvPr/>
        </p:nvSpPr>
        <p:spPr>
          <a:xfrm>
            <a:off x="743712" y="3477920"/>
            <a:ext cx="967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"The 'ROI of AI' metric — how much code was AI-generated vs. human-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7" name=""/>
          <p:cNvSpPr txBox="1"/>
          <p:nvPr/>
        </p:nvSpPr>
        <p:spPr>
          <a:xfrm>
            <a:off x="1090440" y="3898120"/>
            <a:ext cx="109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written."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6" name=""/>
          <p:cNvSpPr txBox="1"/>
          <p:nvPr/>
        </p:nvSpPr>
        <p:spPr>
          <a:xfrm>
            <a:off x="743712" y="850000"/>
            <a:ext cx="5682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10.1 — Fetch Metrics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7" name=""/>
          <p:cNvSpPr txBox="1"/>
          <p:nvPr/>
        </p:nvSpPr>
        <p:spPr>
          <a:xfrm>
            <a:off x="923760" y="3186000"/>
            <a:ext cx="2165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END=$(</a:t>
            </a:r>
            <a:r>
              <a:rPr lang="en-US" sz="14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+%Y-%m-%d)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8" name=""/>
          <p:cNvSpPr txBox="1"/>
          <p:nvPr/>
        </p:nvSpPr>
        <p:spPr>
          <a:xfrm>
            <a:off x="923760" y="3406320"/>
            <a:ext cx="4123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START=$(</a:t>
            </a:r>
            <a:r>
              <a:rPr lang="en-US" sz="14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-d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"30 days ago"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+%Y-%m-%d)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9" name=""/>
          <p:cNvSpPr txBox="1"/>
          <p:nvPr/>
        </p:nvSpPr>
        <p:spPr>
          <a:xfrm>
            <a:off x="923760" y="3839400"/>
            <a:ext cx="3814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curl -s -u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14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$CURSOR_ADMIN_API_KEY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:"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\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0" name=""/>
          <p:cNvSpPr txBox="1"/>
          <p:nvPr/>
        </p:nvSpPr>
        <p:spPr>
          <a:xfrm>
            <a:off x="923760" y="4051440"/>
            <a:ext cx="103071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".../analytics/commits?startDate=</a:t>
            </a:r>
            <a:r>
              <a:rPr lang="en-US" sz="14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$START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&amp;endDate=</a:t>
            </a:r>
            <a:r>
              <a:rPr lang="en-US" sz="14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$END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&amp;repo=https://github.com/YOUR_ORG/YOUR_REPO"</a:t>
            </a:r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\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1" name=""/>
          <p:cNvSpPr txBox="1"/>
          <p:nvPr/>
        </p:nvSpPr>
        <p:spPr>
          <a:xfrm>
            <a:off x="923760" y="4272120"/>
            <a:ext cx="1031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8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| jq </a:t>
            </a:r>
            <a:r>
              <a:rPr lang="en-US" sz="14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'.'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0" name=""/>
          <p:cNvSpPr txBox="1"/>
          <p:nvPr/>
        </p:nvSpPr>
        <p:spPr>
          <a:xfrm>
            <a:off x="743712" y="850000"/>
            <a:ext cx="6474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10.1 — AI Contribution %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9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0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1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2" name="TextBox 12981"/>
          <p:cNvSpPr txBox="1"/>
          <p:nvPr/>
        </p:nvSpPr>
        <p:spPr>
          <a:xfrm>
            <a:off x="743712" y="1442440"/>
            <a:ext cx="109728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".../analytics/commits?startDate=$START&amp;endDate=$END"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total_commits: .summary.totalCommits,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ai_commits: .summary.aiAuthoredCommits,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ai_percentage: (.summary.aiAuthoredCommits / .summary.totalCommits * 100),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lines_saved: .summary.aiGeneratedLines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7" name=""/>
          <p:cNvSpPr txBox="1"/>
          <p:nvPr/>
        </p:nvSpPr>
        <p:spPr>
          <a:xfrm>
            <a:off x="743712" y="850000"/>
            <a:ext cx="557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10.1 — ROI Analysis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9" name=""/>
          <p:cNvSpPr txBox="1"/>
          <p:nvPr/>
        </p:nvSpPr>
        <p:spPr>
          <a:xfrm>
            <a:off x="747720" y="1442440"/>
            <a:ext cx="10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0" name=""/>
          <p:cNvSpPr txBox="1"/>
          <p:nvPr/>
        </p:nvSpPr>
        <p:spPr>
          <a:xfrm>
            <a:off x="1849680" y="2282840"/>
            <a:ext cx="27154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calculate_ai_roi()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1" name=""/>
          <p:cNvSpPr txBox="1"/>
          <p:nvPr/>
        </p:nvSpPr>
        <p:spPr>
          <a:xfrm>
            <a:off x="463320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7" name=""/>
          <p:cNvSpPr txBox="1"/>
          <p:nvPr/>
        </p:nvSpPr>
        <p:spPr>
          <a:xfrm>
            <a:off x="816120" y="4538520"/>
            <a:ext cx="34696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contributor_breakdown()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8" name=""/>
          <p:cNvSpPr txBox="1"/>
          <p:nvPr/>
        </p:nvSpPr>
        <p:spPr>
          <a:xfrm>
            <a:off x="4353840" y="4118320"/>
            <a:ext cx="554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AI %, AI lines, commits per developer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9" name=""/>
          <p:cNvSpPr txBox="1"/>
          <p:nvPr/>
        </p:nvSpPr>
        <p:spPr>
          <a:xfrm>
            <a:off x="743712" y="4893200"/>
            <a:ext cx="9588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metrics · calculated AI % · generated ROI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0" name=""/>
          <p:cNvSpPr txBox="1"/>
          <p:nvPr/>
        </p:nvSpPr>
        <p:spPr>
          <a:xfrm>
            <a:off x="747720" y="5313400"/>
            <a:ext cx="1101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1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2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3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4" name="TextBox 13003"/>
          <p:cNvSpPr txBox="1"/>
          <p:nvPr/>
        </p:nvSpPr>
        <p:spPr>
          <a:xfrm>
            <a:off x="923760" y="2637520"/>
            <a:ext cx="649096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AI-generated lines vs. human-written lines (%)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Estimated time saved (10 lines/min assumption)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Estimated cost saved ($100/hr developer cost)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AI usage cost → Net ROI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7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8" name=""/>
          <p:cNvSpPr txBox="1"/>
          <p:nvPr/>
        </p:nvSpPr>
        <p:spPr>
          <a:xfrm>
            <a:off x="3353880" y="3331520"/>
            <a:ext cx="5484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Bulk Export via CSV Streaming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9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3 min · Exercise · 4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8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9" name=""/>
          <p:cNvSpPr txBox="1"/>
          <p:nvPr/>
        </p:nvSpPr>
        <p:spPr>
          <a:xfrm>
            <a:off x="816120" y="18626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/v1/admin/analytics/export/csv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0" name=""/>
          <p:cNvSpPr txBox="1"/>
          <p:nvPr/>
        </p:nvSpPr>
        <p:spPr>
          <a:xfrm>
            <a:off x="743712" y="1442440"/>
            <a:ext cx="162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(streaming)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1" name=""/>
          <p:cNvSpPr txBox="1"/>
          <p:nvPr/>
        </p:nvSpPr>
        <p:spPr>
          <a:xfrm>
            <a:off x="743712" y="2217320"/>
            <a:ext cx="984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"Wire metrics into BI tools (Tableau, PowerBI, Looker, Metabase) without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2" name=""/>
          <p:cNvSpPr txBox="1"/>
          <p:nvPr/>
        </p:nvSpPr>
        <p:spPr>
          <a:xfrm>
            <a:off x="1090440" y="2637520"/>
            <a:ext cx="1345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timeouts."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4" name=""/>
          <p:cNvSpPr txBox="1"/>
          <p:nvPr/>
        </p:nvSpPr>
        <p:spPr>
          <a:xfrm>
            <a:off x="747720" y="3057720"/>
            <a:ext cx="2032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Export types: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5" name=""/>
          <p:cNvSpPr txBox="1"/>
          <p:nvPr/>
        </p:nvSpPr>
        <p:spPr>
          <a:xfrm>
            <a:off x="2848680" y="4318320"/>
            <a:ext cx="1056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commits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7" name=""/>
          <p:cNvSpPr txBox="1"/>
          <p:nvPr/>
        </p:nvSpPr>
        <p:spPr>
          <a:xfrm>
            <a:off x="3972960" y="34779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8" name=""/>
          <p:cNvSpPr txBox="1"/>
          <p:nvPr/>
        </p:nvSpPr>
        <p:spPr>
          <a:xfrm>
            <a:off x="4312080" y="467300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events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0" name=""/>
          <p:cNvSpPr txBox="1"/>
          <p:nvPr/>
        </p:nvSpPr>
        <p:spPr>
          <a:xfrm>
            <a:off x="743712" y="38981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1" name=""/>
          <p:cNvSpPr txBox="1"/>
          <p:nvPr/>
        </p:nvSpPr>
        <p:spPr>
          <a:xfrm>
            <a:off x="743712" y="502768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usage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0" name=""/>
          <p:cNvSpPr txBox="1"/>
          <p:nvPr/>
        </p:nvSpPr>
        <p:spPr>
          <a:xfrm>
            <a:off x="743712" y="850000"/>
            <a:ext cx="5749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10.2 — Stream to File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8" name="TextBox 13047"/>
          <p:cNvSpPr txBox="1"/>
          <p:nvPr/>
        </p:nvSpPr>
        <p:spPr>
          <a:xfrm>
            <a:off x="743712" y="1442440"/>
            <a:ext cx="1019428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-N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".../analytics/export/csv?startDate=$START&amp;endDate=$END&amp;type=commits"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-o cursor_commits_export.csv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head -10 cursor_commits_export.csv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3" name=""/>
          <p:cNvSpPr txBox="1"/>
          <p:nvPr/>
        </p:nvSpPr>
        <p:spPr>
          <a:xfrm>
            <a:off x="743712" y="850000"/>
            <a:ext cx="5682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10.2 — BI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5" name=""/>
          <p:cNvSpPr txBox="1"/>
          <p:nvPr/>
        </p:nvSpPr>
        <p:spPr>
          <a:xfrm>
            <a:off x="747720" y="1442440"/>
            <a:ext cx="10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6" name=""/>
          <p:cNvSpPr txBox="1"/>
          <p:nvPr/>
        </p:nvSpPr>
        <p:spPr>
          <a:xfrm>
            <a:off x="1849680" y="22828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stream_to_dataframe()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7" name=""/>
          <p:cNvSpPr txBox="1"/>
          <p:nvPr/>
        </p:nvSpPr>
        <p:spPr>
          <a:xfrm>
            <a:off x="743712" y="1862640"/>
            <a:ext cx="316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pandas DataFrame: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2" name=""/>
          <p:cNvSpPr txBox="1"/>
          <p:nvPr/>
        </p:nvSpPr>
        <p:spPr>
          <a:xfrm>
            <a:off x="747720" y="4118320"/>
            <a:ext cx="779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Upload to Metabase, PowerBI, or Tableau via CSV import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3" name=""/>
          <p:cNvSpPr txBox="1"/>
          <p:nvPr/>
        </p:nvSpPr>
        <p:spPr>
          <a:xfrm>
            <a:off x="743712" y="4538520"/>
            <a:ext cx="10504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Streamed CSV · loaded into DataFrame · created BI-ready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4" name=""/>
          <p:cNvSpPr txBox="1"/>
          <p:nvPr/>
        </p:nvSpPr>
        <p:spPr>
          <a:xfrm>
            <a:off x="747720" y="4958720"/>
            <a:ext cx="54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5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6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7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8" name="TextBox 13067"/>
          <p:cNvSpPr txBox="1"/>
          <p:nvPr/>
        </p:nvSpPr>
        <p:spPr>
          <a:xfrm>
            <a:off x="923760" y="2637520"/>
            <a:ext cx="45707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export_for_bi():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bi_commits.csv   # commit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bi_events.csv    # event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bi_usage.csv     # usage data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1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2" name=""/>
          <p:cNvSpPr txBox="1"/>
          <p:nvPr/>
        </p:nvSpPr>
        <p:spPr>
          <a:xfrm>
            <a:off x="3672840" y="3331520"/>
            <a:ext cx="484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Granular AI Change Events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3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3 min · Exercise · 4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2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3" name=""/>
          <p:cNvSpPr txBox="1"/>
          <p:nvPr/>
        </p:nvSpPr>
        <p:spPr>
          <a:xfrm>
            <a:off x="816120" y="1442440"/>
            <a:ext cx="4525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/v1/admin/analytics/events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5" name=""/>
          <p:cNvSpPr txBox="1"/>
          <p:nvPr/>
        </p:nvSpPr>
        <p:spPr>
          <a:xfrm>
            <a:off x="747720" y="1797120"/>
            <a:ext cx="252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Tracks per event: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7" name=""/>
          <p:cNvSpPr txBox="1"/>
          <p:nvPr/>
        </p:nvSpPr>
        <p:spPr>
          <a:xfrm>
            <a:off x="1357200" y="2217320"/>
            <a:ext cx="5320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File, line range, model used, timestamp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8" name=""/>
          <p:cNvSpPr txBox="1"/>
          <p:nvPr/>
        </p:nvSpPr>
        <p:spPr>
          <a:xfrm>
            <a:off x="1357200" y="2637520"/>
            <a:ext cx="411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User, accepted/rejected status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9" name=""/>
          <p:cNvSpPr txBox="1"/>
          <p:nvPr/>
        </p:nvSpPr>
        <p:spPr>
          <a:xfrm>
            <a:off x="1090440" y="3057720"/>
            <a:ext cx="624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"Essential for SOC2, ISO, and internal audits."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0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1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2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8" name=""/>
          <p:cNvSpPr txBox="1"/>
          <p:nvPr/>
        </p:nvSpPr>
        <p:spPr>
          <a:xfrm>
            <a:off x="743712" y="850000"/>
            <a:ext cx="568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10.3 — Query Events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2" name=""/>
          <p:cNvSpPr txBox="1"/>
          <p:nvPr/>
        </p:nvSpPr>
        <p:spPr>
          <a:xfrm>
            <a:off x="743712" y="2618440"/>
            <a:ext cx="9742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Acceptance rate by model: group events → total vs. accepted per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6" name="TextBox 13105"/>
          <p:cNvSpPr txBox="1"/>
          <p:nvPr/>
        </p:nvSpPr>
        <p:spPr>
          <a:xfrm>
            <a:off x="743712" y="1442440"/>
            <a:ext cx="1097280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".../analytics/events?startDate=$START&amp;endDate=$END&amp;limit=100"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'.events[] | {user: .user.email, file: .filePath, model: .modelId, accepted: .accepted}'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0" name=""/>
          <p:cNvSpPr txBox="1"/>
          <p:nvPr/>
        </p:nvSpPr>
        <p:spPr>
          <a:xfrm>
            <a:off x="743712" y="850000"/>
            <a:ext cx="6761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10.3 — Compliance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1" name=""/>
          <p:cNvSpPr txBox="1"/>
          <p:nvPr/>
        </p:nvSpPr>
        <p:spPr>
          <a:xfrm>
            <a:off x="816120" y="1862640"/>
            <a:ext cx="4223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generate_compliance_report()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3" name=""/>
          <p:cNvSpPr txBox="1"/>
          <p:nvPr/>
        </p:nvSpPr>
        <p:spPr>
          <a:xfrm>
            <a:off x="743712" y="1442440"/>
            <a:ext cx="223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last 90 days: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5" name=""/>
          <p:cNvSpPr txBox="1"/>
          <p:nvPr/>
        </p:nvSpPr>
        <p:spPr>
          <a:xfrm>
            <a:off x="1357200" y="2217320"/>
            <a:ext cx="4473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Acceptance rate by model (table)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7" name=""/>
          <p:cNvSpPr txBox="1"/>
          <p:nvPr/>
        </p:nvSpPr>
        <p:spPr>
          <a:xfrm>
            <a:off x="1357200" y="2637520"/>
            <a:ext cx="664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Top 10 files with most AI changes (needs review)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9" name=""/>
          <p:cNvSpPr txBox="1"/>
          <p:nvPr/>
        </p:nvSpPr>
        <p:spPr>
          <a:xfrm>
            <a:off x="1357200" y="3057720"/>
            <a:ext cx="96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Export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0" name=""/>
          <p:cNvSpPr txBox="1"/>
          <p:nvPr/>
        </p:nvSpPr>
        <p:spPr>
          <a:xfrm>
            <a:off x="2391480" y="389812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compliance_export.csv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2" name=""/>
          <p:cNvSpPr txBox="1"/>
          <p:nvPr/>
        </p:nvSpPr>
        <p:spPr>
          <a:xfrm>
            <a:off x="743712" y="3477920"/>
            <a:ext cx="169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auditors: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3" name=""/>
          <p:cNvSpPr txBox="1"/>
          <p:nvPr/>
        </p:nvSpPr>
        <p:spPr>
          <a:xfrm>
            <a:off x="743712" y="4252800"/>
            <a:ext cx="860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timestamp, user_email, model_id, file_path, line_start, line_end,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4" name=""/>
          <p:cNvSpPr txBox="1"/>
          <p:nvPr/>
        </p:nvSpPr>
        <p:spPr>
          <a:xfrm>
            <a:off x="1967040" y="4673000"/>
            <a:ext cx="123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5" name=""/>
          <p:cNvSpPr txBox="1"/>
          <p:nvPr/>
        </p:nvSpPr>
        <p:spPr>
          <a:xfrm>
            <a:off x="743712" y="5093200"/>
            <a:ext cx="909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events · calculated acceptance rates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6" name=""/>
          <p:cNvSpPr txBox="1"/>
          <p:nvPr/>
        </p:nvSpPr>
        <p:spPr>
          <a:xfrm>
            <a:off x="747720" y="5513400"/>
            <a:ext cx="247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compliance export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7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8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9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3" name=""/>
          <p:cNvSpPr txBox="1"/>
          <p:nvPr/>
        </p:nvSpPr>
        <p:spPr>
          <a:xfrm>
            <a:off x="4699560" y="2663840"/>
            <a:ext cx="27928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10.4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4" name=""/>
          <p:cNvSpPr txBox="1"/>
          <p:nvPr/>
        </p:nvSpPr>
        <p:spPr>
          <a:xfrm>
            <a:off x="3100260" y="3331520"/>
            <a:ext cx="5991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Reporting Dashboard Architecture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5" name=""/>
          <p:cNvSpPr txBox="1"/>
          <p:nvPr/>
        </p:nvSpPr>
        <p:spPr>
          <a:xfrm>
            <a:off x="3571680" y="3853960"/>
            <a:ext cx="504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Take-Home Project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6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7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8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3" name=""/>
          <p:cNvSpPr txBox="1"/>
          <p:nvPr/>
        </p:nvSpPr>
        <p:spPr>
          <a:xfrm>
            <a:off x="743712" y="850000"/>
            <a:ext cx="4601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Dashboard Components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3245" name="Table 13244"/>
          <p:cNvGraphicFramePr>
            <a:graphicFrameLocks noGrp="1"/>
          </p:cNvGraphicFramePr>
          <p:nvPr/>
        </p:nvGraphicFramePr>
        <p:xfrm>
          <a:off x="743712" y="1442440"/>
          <a:ext cx="670272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760"/>
                <a:gridCol w="162972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Data Source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Usage Overview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Usage API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Cost, tokens, active users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Contribution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Commits API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ROI, adoption metrics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Performance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Events API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Acceptance rates, efficiency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Activity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Members API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Onboarding, licensing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Events + Audit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Audit trail, security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8" name=""/>
          <p:cNvSpPr txBox="1"/>
          <p:nvPr/>
        </p:nvSpPr>
        <p:spPr>
          <a:xfrm>
            <a:off x="743712" y="850000"/>
            <a:ext cx="625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Take-Home: Streamlit Dashboard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0" name=""/>
          <p:cNvSpPr txBox="1"/>
          <p:nvPr/>
        </p:nvSpPr>
        <p:spPr>
          <a:xfrm>
            <a:off x="747720" y="1442440"/>
            <a:ext cx="135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with: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1" name=""/>
          <p:cNvSpPr txBox="1"/>
          <p:nvPr/>
        </p:nvSpPr>
        <p:spPr>
          <a:xfrm>
            <a:off x="2171520" y="1862640"/>
            <a:ext cx="49777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streamlit run cursor_dashboard.py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2" name=""/>
          <p:cNvSpPr txBox="1"/>
          <p:nvPr/>
        </p:nvSpPr>
        <p:spPr>
          <a:xfrm>
            <a:off x="747720" y="2217320"/>
            <a:ext cx="132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 panels: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3" name=""/>
          <p:cNvSpPr txBox="1"/>
          <p:nvPr/>
        </p:nvSpPr>
        <p:spPr>
          <a:xfrm>
            <a:off x="1018440" y="2637520"/>
            <a:ext cx="736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Executive Summary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cost, DAU, AI %, team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4" name=""/>
          <p:cNvSpPr txBox="1"/>
          <p:nvPr/>
        </p:nvSpPr>
        <p:spPr>
          <a:xfrm>
            <a:off x="1018440" y="3057720"/>
            <a:ext cx="757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 Analytics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daily cost trend (Plotly line chart)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5" name=""/>
          <p:cNvSpPr txBox="1"/>
          <p:nvPr/>
        </p:nvSpPr>
        <p:spPr>
          <a:xfrm>
            <a:off x="743712" y="3477920"/>
            <a:ext cx="9241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Code Impact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AI vs human bar chart + acceptance by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6" name=""/>
          <p:cNvSpPr txBox="1"/>
          <p:nvPr/>
        </p:nvSpPr>
        <p:spPr>
          <a:xfrm>
            <a:off x="1018440" y="3898120"/>
            <a:ext cx="5420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Team Management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member table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7" name=""/>
          <p:cNvSpPr txBox="1"/>
          <p:nvPr/>
        </p:nvSpPr>
        <p:spPr>
          <a:xfrm>
            <a:off x="1018440" y="4318320"/>
            <a:ext cx="659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Compliance Export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download events CSV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8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9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0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1" name=""/>
          <p:cNvSpPr txBox="1"/>
          <p:nvPr/>
        </p:nvSpPr>
        <p:spPr>
          <a:xfrm>
            <a:off x="743712" y="850000"/>
            <a:ext cx="3789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Project Deliverables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2" name=""/>
          <p:cNvSpPr txBox="1"/>
          <p:nvPr/>
        </p:nvSpPr>
        <p:spPr>
          <a:xfrm>
            <a:off x="743712" y="3879840"/>
            <a:ext cx="1063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Bonus: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cost alerts · spend limit UI · model A/B comparison · cloud deployment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3326" name="Table 13325"/>
          <p:cNvGraphicFramePr>
            <a:graphicFrameLocks noGrp="1"/>
          </p:cNvGraphicFramePr>
          <p:nvPr/>
        </p:nvGraphicFramePr>
        <p:xfrm>
          <a:off x="743712" y="1442440"/>
          <a:ext cx="6779880" cy="23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76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Working dashboard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Streamlit, Metabase, or custom frontend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Setup instructions and data source descriptions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 insight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Key finding from your team's data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Export script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Automated CSV export for compliance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7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3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4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5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3416" name="Table 13415"/>
          <p:cNvGraphicFramePr>
            <a:graphicFrameLocks noGrp="1"/>
          </p:cNvGraphicFramePr>
          <p:nvPr/>
        </p:nvGraphicFramePr>
        <p:xfrm>
          <a:off x="743712" y="1442440"/>
          <a:ext cx="55292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483160"/>
                <a:gridCol w="22698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Commit Metrics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ROI calculation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Bulk Export via CSV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BI integration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Granular Change Events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Compliance reporting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Dashboard Architecture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Complete dashboard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1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2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3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4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5" name="TextBox 13434"/>
          <p:cNvSpPr txBox="1"/>
          <p:nvPr/>
        </p:nvSpPr>
        <p:spPr>
          <a:xfrm>
            <a:off x="923760" y="1442440"/>
            <a:ext cx="758824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/admin/analytics/commits      AI per commit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/admin/analytics/export/csv   Bulk CSV export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/admin/analytics/events       Granular events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KEY METRICS: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Adoption:  DAU / total team size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ROI:       (Hours saved × rate) - AI cost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Quality:   Acceptance rate by 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Compliance: Complete change audit trail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DEPLOY:  Streamlit · Metabase · PowerBI · Custom React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8" name=""/>
          <p:cNvSpPr txBox="1"/>
          <p:nvPr/>
        </p:nvSpPr>
        <p:spPr>
          <a:xfrm>
            <a:off x="743712" y="850000"/>
            <a:ext cx="4038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Course Complete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9" name=""/>
          <p:cNvSpPr txBox="1"/>
          <p:nvPr/>
        </p:nvSpPr>
        <p:spPr>
          <a:xfrm>
            <a:off x="743712" y="1567680"/>
            <a:ext cx="6012360" cy="38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— Day 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1" name=""/>
          <p:cNvSpPr txBox="1"/>
          <p:nvPr/>
        </p:nvSpPr>
        <p:spPr>
          <a:xfrm>
            <a:off x="747720" y="2032480"/>
            <a:ext cx="1981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now: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3" name=""/>
          <p:cNvSpPr txBox="1"/>
          <p:nvPr/>
        </p:nvSpPr>
        <p:spPr>
          <a:xfrm>
            <a:off x="1357200" y="2452680"/>
            <a:ext cx="7014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and manage Cloud Agents programmatically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5" name=""/>
          <p:cNvSpPr txBox="1"/>
          <p:nvPr/>
        </p:nvSpPr>
        <p:spPr>
          <a:xfrm>
            <a:off x="743712" y="2872880"/>
            <a:ext cx="950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Stream agent responses with SSE · Webhooks with HMAC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7" name=""/>
          <p:cNvSpPr txBox="1"/>
          <p:nvPr/>
        </p:nvSpPr>
        <p:spPr>
          <a:xfrm>
            <a:off x="1357200" y="3293080"/>
            <a:ext cx="6472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Administer teams and enforce spending policies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9" name=""/>
          <p:cNvSpPr txBox="1"/>
          <p:nvPr/>
        </p:nvSpPr>
        <p:spPr>
          <a:xfrm>
            <a:off x="1357200" y="3713280"/>
            <a:ext cx="6964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Analyze usage, model adoption, and AI contribution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1" name=""/>
          <p:cNvSpPr txBox="1"/>
          <p:nvPr/>
        </p:nvSpPr>
        <p:spPr>
          <a:xfrm>
            <a:off x="1357200" y="4133480"/>
            <a:ext cx="620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AI vs. human code changes per commit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2" name=""/>
          <p:cNvSpPr txBox="1"/>
          <p:nvPr/>
        </p:nvSpPr>
        <p:spPr>
          <a:xfrm>
            <a:off x="1357200" y="4553680"/>
            <a:ext cx="5575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reporting dashboards for leadership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3" name=""/>
          <p:cNvSpPr txBox="1"/>
          <p:nvPr/>
        </p:nvSpPr>
        <p:spPr>
          <a:xfrm>
            <a:off x="743712" y="4973880"/>
            <a:ext cx="992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steps: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Complete take-home dashboard · set up scheduled exports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4" name=""/>
          <p:cNvSpPr txBox="1"/>
          <p:nvPr/>
        </p:nvSpPr>
        <p:spPr>
          <a:xfrm>
            <a:off x="285840" y="225720"/>
            <a:ext cx="3472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CC0000"/>
                </a:solidFill>
              </a:rPr>
              <a:t>Module 10 — AI Code Tracking and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5" name=""/>
          <p:cNvSpPr txBox="1"/>
          <p:nvPr/>
        </p:nvSpPr>
        <p:spPr>
          <a:xfrm>
            <a:off x="285840" y="6426720"/>
            <a:ext cx="233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sz="1350" b="0">
                <a:solidFill>
                  <a:srgbClr val="000000"/>
                </a:solidFill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6" name=""/>
          <p:cNvSpPr txBox="1"/>
          <p:nvPr/>
        </p:nvSpPr>
        <p:spPr>
          <a:xfrm>
            <a:off x="11524680" y="6355800"/>
            <a:ext cx="38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