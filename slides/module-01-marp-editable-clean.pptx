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1014780" y="2674620"/>
            <a:ext cx="10162440" cy="54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4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Mental Models for AI-Assisted Development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309600" y="3320740"/>
            <a:ext cx="5572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· Day 1 (Foundations)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635680" y="3843180"/>
            <a:ext cx="6920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Concept block · ~60 min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743712" y="850000"/>
            <a:ext cx="32598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Overview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0" name="Table 79"/>
          <p:cNvGraphicFramePr>
            <a:graphicFrameLocks noGrp="1"/>
          </p:cNvGraphicFramePr>
          <p:nvPr/>
        </p:nvGraphicFramePr>
        <p:xfrm>
          <a:off x="743712" y="1442440"/>
          <a:ext cx="6353160" cy="26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0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Details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~60 minutes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Concept block (foundational theory)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Prerequisites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 – this is the starting point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9744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Module Goal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Build accurate mental models of how AI coding assistants work, their limitations, and how to use them effectively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747720" y="1442440"/>
            <a:ext cx="7184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By the end of this module, participants will be able to: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43712" y="1862640"/>
            <a:ext cx="7692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Explain why AI outputs are probabilistic, not deterministic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357200" y="2282840"/>
            <a:ext cx="7184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Identify and mitigate hallucinations in coding contexts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357200" y="2703040"/>
            <a:ext cx="7269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Understand token-based pricing and cost optimization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57200" y="3123240"/>
            <a:ext cx="6726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Master context as the single most valuable AI skill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743712" y="3543440"/>
            <a:ext cx="8540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Distinguish between tool calling, MCP, and autonomous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357200" y="3963640"/>
            <a:ext cx="681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Define the developer's evolving role with AI agents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1.1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246140" y="3331520"/>
            <a:ext cx="3699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How AI Models Work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12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"/>
          <p:cNvSpPr txBox="1"/>
          <p:nvPr/>
        </p:nvSpPr>
        <p:spPr>
          <a:xfrm>
            <a:off x="743712" y="850000"/>
            <a:ext cx="5724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Outputs Are Probabilistic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43712" y="1442440"/>
            <a:ext cx="9759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Unlike traditional software that gives the same output for the same input,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743712" y="1862640"/>
            <a:ext cx="91314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AI models generate responses based on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probability distributions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47720" y="2282840"/>
            <a:ext cx="796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At its simplest, an LLM is a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next-token prediction engine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743712" y="2703040"/>
            <a:ext cx="9996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Given a sequence of tokens, it predicts what comes next — then samples,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747720" y="3123240"/>
            <a:ext cx="2440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appends, repeats.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 txBox="1"/>
          <p:nvPr/>
        </p:nvSpPr>
        <p:spPr>
          <a:xfrm>
            <a:off x="743712" y="850000"/>
            <a:ext cx="4205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Next-Token Prediction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923760" y="1442440"/>
            <a:ext cx="566800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Input: "def calculate_sum(a, b):"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 thinks: "What's most likely next?"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Probabilities: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"return" → 85%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"print"  → 8%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"pass"   → 4%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"for"    → 2%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- Other    → 1%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 txBox="1"/>
          <p:nvPr/>
        </p:nvSpPr>
        <p:spPr>
          <a:xfrm>
            <a:off x="743712" y="850000"/>
            <a:ext cx="5548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Traditional Code vs. AI Model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47720" y="3600440"/>
            <a:ext cx="716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Never trust a single run as ground truth.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04" name="Table 203"/>
          <p:cNvGraphicFramePr>
            <a:graphicFrameLocks noGrp="1"/>
          </p:cNvGraphicFramePr>
          <p:nvPr/>
        </p:nvGraphicFramePr>
        <p:xfrm>
          <a:off x="743712" y="1442440"/>
          <a:ext cx="902016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40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Traditional 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AI 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Deterministic (same input → same output)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Probabilistic (different outputs possible)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 control the logic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You influence, but don't control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Errors are bugs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Errors are features of probability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Predictable behavior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Needs management via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"/>
          <p:cNvSpPr txBox="1"/>
          <p:nvPr/>
        </p:nvSpPr>
        <p:spPr>
          <a:xfrm>
            <a:off x="743712" y="850000"/>
            <a:ext cx="5394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Determines AI Output?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43712" y="1442440"/>
            <a:ext cx="895984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  Factors That Shape Output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1. Training Data      → What the model "learned"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2. Prompt             → Your instruction (most influential)│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3. Temperature        → Randomness level (0 = deterministic)│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4. Top-p / Top-k      → Token selection pool size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5. System Prompt      → Persistent behavioral guidelines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6. Context Window     → What the model can "see"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7. Model Architecture → Different models, different biases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 txBox="1"/>
          <p:nvPr/>
        </p:nvSpPr>
        <p:spPr>
          <a:xfrm>
            <a:off x="743712" y="850000"/>
            <a:ext cx="5373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Key Parameters You Control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03" name="Table 302"/>
          <p:cNvGraphicFramePr>
            <a:graphicFrameLocks noGrp="1"/>
          </p:cNvGraphicFramePr>
          <p:nvPr/>
        </p:nvGraphicFramePr>
        <p:xfrm>
          <a:off x="743712" y="1442440"/>
          <a:ext cx="10223160" cy="16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4830120"/>
                <a:gridCol w="4083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Randomness (0 = deterministic, 1 = creative)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Bug fixes (low), brainstorming (high)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Top-p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Nucleus sampling – limits token pool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Balanced responses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Max Tokens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Limits response length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Controlling cost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04" name="TextBox 303"/>
          <p:cNvSpPr txBox="1"/>
          <p:nvPr/>
        </p:nvSpPr>
        <p:spPr>
          <a:xfrm>
            <a:off x="923760" y="3184840"/>
            <a:ext cx="4433560" cy="1096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temperature: 0.2   # focused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top_p: 0.9         # balanced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max_tokens: 4000   # cap length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 txBox="1"/>
          <p:nvPr/>
        </p:nvSpPr>
        <p:spPr>
          <a:xfrm>
            <a:off x="743712" y="850000"/>
            <a:ext cx="3788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Temperature Impact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47720" y="1442440"/>
            <a:ext cx="6858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Same prompt: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"Write a function to reverse a string"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TextBox 321"/>
          <p:cNvSpPr txBox="1"/>
          <p:nvPr/>
        </p:nvSpPr>
        <p:spPr>
          <a:xfrm>
            <a:off x="923760" y="1862640"/>
            <a:ext cx="70396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0.1 — very deterministic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reverse_string(s):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s[::-1]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0.7 — balanced (adds edge cases)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reverse_string(s):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if not s: return 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return s[::-1]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Temperature 1.2 — creative, potentially unstable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def flip_the_text(text): ...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 txBox="1"/>
          <p:nvPr/>
        </p:nvSpPr>
        <p:spPr>
          <a:xfrm>
            <a:off x="743712" y="850000"/>
            <a:ext cx="3258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Training Gap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747720" y="1442440"/>
            <a:ext cx="8513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are frozen at their training cutoff date. They don't know: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357200" y="1862640"/>
            <a:ext cx="4846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Code written after their training date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357200" y="2282840"/>
            <a:ext cx="398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 company's internal APIs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1357200" y="2703040"/>
            <a:ext cx="4778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 specific architecture decisions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1357200" y="3123240"/>
            <a:ext cx="560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Recent library updates (unless in context)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43712" y="3543440"/>
            <a:ext cx="969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You must provide this information in the prompt or context.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4862280" y="3331520"/>
            <a:ext cx="2467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 txBox="1"/>
          <p:nvPr/>
        </p:nvSpPr>
        <p:spPr>
          <a:xfrm>
            <a:off x="743712" y="850000"/>
            <a:ext cx="48002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Are Hallucinations?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743712" y="1442440"/>
            <a:ext cx="9699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Confident-sounding outputs that are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factually wrong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, made up, or don't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1090440" y="1862640"/>
            <a:ext cx="712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exist.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43712" y="2282840"/>
            <a:ext cx="10198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dangerous form: the model sounds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completely confident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while being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47720" y="2703040"/>
            <a:ext cx="2676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completely wrong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 txBox="1"/>
          <p:nvPr/>
        </p:nvSpPr>
        <p:spPr>
          <a:xfrm>
            <a:off x="743712" y="850000"/>
            <a:ext cx="4271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Hallucinations in Code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743712" y="1442440"/>
          <a:ext cx="819624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336600"/>
                <a:gridCol w="28032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to Spot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Fake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import nonexistent_library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Check docs; import fails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Wrong parameters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Incorrect function signature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Type checking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Invented methods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list.reverse_in_place()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Know the standard library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Confident nonsense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"This is the standard way to…"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Cross-reference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Outdated syntax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Old Python 2 style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Know version differences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 txBox="1"/>
          <p:nvPr/>
        </p:nvSpPr>
        <p:spPr>
          <a:xfrm>
            <a:off x="743712" y="850000"/>
            <a:ext cx="4536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Models Hallucinate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TextBox 485"/>
          <p:cNvSpPr txBox="1"/>
          <p:nvPr/>
        </p:nvSpPr>
        <p:spPr>
          <a:xfrm>
            <a:off x="743712" y="1442440"/>
            <a:ext cx="895984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Root Causes of Hallucination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Training Data Gaps     → Model "guesses" when uncertain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Probability Pressure   → Must output SOMETHING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Pattern Overfitting    → Sees patterns that don't exist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No True/False Circuit  → Models don't have truth checking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Confidence Calibration → Sounds confident when wrong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 txBox="1"/>
          <p:nvPr/>
        </p:nvSpPr>
        <p:spPr>
          <a:xfrm>
            <a:off x="743712" y="850000"/>
            <a:ext cx="50857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Example: Confident Wrong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743712" y="1442440"/>
            <a:ext cx="8685520" cy="26200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"How do I use requests for async calls?"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Hallucinated (confident, wrong)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import requests.async as async_requests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response = await async_requests.get('https://api.example.com')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Reality: requests does NOT have async support.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Correct answer: Use httpx or aiohttp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"/>
          <p:cNvSpPr txBox="1"/>
          <p:nvPr/>
        </p:nvSpPr>
        <p:spPr>
          <a:xfrm>
            <a:off x="743712" y="850000"/>
            <a:ext cx="64954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 Mitigation Strategies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24" name="Table 623"/>
          <p:cNvGraphicFramePr>
            <a:graphicFrameLocks noGrp="1"/>
          </p:cNvGraphicFramePr>
          <p:nvPr/>
        </p:nvGraphicFramePr>
        <p:xfrm>
          <a:off x="743712" y="1442440"/>
          <a:ext cx="926304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3016560"/>
                <a:gridCol w="39766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Grounding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Provide source material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Paste library docs into context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Verification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for citations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"Which line of the docs shows this?"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Constrained decoding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 possible outputs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JSON mode, regex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Self-consistency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Ask multiple times, compare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 same prompt 3×, take majority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Low 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Reduce randomness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temperature: 0.1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 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Let model search/lookup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Enable web search for docs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"/>
          <p:cNvSpPr txBox="1"/>
          <p:nvPr/>
        </p:nvSpPr>
        <p:spPr>
          <a:xfrm>
            <a:off x="743712" y="850000"/>
            <a:ext cx="6275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Hallucination Detection Checklist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747720" y="1442440"/>
            <a:ext cx="5862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accepting AI-generated code, verify: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357200" y="1862640"/>
            <a:ext cx="4201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 the imported libraries exist?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357200" y="2282840"/>
            <a:ext cx="4303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function signatures correct?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357200" y="2703040"/>
            <a:ext cx="6167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syntax match my language version?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357200" y="3123240"/>
            <a:ext cx="4151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Are there obvious logic errors?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357200" y="3543440"/>
            <a:ext cx="398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Would this code actually run?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1357200" y="3963640"/>
            <a:ext cx="598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 the model cite sources you can verify?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"/>
          <p:cNvSpPr txBox="1"/>
          <p:nvPr/>
        </p:nvSpPr>
        <p:spPr>
          <a:xfrm>
            <a:off x="743712" y="850000"/>
            <a:ext cx="46530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Developer's Mindset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743712" y="1442440"/>
            <a:ext cx="8908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"Trust, but verify – especially when the AI sounds most confident."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743712" y="1862640"/>
            <a:ext cx="7574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Hallucinations decrease with better prompts and context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1357200" y="2282840"/>
            <a:ext cx="3575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They never fully disappear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743712" y="2703040"/>
            <a:ext cx="7760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 are the human-in-the-loop responsible for verification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1357200" y="3123240"/>
            <a:ext cx="709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Experience helps you "smell" potential hallucinations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1.3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4399680" y="3331520"/>
            <a:ext cx="3392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Tokens and Pricing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4647180" y="3853960"/>
            <a:ext cx="2897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10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"/>
          <p:cNvSpPr txBox="1"/>
          <p:nvPr/>
        </p:nvSpPr>
        <p:spPr>
          <a:xfrm>
            <a:off x="743712" y="850000"/>
            <a:ext cx="3259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a Token?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743712" y="1442440"/>
            <a:ext cx="931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token is the atomic unit of processing for LLMs — not a word, not 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747720" y="1862640"/>
            <a:ext cx="1356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character.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743712" y="4440840"/>
            <a:ext cx="1024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tokens matter: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You pay per token · Context windows are measured 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47720" y="4861040"/>
            <a:ext cx="8704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tokens · Token limits determine how much code the AI can "see"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67" name="Table 766"/>
          <p:cNvGraphicFramePr>
            <a:graphicFrameLocks noGrp="1"/>
          </p:cNvGraphicFramePr>
          <p:nvPr/>
        </p:nvGraphicFramePr>
        <p:xfrm>
          <a:off x="743712" y="2282840"/>
          <a:ext cx="691608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9640"/>
                <a:gridCol w="2803200"/>
                <a:gridCol w="31232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Language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Token Count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English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"Hello world"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 tokens (~0.75 words/token)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"Congratulations"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 token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function calculateTotal()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~5 tokens (~2–4 chars/token)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Chinese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"你好世界"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4–8 tokens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"/>
          <p:cNvSpPr txBox="1"/>
          <p:nvPr/>
        </p:nvSpPr>
        <p:spPr>
          <a:xfrm>
            <a:off x="743712" y="850000"/>
            <a:ext cx="4491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Input vs. Output Pricing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743712" y="1442440"/>
            <a:ext cx="10062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Input tokens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(prompt, code context, retrieved docs) cost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less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747720" y="1862640"/>
            <a:ext cx="5863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tokens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(generated code and explanations).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743712" y="2282840"/>
            <a:ext cx="9497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Output is often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5–8× more expensive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generation is more compute-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747720" y="2703040"/>
            <a:ext cx="3067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intensive than reading.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"/>
          <p:cNvSpPr txBox="1"/>
          <p:nvPr/>
        </p:nvSpPr>
        <p:spPr>
          <a:xfrm>
            <a:off x="743712" y="850000"/>
            <a:ext cx="4558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Model Pricing Examples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57" name="Table 956"/>
          <p:cNvGraphicFramePr>
            <a:graphicFrameLocks noGrp="1"/>
          </p:cNvGraphicFramePr>
          <p:nvPr/>
        </p:nvGraphicFramePr>
        <p:xfrm>
          <a:off x="743712" y="1442440"/>
          <a:ext cx="673224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760"/>
                <a:gridCol w="1629720"/>
                <a:gridCol w="1736400"/>
                <a:gridCol w="14163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Input (per 1M)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Output (per 1M)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Output/Input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$0.25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4.5 Haiku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GPT-5.3 Codex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$1.75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$14.00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8×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Gemini 3.1 Pro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$12.00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4.6 Sonnet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$3.00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$15.00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4.7 Opus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$25.00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5×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$30.00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6×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"/>
          <p:cNvSpPr txBox="1"/>
          <p:nvPr/>
        </p:nvSpPr>
        <p:spPr>
          <a:xfrm>
            <a:off x="743712" y="850000"/>
            <a:ext cx="6341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1 Million Tokens Looks Like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021" name="Table 1020"/>
          <p:cNvGraphicFramePr>
            <a:graphicFrameLocks noGrp="1"/>
          </p:cNvGraphicFramePr>
          <p:nvPr/>
        </p:nvGraphicFramePr>
        <p:xfrm>
          <a:off x="743712" y="1442440"/>
          <a:ext cx="549972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800"/>
                <a:gridCol w="32299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Content Type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Approximate Amount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Plain English 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~750,000 words (~1,500 pages)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Python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~250,000–500,000 lines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Average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5–10 sessions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 codebase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Small to medium project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"/>
          <p:cNvSpPr txBox="1"/>
          <p:nvPr/>
        </p:nvSpPr>
        <p:spPr>
          <a:xfrm>
            <a:off x="743712" y="850000"/>
            <a:ext cx="4866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Cost Calculation Example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TextBox 1037"/>
          <p:cNvSpPr txBox="1"/>
          <p:nvPr/>
        </p:nvSpPr>
        <p:spPr>
          <a:xfrm>
            <a:off x="743712" y="1442440"/>
            <a:ext cx="8685520" cy="32296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prompt_tokens = 5000    # instructions + context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output_tokens = 2000    # AI response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model = "claude-4.6-sonnet"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input_price  = 3.00     # per 1M tokens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output_price = 15.00    # per 1M tokens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/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input_cost  = (5000 / 1_000_000) * 3.00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output_cost = (2000 / 1_000_000) * 15.00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total_cost  = input_cost + output_cost   # ~$0.045 (4.5 cents)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"/>
          <p:cNvSpPr txBox="1"/>
          <p:nvPr/>
        </p:nvSpPr>
        <p:spPr>
          <a:xfrm>
            <a:off x="743712" y="850000"/>
            <a:ext cx="54165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Cost Optimization Strategies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60" name="Table 1159"/>
          <p:cNvGraphicFramePr>
            <a:graphicFrameLocks noGrp="1"/>
          </p:cNvGraphicFramePr>
          <p:nvPr/>
        </p:nvGraphicFramePr>
        <p:xfrm>
          <a:off x="743712" y="1442440"/>
          <a:ext cx="712944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0"/>
                <a:gridCol w="301656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 cheaper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Mini/Haiku for simple tasks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5–20× reduction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Reduce 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Only send relevant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2–5× reduction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Cache responses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Reuse common answers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Batch operations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Combine multiple tasks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30–50% reduction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Monitor usage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Track spending per user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Prevents surprises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Set limits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Monthly spending caps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Budget protection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"/>
          <p:cNvSpPr txBox="1"/>
          <p:nvPr/>
        </p:nvSpPr>
        <p:spPr>
          <a:xfrm>
            <a:off x="743712" y="850000"/>
            <a:ext cx="46674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Real-World Cost Bounds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250" name="Table 1249"/>
          <p:cNvGraphicFramePr>
            <a:graphicFrameLocks noGrp="1"/>
          </p:cNvGraphicFramePr>
          <p:nvPr/>
        </p:nvGraphicFramePr>
        <p:xfrm>
          <a:off x="743712" y="1442440"/>
          <a:ext cx="71294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1416360"/>
                <a:gridCol w="44034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Usage Level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Monthly Cost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What You Can Do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Light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$10–20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Occasional questions, small fixes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$50–100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Daily coding, regular agent use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Heavy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$200–500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Full-time AI assistance, multiple agents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$1000+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Team usage, automation, CI/CD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"/>
          <p:cNvSpPr txBox="1"/>
          <p:nvPr/>
        </p:nvSpPr>
        <p:spPr>
          <a:xfrm>
            <a:off x="743712" y="850000"/>
            <a:ext cx="3215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Cache Effect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 txBox="1"/>
          <p:nvPr/>
        </p:nvSpPr>
        <p:spPr>
          <a:xfrm>
            <a:off x="747720" y="1442440"/>
            <a:ext cx="579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can cache frequently used content: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1357200" y="1862640"/>
            <a:ext cx="4675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 Write: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Cost to initially store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 txBox="1"/>
          <p:nvPr/>
        </p:nvSpPr>
        <p:spPr>
          <a:xfrm>
            <a:off x="743712" y="2282840"/>
            <a:ext cx="8691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Cache Read: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Much cheaper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than fresh input (80–95% savings)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 txBox="1"/>
          <p:nvPr/>
        </p:nvSpPr>
        <p:spPr>
          <a:xfrm>
            <a:off x="747720" y="3574240"/>
            <a:ext cx="4718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discipline = cost discipline.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923760" y="2703040"/>
            <a:ext cx="7725400" cy="7912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First request  → pays full input price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# Second request → same context → pays cache read price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1.4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5412900" y="3331520"/>
            <a:ext cx="1366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2343180" y="3853960"/>
            <a:ext cx="750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12 minutes · The single most valuable AI skill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"/>
          <p:cNvSpPr txBox="1"/>
          <p:nvPr/>
        </p:nvSpPr>
        <p:spPr>
          <a:xfrm>
            <a:off x="743712" y="850000"/>
            <a:ext cx="3236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Context?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 txBox="1"/>
          <p:nvPr/>
        </p:nvSpPr>
        <p:spPr>
          <a:xfrm>
            <a:off x="743712" y="1442440"/>
            <a:ext cx="9768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= all the information the model has access to when generating 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747720" y="1862640"/>
            <a:ext cx="1339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response.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TextBox 1297"/>
          <p:cNvSpPr txBox="1"/>
          <p:nvPr/>
        </p:nvSpPr>
        <p:spPr>
          <a:xfrm>
            <a:off x="743712" y="2282840"/>
            <a:ext cx="9097000" cy="3534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                 What Goes Into Context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System Prompt   → "You are a helpful coding assistant"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User Prompt     → "Fix this bug: ..."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Code Files      → Current file, related files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Conversation    → Previous exchanges         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Retrieved Docs  → Library documentation, examples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Tool Outputs    → Results from search, file reads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Constraints     → "Only use standard library"          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"/>
          <p:cNvSpPr txBox="1"/>
          <p:nvPr/>
        </p:nvSpPr>
        <p:spPr>
          <a:xfrm>
            <a:off x="743712" y="850000"/>
            <a:ext cx="4975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Context Window Limit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743712" y="2769240"/>
            <a:ext cx="9114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When you exceed context: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Oldest content gets truncated · Critical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 txBox="1"/>
          <p:nvPr/>
        </p:nvSpPr>
        <p:spPr>
          <a:xfrm>
            <a:off x="747720" y="3189440"/>
            <a:ext cx="3795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information may be dropped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743712" y="3609640"/>
            <a:ext cx="1044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Context engineering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= knowing what to put in, what to leave out, and how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 txBox="1"/>
          <p:nvPr/>
        </p:nvSpPr>
        <p:spPr>
          <a:xfrm>
            <a:off x="747720" y="4029840"/>
            <a:ext cx="1508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structure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376" name="Table 1375"/>
          <p:cNvGraphicFramePr>
            <a:graphicFrameLocks noGrp="1"/>
          </p:cNvGraphicFramePr>
          <p:nvPr/>
        </p:nvGraphicFramePr>
        <p:xfrm>
          <a:off x="743712" y="1442440"/>
          <a:ext cx="8225760" cy="12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9960"/>
                <a:gridCol w="1629720"/>
                <a:gridCol w="1523040"/>
                <a:gridCol w="15230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Context Window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Pages of Text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Lines of Code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Claude 4 (Haiku / Sonnet / Opus)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200k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~150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~50,000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GPT-5 Mini / GPT-5.3 Codex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272k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~200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~70,000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"/>
          <p:cNvSpPr txBox="1"/>
          <p:nvPr/>
        </p:nvSpPr>
        <p:spPr>
          <a:xfrm>
            <a:off x="743712" y="850000"/>
            <a:ext cx="3347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Checklist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 txBox="1"/>
          <p:nvPr/>
        </p:nvSpPr>
        <p:spPr>
          <a:xfrm>
            <a:off x="747720" y="1442440"/>
            <a:ext cx="43207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Before every AI interaction, ask: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 txBox="1"/>
          <p:nvPr/>
        </p:nvSpPr>
        <p:spPr>
          <a:xfrm>
            <a:off x="1357200" y="1862640"/>
            <a:ext cx="47102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problem am I trying to solve?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1357200" y="2282840"/>
            <a:ext cx="6100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files/code does the model need to see?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 txBox="1"/>
          <p:nvPr/>
        </p:nvSpPr>
        <p:spPr>
          <a:xfrm>
            <a:off x="1357200" y="2703040"/>
            <a:ext cx="6439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would a human need to know to help me?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1357200" y="3123240"/>
            <a:ext cx="5422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What information can I safely leave out?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1357200" y="3543440"/>
            <a:ext cx="47952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Is my context under the token limit?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1357200" y="3963640"/>
            <a:ext cx="5642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Have I included relevant error messages?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1357200" y="4383840"/>
            <a:ext cx="72000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Have I specified constraints (libraries, version, style)?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"/>
          <p:cNvSpPr txBox="1"/>
          <p:nvPr/>
        </p:nvSpPr>
        <p:spPr>
          <a:xfrm>
            <a:off x="743712" y="850000"/>
            <a:ext cx="41396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Good vs. Bad Context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747720" y="1442440"/>
            <a:ext cx="1931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(vague):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923760" y="1862640"/>
            <a:ext cx="4344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"Fix this bug: my code doesn't work"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747720" y="2162600"/>
            <a:ext cx="2456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(specific):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TextBox 1415"/>
          <p:cNvSpPr txBox="1"/>
          <p:nvPr/>
        </p:nvSpPr>
        <p:spPr>
          <a:xfrm>
            <a:off x="923760" y="2582800"/>
            <a:ext cx="7862560" cy="1400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Python function sorts dicts by key but raises KeyError.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Code: def sort_by_key(data, key): ...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Input: [{'name': 'Alice'}, {'age': 30}]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Using Python 3.11. Expected: skip dicts without the key.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"/>
          <p:cNvSpPr txBox="1"/>
          <p:nvPr/>
        </p:nvSpPr>
        <p:spPr>
          <a:xfrm>
            <a:off x="743712" y="850000"/>
            <a:ext cx="5681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Prioritization Pyramid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TextBox 1433"/>
          <p:cNvSpPr txBox="1"/>
          <p:nvPr/>
        </p:nvSpPr>
        <p:spPr>
          <a:xfrm>
            <a:off x="743712" y="1442440"/>
            <a:ext cx="8548360" cy="292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┌─────────────┐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│  Critical   │  MUST include (~10–20%)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┌┴─────────────┴┐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│   Important   │  Should include (~20–30%)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┌┴───────────────┴┐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│     Helpful     │  Nice to have (~30–40%)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┌┴─────────────────┴┐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│    Low Value        │  Omit if possible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└───────────────────┘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"/>
          <p:cNvSpPr txBox="1"/>
          <p:nvPr/>
        </p:nvSpPr>
        <p:spPr>
          <a:xfrm>
            <a:off x="743712" y="850000"/>
            <a:ext cx="56361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Context Window Management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540" name="Table 1539"/>
          <p:cNvGraphicFramePr>
            <a:graphicFrameLocks noGrp="1"/>
          </p:cNvGraphicFramePr>
          <p:nvPr/>
        </p:nvGraphicFramePr>
        <p:xfrm>
          <a:off x="743712" y="1442440"/>
          <a:ext cx="84096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3120"/>
                <a:gridCol w="3976680"/>
                <a:gridCol w="226980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Strategy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How It Works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When to Use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Compress earlier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Long sessions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Selective inclusion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Only relevant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Large codebases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Chunking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Split across multiple calls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Exceeding limit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Hierarchical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Summaries + details on demand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Complex projects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Vector retrieval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Semantic search for relevant context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Very large codebases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"/>
          <p:cNvSpPr txBox="1"/>
          <p:nvPr/>
        </p:nvSpPr>
        <p:spPr>
          <a:xfrm>
            <a:off x="743712" y="850000"/>
            <a:ext cx="62542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"Lost in the Middle" Problem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743712" y="1442440"/>
            <a:ext cx="105865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Models pay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most attention to the beginning and end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of context, and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less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747720" y="1862640"/>
            <a:ext cx="1609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middle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743712" y="4373240"/>
            <a:ext cx="103518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Implication: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Put critical information at the beginning OR end, not the middle.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923760" y="2282840"/>
            <a:ext cx="827404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Context Position Attention: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├─────────────────────────────────────────────────────────┤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BEGINNING  ████████████████████████████████  (high)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MIDDLE     ████████                           (low)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END        ████████████████████████████████  (high)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1.5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4168560" y="3331520"/>
            <a:ext cx="38548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Tool Calling and MCP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4731780" y="3853960"/>
            <a:ext cx="272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"/>
          <p:cNvSpPr txBox="1"/>
          <p:nvPr/>
        </p:nvSpPr>
        <p:spPr>
          <a:xfrm>
            <a:off x="743712" y="850000"/>
            <a:ext cx="40287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What Is Tool Calling?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743712" y="1442440"/>
            <a:ext cx="10674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Tool calling (function calling) lets the AI request execution of external functions.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 txBox="1"/>
          <p:nvPr/>
        </p:nvSpPr>
        <p:spPr>
          <a:xfrm>
            <a:off x="743712" y="1862640"/>
            <a:ext cx="9915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AI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doesn't execute code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it outputs a structured request that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your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 txBox="1"/>
          <p:nvPr/>
        </p:nvSpPr>
        <p:spPr>
          <a:xfrm>
            <a:off x="747720" y="2282840"/>
            <a:ext cx="2440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system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executes.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TextBox 1584"/>
          <p:cNvSpPr txBox="1"/>
          <p:nvPr/>
        </p:nvSpPr>
        <p:spPr>
          <a:xfrm>
            <a:off x="743712" y="2703040"/>
            <a:ext cx="1033144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User: "What's the weather in Tokyo?"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 decides: need weather data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 outputs: tool_call { name: "get_weather", args: { city: "Tokyo" } }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Your system executes get_weather("Tokyo")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Result returned to AI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→ AI: "The weather in Tokyo is 22°C and sunny"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"/>
          <p:cNvSpPr txBox="1"/>
          <p:nvPr/>
        </p:nvSpPr>
        <p:spPr>
          <a:xfrm>
            <a:off x="743712" y="850000"/>
            <a:ext cx="69796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Common Tool Types in Development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23" name="Table 1722"/>
          <p:cNvGraphicFramePr>
            <a:graphicFrameLocks noGrp="1"/>
          </p:cNvGraphicFramePr>
          <p:nvPr/>
        </p:nvGraphicFramePr>
        <p:xfrm>
          <a:off x="743712" y="1442440"/>
          <a:ext cx="7022760" cy="332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6360"/>
                <a:gridCol w="2056440"/>
                <a:gridCol w="35499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Tool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read_file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Read code files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"Show me the auth module"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edit_file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Modify code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"Add error handling to line 42"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search_code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Find patterns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"Find all uses of this function"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run_terminal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Execute commands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"Run the tests"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web_search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Find documentation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"Look up pandas DataFrame API"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Browse web pages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"Open the PR and review it"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git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Version control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"Create a branch and commit"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"/>
          <p:cNvSpPr txBox="1"/>
          <p:nvPr/>
        </p:nvSpPr>
        <p:spPr>
          <a:xfrm>
            <a:off x="743712" y="850000"/>
            <a:ext cx="57020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MCP (Model Context Protocol)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 txBox="1"/>
          <p:nvPr/>
        </p:nvSpPr>
        <p:spPr>
          <a:xfrm>
            <a:off x="743712" y="1442440"/>
            <a:ext cx="8585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"USB-C for AI — one protocol that works across different tools."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 txBox="1"/>
          <p:nvPr/>
        </p:nvSpPr>
        <p:spPr>
          <a:xfrm>
            <a:off x="747720" y="1862640"/>
            <a:ext cx="6843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Without MCP: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Each tool needs custom integration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743712" y="2282840"/>
            <a:ext cx="1021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With MCP: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Tools advertise their capabilities; AI discovers them dynamically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923760" y="2703040"/>
            <a:ext cx="8136880" cy="201040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┌──────────────┐     ┌──────────────┐     ┌──────────────┐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AI Model   │ ←→ │   MCP Host   │ ←→ │   Tools 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(Claude,    │     │  (Cursor,    │     │  (Files,   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│   GPT, etc)  │     │   etc)       │     │   Terminal,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└──────────────┘     └──────────────┘     │   Web, etc)  │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                                 └──────────────┘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"/>
          <p:cNvSpPr txBox="1"/>
          <p:nvPr/>
        </p:nvSpPr>
        <p:spPr>
          <a:xfrm>
            <a:off x="743712" y="850000"/>
            <a:ext cx="33469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Why MCP Matters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806" name="Table 1805"/>
          <p:cNvGraphicFramePr>
            <a:graphicFrameLocks noGrp="1"/>
          </p:cNvGraphicFramePr>
          <p:nvPr/>
        </p:nvGraphicFramePr>
        <p:xfrm>
          <a:off x="743712" y="1442440"/>
          <a:ext cx="6459840" cy="20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80"/>
                <a:gridCol w="461676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Benefit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Explanation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Interoperability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Same tools work across different AI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Discoverability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can learn what tools are available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Standardization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One protocol, not dozens of custom APIs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Extensibility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Add new tools without changing AI logic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"/>
          <p:cNvSpPr txBox="1"/>
          <p:nvPr/>
        </p:nvSpPr>
        <p:spPr>
          <a:xfrm>
            <a:off x="743712" y="850000"/>
            <a:ext cx="5109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Tool Calling Best Practices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743712" y="1442440"/>
            <a:ext cx="8691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Define clear tool schemas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name, description, parameters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 txBox="1"/>
          <p:nvPr/>
        </p:nvSpPr>
        <p:spPr>
          <a:xfrm>
            <a:off x="743712" y="1862640"/>
            <a:ext cx="95637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Validate tool calls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before execution — allowlist + parameter checks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 txBox="1"/>
          <p:nvPr/>
        </p:nvSpPr>
        <p:spPr>
          <a:xfrm>
            <a:off x="1018440" y="2282840"/>
            <a:ext cx="66412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Set timeouts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e.g., 30 seconds max per tool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1018440" y="2703040"/>
            <a:ext cx="63871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Log all tool calls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— audit trail for debugging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 txBox="1"/>
          <p:nvPr/>
        </p:nvSpPr>
        <p:spPr>
          <a:xfrm>
            <a:off x="743712" y="3123240"/>
            <a:ext cx="9419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5.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Require human approval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for destructive actions — never auto-run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 txBox="1"/>
          <p:nvPr/>
        </p:nvSpPr>
        <p:spPr>
          <a:xfrm>
            <a:off x="1357200" y="3543440"/>
            <a:ext cx="18640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writes/deletes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"/>
          <p:cNvSpPr txBox="1"/>
          <p:nvPr/>
        </p:nvSpPr>
        <p:spPr>
          <a:xfrm>
            <a:off x="4835280" y="2663840"/>
            <a:ext cx="252144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Lesson 1.6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 txBox="1"/>
          <p:nvPr/>
        </p:nvSpPr>
        <p:spPr>
          <a:xfrm>
            <a:off x="5478780" y="3331520"/>
            <a:ext cx="12344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320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4731780" y="3853960"/>
            <a:ext cx="27284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ctr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Concept · 8 minutes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"/>
          <p:cNvSpPr txBox="1"/>
          <p:nvPr/>
        </p:nvSpPr>
        <p:spPr>
          <a:xfrm>
            <a:off x="743712" y="850000"/>
            <a:ext cx="339084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Agent vs. Chatbot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950" name="Table 1949"/>
          <p:cNvGraphicFramePr>
            <a:graphicFrameLocks noGrp="1"/>
          </p:cNvGraphicFramePr>
          <p:nvPr/>
        </p:nvGraphicFramePr>
        <p:xfrm>
          <a:off x="743712" y="1442440"/>
          <a:ext cx="8943000" cy="290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680"/>
                <a:gridCol w="3976680"/>
                <a:gridCol w="36566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Aspect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Chatbot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Agent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Interaction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turn or simple back-and-forth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Multi-step, goal-oriented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User drives each step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 plans and executes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Memory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Limited to conversation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maintain state across steps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 (text only)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call tools, modify files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Autonomy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None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Goal-directed autonomy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"Explain this code"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"Fix all bugs in this repository"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"/>
          <p:cNvSpPr txBox="1"/>
          <p:nvPr/>
        </p:nvSpPr>
        <p:spPr>
          <a:xfrm>
            <a:off x="743712" y="7560"/>
            <a:ext cx="3016080" cy="442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The Agent Loop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TextBox 1977"/>
          <p:cNvSpPr txBox="1"/>
          <p:nvPr/>
        </p:nvSpPr>
        <p:spPr>
          <a:xfrm>
            <a:off x="923760" y="600000"/>
            <a:ext cx="7725400" cy="5217880"/>
          </a:xfrm>
          <a:prstGeom prst="rect">
            <a:avLst/>
          </a:prstGeom>
          <a:solidFill>
            <a:srgbClr val="F4F4F4"/>
          </a:solidFill>
          <a:ln w="9525">
            <a:solidFill>
              <a:srgbClr val="D0D0D0"/>
            </a:solidFill>
          </a:ln>
        </p:spPr>
        <p:txBody>
          <a:bodyPr wrap="none" lIns="40000" rIns="40000" tIns="40000" bIns="40000" anchor="t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GOAL    │  "Add dark mode to the entire app"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PLAN    │  Break goal into steps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 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ACT     │ ←→  │  OBSERVE │  (Tool call → result)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     └──────────┘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THINK   │  Evaluate progress, adjust plan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└────┬─────┘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     ↓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┌──────────┐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│  REPEAT  │  Until goal achieved or blocked</a:t>
            </a:r>
          </a:p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A1A1A"/>
                </a:solidFill>
                <a:latin typeface="Consolas"/>
              </a:rPr>
              <a:t>    └──────────┘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"/>
          <p:cNvSpPr txBox="1"/>
          <p:nvPr/>
        </p:nvSpPr>
        <p:spPr>
          <a:xfrm>
            <a:off x="743712" y="850000"/>
            <a:ext cx="502020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Levels of Agent Autonomy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15" name="Table 2114"/>
          <p:cNvGraphicFramePr>
            <a:graphicFrameLocks noGrp="1"/>
          </p:cNvGraphicFramePr>
          <p:nvPr/>
        </p:nvGraphicFramePr>
        <p:xfrm>
          <a:off x="743712" y="1442440"/>
          <a:ext cx="907920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600"/>
                <a:gridCol w="1309680"/>
                <a:gridCol w="4190040"/>
                <a:gridCol w="290988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Level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Assistant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Responds, needs step-by-step guidance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Basic chatbot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Tool-caller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Can request tools, human approves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Cursor Agent with approval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Planner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Makes plans, executes with supervision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Auto-code review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Autonomous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Self-directed, minimal supervision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CI/CD agent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L5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Full Agent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Complete task ownership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Enterprise automation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"/>
          <p:cNvSpPr txBox="1"/>
          <p:nvPr/>
        </p:nvSpPr>
        <p:spPr>
          <a:xfrm>
            <a:off x="743712" y="850000"/>
            <a:ext cx="58345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How Agents Change Your Role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 txBox="1"/>
          <p:nvPr/>
        </p:nvSpPr>
        <p:spPr>
          <a:xfrm>
            <a:off x="747720" y="1442440"/>
            <a:ext cx="1660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Traditional: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 txBox="1"/>
          <p:nvPr/>
        </p:nvSpPr>
        <p:spPr>
          <a:xfrm>
            <a:off x="923760" y="1862640"/>
            <a:ext cx="5430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Developer writes every line → tests → deploys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 txBox="1"/>
          <p:nvPr/>
        </p:nvSpPr>
        <p:spPr>
          <a:xfrm>
            <a:off x="747720" y="2162600"/>
            <a:ext cx="23378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Agent-Assisted: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 txBox="1"/>
          <p:nvPr/>
        </p:nvSpPr>
        <p:spPr>
          <a:xfrm>
            <a:off x="743712" y="2582800"/>
            <a:ext cx="94122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1A1A1A"/>
                </a:solidFill>
                <a:effectLst/>
                <a:uFillTx/>
                <a:latin typeface="Consolas"/>
                <a:ea typeface="Consolas"/>
              </a:rPr>
              <a:t>Developer defines intent → Agent executes → Developer reviews → Agent iterates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98" name="Table 2197"/>
          <p:cNvGraphicFramePr>
            <a:graphicFrameLocks noGrp="1"/>
          </p:cNvGraphicFramePr>
          <p:nvPr/>
        </p:nvGraphicFramePr>
        <p:xfrm>
          <a:off x="743712" y="2882760"/>
          <a:ext cx="3686160" cy="249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720"/>
                <a:gridCol w="205644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Old Role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New Role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Code writer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Intent specifier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Debugger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Quality reviewer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Orchestration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Manual testing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Acceptance testing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Problem solver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Problem framer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"/>
          <p:cNvSpPr txBox="1"/>
          <p:nvPr/>
        </p:nvSpPr>
        <p:spPr>
          <a:xfrm>
            <a:off x="743712" y="850000"/>
            <a:ext cx="385308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When to Use Agents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 txBox="1"/>
          <p:nvPr/>
        </p:nvSpPr>
        <p:spPr>
          <a:xfrm>
            <a:off x="747720" y="1442440"/>
            <a:ext cx="24559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Good for agents: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 txBox="1"/>
          <p:nvPr/>
        </p:nvSpPr>
        <p:spPr>
          <a:xfrm>
            <a:off x="1357200" y="1862640"/>
            <a:ext cx="5879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Large, multi-step tasks · Repetitive patterns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 txBox="1"/>
          <p:nvPr/>
        </p:nvSpPr>
        <p:spPr>
          <a:xfrm>
            <a:off x="1357200" y="2282840"/>
            <a:ext cx="5251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Well-defined with clear success criteria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 txBox="1"/>
          <p:nvPr/>
        </p:nvSpPr>
        <p:spPr>
          <a:xfrm>
            <a:off x="1357200" y="2703040"/>
            <a:ext cx="586260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Low-risk changes · Documentation updates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 txBox="1"/>
          <p:nvPr/>
        </p:nvSpPr>
        <p:spPr>
          <a:xfrm>
            <a:off x="747720" y="3123240"/>
            <a:ext cx="2235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Bad for agents: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 txBox="1"/>
          <p:nvPr/>
        </p:nvSpPr>
        <p:spPr>
          <a:xfrm>
            <a:off x="1357200" y="3543440"/>
            <a:ext cx="65728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Security-critical systems · Unrecoverable actions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 txBox="1"/>
          <p:nvPr/>
        </p:nvSpPr>
        <p:spPr>
          <a:xfrm>
            <a:off x="1357200" y="3963640"/>
            <a:ext cx="62013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Poorly defined goals · Real-time requirements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 txBox="1"/>
          <p:nvPr/>
        </p:nvSpPr>
        <p:spPr>
          <a:xfrm>
            <a:off x="1357200" y="4383840"/>
            <a:ext cx="25250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High cost of failure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"/>
          <p:cNvSpPr txBox="1"/>
          <p:nvPr/>
        </p:nvSpPr>
        <p:spPr>
          <a:xfrm>
            <a:off x="743712" y="850000"/>
            <a:ext cx="330336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Summary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341" name="Table 2340"/>
          <p:cNvGraphicFramePr>
            <a:graphicFrameLocks noGrp="1"/>
          </p:cNvGraphicFramePr>
          <p:nvPr/>
        </p:nvGraphicFramePr>
        <p:xfrm>
          <a:off x="743712" y="1442440"/>
          <a:ext cx="7662840" cy="402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280"/>
                <a:gridCol w="2056440"/>
                <a:gridCol w="4830120"/>
              </a:tblGrid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Lesson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CC0000"/>
                          </a:solidFill>
                        </a:rPr>
                        <a:t>Key Insight</a:t>
                      </a:r>
                    </a:p>
                  </a:txBody>
                  <a:tcPr>
                    <a:solidFill>
                      <a:srgbClr val="FFEBEB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1.1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How AI Models Work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Probabilistic, not deterministic – manage with temperature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Hallucinations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Models invent confidently – always verify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1.3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Tokens and Pricing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Output costs more – optimize context, use cheaper models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Context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Single most valuable skill – quality in = quality out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4156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1.5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Tool Calling &amp; MCP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AI requests actions, you control execution</a:t>
                      </a:r>
                    </a:p>
                  </a:txBody>
                  <a:tcPr>
                    <a:solidFill>
                      <a:srgbClr val="F7F7F7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  <a:tr h="695000"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Agents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  <a:tc>
                  <a:txBody>
                    <a:bodyPr wrap="square" lIns="30000" rIns="30000" tIns="15000" bIns="15000"/>
                    <a:lstStyle/>
                    <a:p>
                      <a:pPr>
                        <a:lnSpc>
                          <a:spcPts val="2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</a:rPr>
                        <a:t>Goal-directed action – changes developer role</a:t>
                      </a:r>
                    </a:p>
                  </a:txBody>
                  <a:tcPr>
                    <a:solidFill>
                      <a:srgbClr val="FFFFFF"/>
                    </a:solidFill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" name=""/>
          <p:cNvSpPr txBox="1"/>
          <p:nvPr/>
        </p:nvSpPr>
        <p:spPr>
          <a:xfrm>
            <a:off x="743712" y="850000"/>
            <a:ext cx="4254480" cy="567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Up Next: Module 2</a:t>
            </a:r>
            <a:endParaRPr lang="en-US" sz="38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 txBox="1"/>
          <p:nvPr/>
        </p:nvSpPr>
        <p:spPr>
          <a:xfrm>
            <a:off x="743712" y="2337120"/>
            <a:ext cx="7818120" cy="44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Cursor Editor Essentials · Day 1 (Hands-On)</a:t>
            </a:r>
            <a:endParaRPr lang="en-US" sz="31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 txBox="1"/>
          <p:nvPr/>
        </p:nvSpPr>
        <p:spPr>
          <a:xfrm>
            <a:off x="743712" y="2929560"/>
            <a:ext cx="96411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Now that you understand how AI models think, what they cost, and how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 txBox="1"/>
          <p:nvPr/>
        </p:nvSpPr>
        <p:spPr>
          <a:xfrm>
            <a:off x="743712" y="3349760"/>
            <a:ext cx="9384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agents work,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Module 2: Cursor Editor Essentials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covers core editor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 txBox="1"/>
          <p:nvPr/>
        </p:nvSpPr>
        <p:spPr>
          <a:xfrm>
            <a:off x="743712" y="3769960"/>
            <a:ext cx="939132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workflows — codebase orientation, diffs, Plan Mode, @mentions, and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 txBox="1"/>
          <p:nvPr/>
        </p:nvSpPr>
        <p:spPr>
          <a:xfrm>
            <a:off x="1090440" y="4190160"/>
            <a:ext cx="26776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terminal integration.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 txBox="1"/>
          <p:nvPr/>
        </p:nvSpPr>
        <p:spPr>
          <a:xfrm>
            <a:off x="747720" y="4610360"/>
            <a:ext cx="2220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 algn="l"/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End of Module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 txBox="1"/>
          <p:nvPr/>
        </p:nvSpPr>
        <p:spPr>
          <a:xfrm>
            <a:off x="285840" y="225720"/>
            <a:ext cx="428868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Module 1 — Mental Models for AI-Assisted Development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 txBox="1"/>
          <p:nvPr/>
        </p:nvSpPr>
        <p:spPr>
          <a:xfrm>
            <a:off x="285840" y="6426720"/>
            <a:ext cx="247644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Cursor Training Program · Day 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