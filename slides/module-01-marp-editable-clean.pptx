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1014780" y="1947400"/>
            <a:ext cx="10162440" cy="15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40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Mental Models for AI-Assisted Development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309600" y="3631400"/>
            <a:ext cx="5572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· Day 1 (Foundations)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4199400"/>
            <a:ext cx="43257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Concept block · ~60 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 txBox="1"/>
          <p:nvPr/>
        </p:nvSpPr>
        <p:spPr>
          <a:xfrm>
            <a:off x="743712" y="850000"/>
            <a:ext cx="32598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Overview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79" name="Table 78"/>
          <p:cNvGraphicFramePr>
            <a:graphicFrameLocks noGrp="1"/>
          </p:cNvGraphicFramePr>
          <p:nvPr/>
        </p:nvGraphicFramePr>
        <p:xfrm>
          <a:off x="2919420" y="3022940"/>
          <a:ext cx="6353160" cy="22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3040"/>
                <a:gridCol w="48301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Details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~60 minutes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Concept block (foundational theory)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Prerequisites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None – this is the starting point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8220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Module Goal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Build accurate mental models of how AI coding assistants work, their limitations, and how to use them effectively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 txBox="1"/>
          <p:nvPr/>
        </p:nvSpPr>
        <p:spPr>
          <a:xfrm>
            <a:off x="743712" y="850000"/>
            <a:ext cx="3788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Learning Objectives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43712" y="2429200"/>
            <a:ext cx="10728960" cy="270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By the end of this module, participants will be able to: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Explain why AI outputs are probabilistic, not deterministic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Identify and mitigate hallucinations in coding contexts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Understand token-based pricing and cost optimization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Master context as the single most valuable AI skill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Distinguish between tool calling, MCP, and autonomous agents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Define the developer's evolving role with AI agents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1.1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4246140" y="2733200"/>
            <a:ext cx="36997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How AI Models Work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190240" y="4092400"/>
            <a:ext cx="18115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12 minutes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 txBox="1"/>
          <p:nvPr/>
        </p:nvSpPr>
        <p:spPr>
          <a:xfrm>
            <a:off x="743712" y="850000"/>
            <a:ext cx="57247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Why Outputs Are Probabilistic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Unlike traditional software that gives the same output for the same input, AI models generate responses based 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probability distributions</a:t>
            </a:r>
            <a:r>
              <a:rPr sz="2000" b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At its simplest, an LLM is a </a:t>
            </a:r>
            <a:r>
              <a:rPr sz="2000" b="1">
                <a:solidFill>
                  <a:srgbClr val="000000"/>
                </a:solidFill>
                <a:latin typeface="Arial"/>
              </a:rPr>
              <a:t>next-token prediction engine</a:t>
            </a:r>
            <a:r>
              <a:rPr sz="2000" b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Given a sequence of tokens, it predicts what comes next — then samples, appends, repeats.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 txBox="1"/>
          <p:nvPr/>
        </p:nvSpPr>
        <p:spPr>
          <a:xfrm>
            <a:off x="743712" y="850000"/>
            <a:ext cx="4205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Next-Token Prediction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743712" y="2429200"/>
            <a:ext cx="5551800" cy="2351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Input: "def calculate_sum(a, b):"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Model thinks: "What's most likely next?"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Probabilities: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- "return" → 85%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- "print"  → 8%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- "pass"   → 4%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- "for"    → 2%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- Other    → 1%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"/>
          <p:cNvSpPr txBox="1"/>
          <p:nvPr/>
        </p:nvSpPr>
        <p:spPr>
          <a:xfrm>
            <a:off x="743712" y="850000"/>
            <a:ext cx="55486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Traditional Code vs. AI Model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01" name="Table 200"/>
          <p:cNvGraphicFramePr>
            <a:graphicFrameLocks noGrp="1"/>
          </p:cNvGraphicFramePr>
          <p:nvPr/>
        </p:nvGraphicFramePr>
        <p:xfrm>
          <a:off x="1585920" y="3251540"/>
          <a:ext cx="902016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3400"/>
                <a:gridCol w="461676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Traditional Code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AI Model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Deterministic (same input → same output)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Probabilistic (different outputs possible)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You control the logic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You influence, but don't control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Errors are bugs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Errors are features of probability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Predictable behavior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Needs management via parameters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 txBox="1"/>
          <p:nvPr/>
        </p:nvSpPr>
        <p:spPr>
          <a:xfrm>
            <a:off x="743712" y="850000"/>
            <a:ext cx="5901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Traditional vs. AI — Implication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47720" y="2429200"/>
            <a:ext cx="44791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Implication: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Never trust a single run as ground truth.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 txBox="1"/>
          <p:nvPr/>
        </p:nvSpPr>
        <p:spPr>
          <a:xfrm>
            <a:off x="743712" y="850000"/>
            <a:ext cx="53942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Determines AI Output?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1778840" y="6355800"/>
            <a:ext cx="22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743712" y="2429200"/>
            <a:ext cx="8843640" cy="285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                  Factors That Shape Output       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├─────────────────────────────────────────────────────────────┤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1. Training Data      → What the model "learned" 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2. Prompt             → Your instruction (most influential)│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3. Temperature        → Randomness level (0 = deterministic)│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4. Top-p / Top-k      → Token selection pool size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5. System Prompt      → Persistent behavioral guidelines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6. Context Window     → What the model can "see" 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7. Model Architecture → Different models, different biases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 txBox="1"/>
          <p:nvPr/>
        </p:nvSpPr>
        <p:spPr>
          <a:xfrm>
            <a:off x="743712" y="850000"/>
            <a:ext cx="53737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Key Parameters You Control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3" name="Table 302"/>
          <p:cNvGraphicFramePr>
            <a:graphicFrameLocks noGrp="1"/>
          </p:cNvGraphicFramePr>
          <p:nvPr/>
        </p:nvGraphicFramePr>
        <p:xfrm>
          <a:off x="984420" y="3433940"/>
          <a:ext cx="10223160" cy="145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9680"/>
                <a:gridCol w="4830120"/>
                <a:gridCol w="408336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Temperature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Randomness (0 = deterministic, 1 = creative)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Bug fixes (low), brainstorming (high)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Top-p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Nucleus sampling – limits token pool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Balanced responses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Max Tokens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Limits response length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Controlling cost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 txBox="1"/>
          <p:nvPr/>
        </p:nvSpPr>
        <p:spPr>
          <a:xfrm>
            <a:off x="743712" y="850000"/>
            <a:ext cx="66304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Key Parameters — Example Values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66904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TextBox 314"/>
          <p:cNvSpPr txBox="1"/>
          <p:nvPr/>
        </p:nvSpPr>
        <p:spPr>
          <a:xfrm>
            <a:off x="743712" y="2429200"/>
            <a:ext cx="4317360" cy="82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temperature: 0.2   # focused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top_p: 0.9         # balanced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max_tokens: 4000   # cap length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 txBox="1"/>
          <p:nvPr/>
        </p:nvSpPr>
        <p:spPr>
          <a:xfrm>
            <a:off x="743712" y="537280"/>
            <a:ext cx="3788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Temperature Impact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747720" y="5055880"/>
            <a:ext cx="42861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Same prompt: </a:t>
            </a: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"Write a function to reverse a string"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TextBox 333"/>
          <p:cNvSpPr txBox="1"/>
          <p:nvPr/>
        </p:nvSpPr>
        <p:spPr>
          <a:xfrm>
            <a:off x="743712" y="2116480"/>
            <a:ext cx="6923400" cy="285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Temperature 0.1 — very deterministic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def reverse_string(s):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return s[::-1]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Temperature 0.7 — balanced (adds edge cases)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def reverse_string(s):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if not s: return 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return s[::-1]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Temperature 1.2 — creative, potentially unstable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def flip_the_text(text): ...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"/>
          <p:cNvSpPr txBox="1"/>
          <p:nvPr/>
        </p:nvSpPr>
        <p:spPr>
          <a:xfrm>
            <a:off x="743712" y="850000"/>
            <a:ext cx="32587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Training Gap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TextBox 350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Models are frozen at their training cutoff date. They don't know: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Code written after their training date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Your company's internal APIs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Your specific architecture decisions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Recent library updates (unless in context)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Implication:</a:t>
            </a:r>
            <a:r>
              <a:rPr sz="2000" b="0">
                <a:solidFill>
                  <a:srgbClr val="000000"/>
                </a:solidFill>
                <a:latin typeface="Arial"/>
              </a:rPr>
              <a:t> You must provide this information in the prompt or context.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1.2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862280" y="2733200"/>
            <a:ext cx="24674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Hallucinations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190240" y="4092400"/>
            <a:ext cx="18115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10 minutes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"/>
          <p:cNvSpPr txBox="1"/>
          <p:nvPr/>
        </p:nvSpPr>
        <p:spPr>
          <a:xfrm>
            <a:off x="743712" y="850000"/>
            <a:ext cx="48002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Are Hallucinations?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TextBox 369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Confident-sounding outputs that are </a:t>
            </a:r>
            <a:r>
              <a:rPr sz="2000" b="1">
                <a:solidFill>
                  <a:srgbClr val="000000"/>
                </a:solidFill>
                <a:latin typeface="Arial"/>
              </a:rPr>
              <a:t>factually wrong</a:t>
            </a:r>
            <a:r>
              <a:rPr sz="2000" b="0">
                <a:solidFill>
                  <a:srgbClr val="000000"/>
                </a:solidFill>
                <a:latin typeface="Arial"/>
              </a:rPr>
              <a:t>, made up, or don't exist.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Most dangerous form: the model sounds </a:t>
            </a:r>
            <a:r>
              <a:rPr sz="2000" b="1">
                <a:solidFill>
                  <a:srgbClr val="000000"/>
                </a:solidFill>
                <a:latin typeface="Arial"/>
              </a:rPr>
              <a:t>completely confident</a:t>
            </a:r>
            <a:r>
              <a:rPr sz="2000" b="0">
                <a:solidFill>
                  <a:srgbClr val="000000"/>
                </a:solidFill>
                <a:latin typeface="Arial"/>
              </a:rPr>
              <a:t> while being </a:t>
            </a:r>
            <a:r>
              <a:rPr sz="2000" b="1">
                <a:solidFill>
                  <a:srgbClr val="000000"/>
                </a:solidFill>
                <a:latin typeface="Arial"/>
              </a:rPr>
              <a:t>completely wrong</a:t>
            </a:r>
            <a:r>
              <a:rPr sz="200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 txBox="1"/>
          <p:nvPr/>
        </p:nvSpPr>
        <p:spPr>
          <a:xfrm>
            <a:off x="743712" y="850000"/>
            <a:ext cx="42717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Hallucinations in Code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78" name="Table 477"/>
          <p:cNvGraphicFramePr>
            <a:graphicFrameLocks noGrp="1"/>
          </p:cNvGraphicFramePr>
          <p:nvPr/>
        </p:nvGraphicFramePr>
        <p:xfrm>
          <a:off x="1997880" y="3069140"/>
          <a:ext cx="8196240" cy="218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0"/>
                <a:gridCol w="3336600"/>
                <a:gridCol w="280320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How to Spot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Fake APIs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import nonexistent_library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Check docs; import fails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Wrong parameters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Incorrect function signature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Type checking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Invented methods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list.reverse_in_place()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Know the standard library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Confident nonsense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"This is the standard way to…"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Cross-reference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Outdated syntax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Old Python 2 style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Know version differences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"/>
          <p:cNvSpPr txBox="1"/>
          <p:nvPr/>
        </p:nvSpPr>
        <p:spPr>
          <a:xfrm>
            <a:off x="743712" y="850000"/>
            <a:ext cx="45363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Why Models Hallucinate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743712" y="2429200"/>
            <a:ext cx="8843640" cy="2351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                Root Causes of Hallucination      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├─────────────────────────────────────────────────────────────┤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Training Data Gaps     → Model "guesses" when uncertain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Probability Pressure   → Must output SOMETHING      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Pattern Overfitting    → Sees patterns that don't exist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No True/False Circuit  → Models don't have truth checking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Confidence Calibration → Sounds confident when wrong 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"/>
          <p:cNvSpPr txBox="1"/>
          <p:nvPr/>
        </p:nvSpPr>
        <p:spPr>
          <a:xfrm>
            <a:off x="743712" y="850000"/>
            <a:ext cx="50857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Example: Confident Wrong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743712" y="2429200"/>
            <a:ext cx="8569320" cy="2097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User: "How do I use requests for async calls?"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Hallucinated (confident, wrong)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import requests.async as async_requests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response = await async_requests.get('https://api.example.com')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Reality: requests does NOT have async support.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Correct answer: Use httpx or aiohttp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"/>
          <p:cNvSpPr txBox="1"/>
          <p:nvPr/>
        </p:nvSpPr>
        <p:spPr>
          <a:xfrm>
            <a:off x="743712" y="850000"/>
            <a:ext cx="64954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Hallucination Mitigation Strategies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634" name="Table 633"/>
          <p:cNvGraphicFramePr>
            <a:graphicFrameLocks noGrp="1"/>
          </p:cNvGraphicFramePr>
          <p:nvPr/>
        </p:nvGraphicFramePr>
        <p:xfrm>
          <a:off x="1464480" y="2886740"/>
          <a:ext cx="9263040" cy="255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800"/>
                <a:gridCol w="3016560"/>
                <a:gridCol w="397668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How It Works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Grounding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Provide source material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Paste library docs into context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Verification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Ask for citations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"Which line of the docs shows this?"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Constrained decoding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Limit possible outputs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JSON mode, regex patterns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Self-consistency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Ask multiple times, compare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Run same prompt 3×, take majority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Low temperature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Reduce randomness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temperature: 0.1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Tool use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Let model search/lookup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Enable web search for docs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 txBox="1"/>
          <p:nvPr/>
        </p:nvSpPr>
        <p:spPr>
          <a:xfrm>
            <a:off x="743712" y="850000"/>
            <a:ext cx="6275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Hallucination Detection Checklist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TextBox 653"/>
          <p:cNvSpPr txBox="1"/>
          <p:nvPr/>
        </p:nvSpPr>
        <p:spPr>
          <a:xfrm>
            <a:off x="743712" y="2429200"/>
            <a:ext cx="10728960" cy="2707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Before accepting AI-generated code, verify: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Do the imported libraries exist?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Are function signatures correct?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Does the syntax match my language version?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Are there obvious logic errors?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Would this code actually run?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Does the model cite sources you can verify?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"/>
          <p:cNvSpPr txBox="1"/>
          <p:nvPr/>
        </p:nvSpPr>
        <p:spPr>
          <a:xfrm>
            <a:off x="743712" y="850000"/>
            <a:ext cx="46530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Developer's Mindset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TextBox 670"/>
          <p:cNvSpPr txBox="1"/>
          <p:nvPr/>
        </p:nvSpPr>
        <p:spPr>
          <a:xfrm>
            <a:off x="743712" y="2429200"/>
            <a:ext cx="10728960" cy="1945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"Trust, but verify – especially when the AI sounds most confident."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Hallucinations decrease with better prompts and context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They never fully disappear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You are the human-in-the-loop responsible for verification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Experience helps you "smell" potential hallucinations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1.3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4399680" y="2733200"/>
            <a:ext cx="33926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Tokens and Pricing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190240" y="4092400"/>
            <a:ext cx="18115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10 minutes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"/>
          <p:cNvSpPr txBox="1"/>
          <p:nvPr/>
        </p:nvSpPr>
        <p:spPr>
          <a:xfrm>
            <a:off x="743712" y="850000"/>
            <a:ext cx="32590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Is a Token?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773" name="Table 772"/>
          <p:cNvGraphicFramePr>
            <a:graphicFrameLocks noGrp="1"/>
          </p:cNvGraphicFramePr>
          <p:nvPr/>
        </p:nvGraphicFramePr>
        <p:xfrm>
          <a:off x="2637960" y="3251540"/>
          <a:ext cx="691608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9640"/>
                <a:gridCol w="2803200"/>
                <a:gridCol w="312324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Language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Token Count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English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"Hello world"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 tokens (~0.75 words/token)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English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"Congratulations"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 token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function calculateTotal()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~5 tokens (~2–4 chars/token)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Chinese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"你好世界"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4–8 tokens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"/>
          <p:cNvSpPr txBox="1"/>
          <p:nvPr/>
        </p:nvSpPr>
        <p:spPr>
          <a:xfrm>
            <a:off x="743712" y="850000"/>
            <a:ext cx="36334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Why Tokens Matter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TextBox 781"/>
          <p:cNvSpPr txBox="1"/>
          <p:nvPr/>
        </p:nvSpPr>
        <p:spPr>
          <a:xfrm>
            <a:off x="743712" y="2429200"/>
            <a:ext cx="10728960" cy="118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A token is the atomic unit of processing for LLMs — not a word, not a character.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You pay per token · Context windows are measured in tokens · Token limits determine how much code the AI can "see"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"/>
          <p:cNvSpPr txBox="1"/>
          <p:nvPr/>
        </p:nvSpPr>
        <p:spPr>
          <a:xfrm>
            <a:off x="743712" y="850000"/>
            <a:ext cx="44913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Input vs. Output Pricing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TextBox 790"/>
          <p:cNvSpPr txBox="1"/>
          <p:nvPr/>
        </p:nvSpPr>
        <p:spPr>
          <a:xfrm>
            <a:off x="743712" y="24292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Input tokens</a:t>
            </a:r>
            <a:r>
              <a:rPr sz="2000" b="0">
                <a:solidFill>
                  <a:srgbClr val="000000"/>
                </a:solidFill>
                <a:latin typeface="Arial"/>
              </a:rPr>
              <a:t> (prompt, code context, retrieved docs) cost </a:t>
            </a:r>
            <a:r>
              <a:rPr sz="2000" b="1">
                <a:solidFill>
                  <a:srgbClr val="000000"/>
                </a:solidFill>
                <a:latin typeface="Arial"/>
              </a:rPr>
              <a:t>less</a:t>
            </a:r>
            <a:r>
              <a:rPr sz="2000" b="0">
                <a:solidFill>
                  <a:srgbClr val="000000"/>
                </a:solidFill>
                <a:latin typeface="Arial"/>
              </a:rPr>
              <a:t> than </a:t>
            </a:r>
            <a:r>
              <a:rPr sz="2000" b="1">
                <a:solidFill>
                  <a:srgbClr val="000000"/>
                </a:solidFill>
                <a:latin typeface="Arial"/>
              </a:rPr>
              <a:t>output tokens</a:t>
            </a:r>
            <a:r>
              <a:rPr sz="2000" b="0">
                <a:solidFill>
                  <a:srgbClr val="000000"/>
                </a:solidFill>
                <a:latin typeface="Arial"/>
              </a:rPr>
              <a:t> (generated code and explanations).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Output is often </a:t>
            </a:r>
            <a:r>
              <a:rPr sz="2000" b="1">
                <a:solidFill>
                  <a:srgbClr val="000000"/>
                </a:solidFill>
                <a:latin typeface="Arial"/>
              </a:rPr>
              <a:t>5–8× more expensive</a:t>
            </a:r>
            <a:r>
              <a:rPr sz="2000" b="0">
                <a:solidFill>
                  <a:srgbClr val="000000"/>
                </a:solidFill>
                <a:latin typeface="Arial"/>
              </a:rPr>
              <a:t> — generation is more compute-intensive than reading.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"/>
          <p:cNvSpPr txBox="1"/>
          <p:nvPr/>
        </p:nvSpPr>
        <p:spPr>
          <a:xfrm>
            <a:off x="743712" y="850000"/>
            <a:ext cx="45586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Model Pricing Examples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970" name="Table 969"/>
          <p:cNvGraphicFramePr>
            <a:graphicFrameLocks noGrp="1"/>
          </p:cNvGraphicFramePr>
          <p:nvPr/>
        </p:nvGraphicFramePr>
        <p:xfrm>
          <a:off x="2729880" y="2704340"/>
          <a:ext cx="6732240" cy="291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9760"/>
                <a:gridCol w="1629720"/>
                <a:gridCol w="1736400"/>
                <a:gridCol w="141636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Input (per 1M)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Output (per 1M)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Output/Input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 Mini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$0.25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$2.00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8×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4.5 Haiku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$5.00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5×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GPT-5.3 Codex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$1.75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$14.00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8×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Gemini 3.1 Pro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$12.00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6×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4.6 Sonnet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$3.00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$15.00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5×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4.7 Opus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$5.00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$25.00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5×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GPT-5.5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$5.00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$30.00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6×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"/>
          <p:cNvSpPr txBox="1"/>
          <p:nvPr/>
        </p:nvSpPr>
        <p:spPr>
          <a:xfrm>
            <a:off x="743712" y="850000"/>
            <a:ext cx="63414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1 Million Tokens Looks Like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034" name="Table 1033"/>
          <p:cNvGraphicFramePr>
            <a:graphicFrameLocks noGrp="1"/>
          </p:cNvGraphicFramePr>
          <p:nvPr/>
        </p:nvGraphicFramePr>
        <p:xfrm>
          <a:off x="3346140" y="3251540"/>
          <a:ext cx="549972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800"/>
                <a:gridCol w="32299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Content Type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Approximate Amount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Plain English text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~750,000 words (~1,500 pages)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Python code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~250,000–500,000 lines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Average conversation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5–10 sessions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Full codebase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Small to medium project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"/>
          <p:cNvSpPr txBox="1"/>
          <p:nvPr/>
        </p:nvSpPr>
        <p:spPr>
          <a:xfrm>
            <a:off x="743712" y="850000"/>
            <a:ext cx="4866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Cost Calculation Example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TextBox 1050"/>
          <p:cNvSpPr txBox="1"/>
          <p:nvPr/>
        </p:nvSpPr>
        <p:spPr>
          <a:xfrm>
            <a:off x="743712" y="2429200"/>
            <a:ext cx="8569320" cy="2605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prompt_tokens = 5000    # instructions + context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output_tokens = 2000    # AI response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model = "claude-4.6-sonnet"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input_price  = 3.00     # per 1M tokens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output_price = 15.00    # per 1M tokens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input_cost  = (5000 / 1_000_000) * 3.00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output_cost = (2000 / 1_000_000) * 15.00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total_cost  = input_cost + output_cost   # ~$0.045 (4.5 cents)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 txBox="1"/>
          <p:nvPr/>
        </p:nvSpPr>
        <p:spPr>
          <a:xfrm>
            <a:off x="743712" y="850000"/>
            <a:ext cx="54165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Cost Optimization Strategies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173" name="Table 1172"/>
          <p:cNvGraphicFramePr>
            <a:graphicFrameLocks noGrp="1"/>
          </p:cNvGraphicFramePr>
          <p:nvPr/>
        </p:nvGraphicFramePr>
        <p:xfrm>
          <a:off x="2531280" y="2886740"/>
          <a:ext cx="7129440" cy="255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0"/>
                <a:gridCol w="3016560"/>
                <a:gridCol w="205644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How It Works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Use cheaper models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Mini/Haiku for simple tasks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5–20× reduction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Reduce context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Only send relevant code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2–5× reduction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Cache responses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Reuse common answers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Batch operations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Combine multiple tasks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30–50% reduction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Monitor usage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Track spending per user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Prevents surprises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Set limits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Monthly spending caps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Budget protection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"/>
          <p:cNvSpPr txBox="1"/>
          <p:nvPr/>
        </p:nvSpPr>
        <p:spPr>
          <a:xfrm>
            <a:off x="743712" y="850000"/>
            <a:ext cx="46674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Real-World Cost Bounds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263" name="Table 1262"/>
          <p:cNvGraphicFramePr>
            <a:graphicFrameLocks noGrp="1"/>
          </p:cNvGraphicFramePr>
          <p:nvPr/>
        </p:nvGraphicFramePr>
        <p:xfrm>
          <a:off x="2531280" y="3251540"/>
          <a:ext cx="712944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9680"/>
                <a:gridCol w="1416360"/>
                <a:gridCol w="440340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Usage Level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Monthly Cost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What You Can Do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Light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$10–20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Occasional questions, small fixes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$50–100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Daily coding, regular agent use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Heavy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$200–500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Full-time AI assistance, multiple agents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$1000+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Team usage, automation, CI/CD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"/>
          <p:cNvSpPr txBox="1"/>
          <p:nvPr/>
        </p:nvSpPr>
        <p:spPr>
          <a:xfrm>
            <a:off x="743712" y="850000"/>
            <a:ext cx="32155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Cache Effect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TextBox 1279"/>
          <p:cNvSpPr txBox="1"/>
          <p:nvPr/>
        </p:nvSpPr>
        <p:spPr>
          <a:xfrm>
            <a:off x="743712" y="4073200"/>
            <a:ext cx="7609200" cy="573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First request  → pays full input price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# Second request → same context → pays cache read price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743712" y="24292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Models can cache frequently used content: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1">
                <a:solidFill>
                  <a:srgbClr val="000000"/>
                </a:solidFill>
                <a:latin typeface="Arial"/>
              </a:rPr>
              <a:t> Cache Write:</a:t>
            </a:r>
            <a:r>
              <a:rPr sz="2000" b="0">
                <a:solidFill>
                  <a:srgbClr val="000000"/>
                </a:solidFill>
                <a:latin typeface="Arial"/>
              </a:rPr>
              <a:t> Cost to initially store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1">
                <a:solidFill>
                  <a:srgbClr val="000000"/>
                </a:solidFill>
                <a:latin typeface="Arial"/>
              </a:rPr>
              <a:t> Cache Read:</a:t>
            </a:r>
            <a:r>
              <a:rPr sz="2000" b="0">
                <a:solidFill>
                  <a:srgbClr val="000000"/>
                </a:solidFill>
                <a:latin typeface="Arial"/>
              </a:rPr>
              <a:t> </a:t>
            </a:r>
            <a:r>
              <a:rPr sz="2000" b="1">
                <a:solidFill>
                  <a:srgbClr val="000000"/>
                </a:solidFill>
                <a:latin typeface="Arial"/>
              </a:rPr>
              <a:t>Much cheaper</a:t>
            </a:r>
            <a:r>
              <a:rPr sz="2000" b="0">
                <a:solidFill>
                  <a:srgbClr val="000000"/>
                </a:solidFill>
                <a:latin typeface="Arial"/>
              </a:rPr>
              <a:t> than fresh input (80–95% savings)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Context discipline = cost discipline.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"/>
          <p:cNvSpPr txBox="1"/>
          <p:nvPr/>
        </p:nvSpPr>
        <p:spPr>
          <a:xfrm>
            <a:off x="4835280" y="22684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1.4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412900" y="3038000"/>
            <a:ext cx="136620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Context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3750420" y="3787600"/>
            <a:ext cx="46911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12 minutes · The single most valuable AI skill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"/>
          <p:cNvSpPr txBox="1"/>
          <p:nvPr/>
        </p:nvSpPr>
        <p:spPr>
          <a:xfrm>
            <a:off x="743712" y="537280"/>
            <a:ext cx="32367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Is Context?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747720" y="2116480"/>
            <a:ext cx="699516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Context = all the information the model has access to when generating a response.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TextBox 1309"/>
          <p:cNvSpPr txBox="1"/>
          <p:nvPr/>
        </p:nvSpPr>
        <p:spPr>
          <a:xfrm>
            <a:off x="743712" y="2998480"/>
            <a:ext cx="8980800" cy="28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                  What Goes Into Context        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├─────────────────────────────────────────────────────────────┤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System Prompt   → "You are a helpful coding assistant"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User Prompt     → "Fix this bug: ..."            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Code Files      → Current file, related files    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Conversation    → Previous exchanges             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Retrieved Docs  → Library documentation, examples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Tool Outputs    → Results from search, file reads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│  Constraints     → "Only use standard library"                │</a:t>
            </a:r>
          </a:p>
          <a:p>
            <a:pPr algn="l">
              <a:lnSpc>
                <a:spcPts val="1972"/>
              </a:lnSpc>
              <a:spcBef>
                <a:spcPts val="0"/>
              </a:spcBef>
              <a:spcAft>
                <a:spcPts val="0"/>
              </a:spcAft>
            </a:pPr>
            <a:r>
              <a:rPr sz="1774">
                <a:solidFill>
                  <a:srgbClr val="1A1A1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"/>
          <p:cNvSpPr txBox="1"/>
          <p:nvPr/>
        </p:nvSpPr>
        <p:spPr>
          <a:xfrm>
            <a:off x="743712" y="850000"/>
            <a:ext cx="49752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Context Window Limit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84" name="Table 1383"/>
          <p:cNvGraphicFramePr>
            <a:graphicFrameLocks noGrp="1"/>
          </p:cNvGraphicFramePr>
          <p:nvPr/>
        </p:nvGraphicFramePr>
        <p:xfrm>
          <a:off x="1983120" y="3616340"/>
          <a:ext cx="8225760" cy="109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9960"/>
                <a:gridCol w="1629720"/>
                <a:gridCol w="1523040"/>
                <a:gridCol w="152304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Context Window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Pages of Text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Lines of Code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Claude 4 (Haiku / Sonnet / Opus)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200k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~150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~50,000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GPT-5 Mini / GPT-5.3 Codex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272k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~200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~70,000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"/>
          <p:cNvSpPr txBox="1"/>
          <p:nvPr/>
        </p:nvSpPr>
        <p:spPr>
          <a:xfrm>
            <a:off x="743712" y="850000"/>
            <a:ext cx="847512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Context Window — What Happens When Full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TextBox 1392"/>
          <p:cNvSpPr txBox="1"/>
          <p:nvPr/>
        </p:nvSpPr>
        <p:spPr>
          <a:xfrm>
            <a:off x="743712" y="18196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When you exceed context:</a:t>
            </a:r>
            <a:r>
              <a:rPr sz="2000" b="0">
                <a:solidFill>
                  <a:srgbClr val="000000"/>
                </a:solidFill>
                <a:latin typeface="Arial"/>
              </a:rPr>
              <a:t> Oldest content gets truncated · Critical information may be dropped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Context engineering</a:t>
            </a:r>
            <a:r>
              <a:rPr sz="2000" b="0">
                <a:solidFill>
                  <a:srgbClr val="000000"/>
                </a:solidFill>
                <a:latin typeface="Arial"/>
              </a:rPr>
              <a:t> = knowing what to put in, what to leave out, and how to structure it.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"/>
          <p:cNvSpPr txBox="1"/>
          <p:nvPr/>
        </p:nvSpPr>
        <p:spPr>
          <a:xfrm>
            <a:off x="743712" y="850000"/>
            <a:ext cx="33476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Context Checklist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TextBox 1414"/>
          <p:cNvSpPr txBox="1"/>
          <p:nvPr/>
        </p:nvSpPr>
        <p:spPr>
          <a:xfrm>
            <a:off x="743712" y="2429200"/>
            <a:ext cx="10728960" cy="308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Before every AI interaction, ask: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What problem am I trying to solve?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What files/code does the model need to see?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What would a human need to know to help me?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What information can I safely leave out?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Is my context under the token limit?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Have I included relevant error messages?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Have I specified constraints (libraries, version, style)?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"/>
          <p:cNvSpPr txBox="1"/>
          <p:nvPr/>
        </p:nvSpPr>
        <p:spPr>
          <a:xfrm>
            <a:off x="743712" y="850000"/>
            <a:ext cx="72446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Good vs. Bad Context — Bad Example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747720" y="2429200"/>
            <a:ext cx="120708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BAD (vague):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TextBox 1425"/>
          <p:cNvSpPr txBox="1"/>
          <p:nvPr/>
        </p:nvSpPr>
        <p:spPr>
          <a:xfrm>
            <a:off x="743712" y="3311200"/>
            <a:ext cx="500316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"Fix this bug: my code doesn't work"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"/>
          <p:cNvSpPr txBox="1"/>
          <p:nvPr/>
        </p:nvSpPr>
        <p:spPr>
          <a:xfrm>
            <a:off x="743712" y="850000"/>
            <a:ext cx="7530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Good vs. Bad Context — Good Example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747720" y="2429200"/>
            <a:ext cx="153540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GOOD (specific):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TextBox 1439"/>
          <p:cNvSpPr txBox="1"/>
          <p:nvPr/>
        </p:nvSpPr>
        <p:spPr>
          <a:xfrm>
            <a:off x="743712" y="3311200"/>
            <a:ext cx="7746360" cy="1081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Python function sorts dicts by key but raises KeyError.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Code: def sort_by_key(data, key): ...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Input: [{'name': 'Alice'}, {'age': 30}]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Using Python 3.11. Expected: skip dicts without the key.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"/>
          <p:cNvSpPr txBox="1"/>
          <p:nvPr/>
        </p:nvSpPr>
        <p:spPr>
          <a:xfrm>
            <a:off x="743712" y="850000"/>
            <a:ext cx="56811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Context Prioritization Pyramid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TextBox 1457"/>
          <p:cNvSpPr txBox="1"/>
          <p:nvPr/>
        </p:nvSpPr>
        <p:spPr>
          <a:xfrm>
            <a:off x="743712" y="2429200"/>
            <a:ext cx="8432160" cy="2351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    ┌─────────────┐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    │  Critical   │  MUST include (~10–20%)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  ┌┴─────────────┴┐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  │   Important   │  Should include (~20–30%)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┌┴───────────────┴┐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│     Helpful     │  Nice to have (~30–40%)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┌┴─────────────────┴┐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│    Low Value        │  Omit if possible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└───────────────────┘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"/>
          <p:cNvSpPr txBox="1"/>
          <p:nvPr/>
        </p:nvSpPr>
        <p:spPr>
          <a:xfrm>
            <a:off x="743712" y="850000"/>
            <a:ext cx="563616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Context Window Management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564" name="Table 1563"/>
          <p:cNvGraphicFramePr>
            <a:graphicFrameLocks noGrp="1"/>
          </p:cNvGraphicFramePr>
          <p:nvPr/>
        </p:nvGraphicFramePr>
        <p:xfrm>
          <a:off x="1891200" y="2764340"/>
          <a:ext cx="8409600" cy="218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120"/>
                <a:gridCol w="3976680"/>
                <a:gridCol w="226980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How It Works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When to Use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Summarization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Compress earlier conversation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Long sessions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Selective inclusion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Only relevant files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Large codebases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Chunking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Split across multiple calls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Exceeding limit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Hierarchical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Summaries + details on demand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Complex projects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Vector retrieval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Semantic search for relevant context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Very large codebases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"/>
          <p:cNvSpPr txBox="1"/>
          <p:nvPr/>
        </p:nvSpPr>
        <p:spPr>
          <a:xfrm>
            <a:off x="743712" y="850000"/>
            <a:ext cx="62542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"Lost in the Middle" Problem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47720" y="2429200"/>
            <a:ext cx="76748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Models pay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most attention to the beginning and end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of context, and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less to the middle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747720" y="4980600"/>
            <a:ext cx="64699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Implication: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Put critical information at the beginning OR end, not the middle.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TextBox 1580"/>
          <p:cNvSpPr txBox="1"/>
          <p:nvPr/>
        </p:nvSpPr>
        <p:spPr>
          <a:xfrm>
            <a:off x="743712" y="3311200"/>
            <a:ext cx="8157840" cy="158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Context Position Attention: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├─────────────────────────────────────────────────────────┤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BEGINNING  ████████████████████████████████  (high)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MIDDLE     ████████                           (low)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END        ████████████████████████████████  (high)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"/>
          <p:cNvSpPr txBox="1"/>
          <p:nvPr/>
        </p:nvSpPr>
        <p:spPr>
          <a:xfrm>
            <a:off x="4835280" y="19636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1.5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4168560" y="2733200"/>
            <a:ext cx="38548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Tool Calling and MCP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5243340" y="4092400"/>
            <a:ext cx="17053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8 minutes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"/>
          <p:cNvSpPr txBox="1"/>
          <p:nvPr/>
        </p:nvSpPr>
        <p:spPr>
          <a:xfrm>
            <a:off x="743712" y="850000"/>
            <a:ext cx="40287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What Is Tool Calling?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TextBox 1606"/>
          <p:cNvSpPr txBox="1"/>
          <p:nvPr/>
        </p:nvSpPr>
        <p:spPr>
          <a:xfrm>
            <a:off x="743712" y="4073200"/>
            <a:ext cx="10215240" cy="158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User: "What's the weather in Tokyo?"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→ AI decides: need weather data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→ AI outputs: tool_call { name: "get_weather", args: { city: "Tokyo" } }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→ Your system executes get_weather("Tokyo")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→ Result returned to AI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→ AI: "The weather in Tokyo is 22°C and sunny"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743712" y="2429200"/>
            <a:ext cx="10728960" cy="156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Tool calling (function calling) lets the AI request execution of external functions.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The AI </a:t>
            </a:r>
            <a:r>
              <a:rPr sz="2000" b="1">
                <a:solidFill>
                  <a:srgbClr val="000000"/>
                </a:solidFill>
                <a:latin typeface="Arial"/>
              </a:rPr>
              <a:t>doesn't execute code</a:t>
            </a:r>
            <a:r>
              <a:rPr sz="2000" b="0">
                <a:solidFill>
                  <a:srgbClr val="000000"/>
                </a:solidFill>
                <a:latin typeface="Arial"/>
              </a:rPr>
              <a:t> — it outputs a structured request that </a:t>
            </a:r>
            <a:r>
              <a:rPr sz="2000" b="1">
                <a:solidFill>
                  <a:srgbClr val="000000"/>
                </a:solidFill>
                <a:latin typeface="Arial"/>
              </a:rPr>
              <a:t>your system</a:t>
            </a:r>
            <a:r>
              <a:rPr sz="2000" b="0">
                <a:solidFill>
                  <a:srgbClr val="000000"/>
                </a:solidFill>
                <a:latin typeface="Arial"/>
              </a:rPr>
              <a:t> executes.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"/>
          <p:cNvSpPr txBox="1"/>
          <p:nvPr/>
        </p:nvSpPr>
        <p:spPr>
          <a:xfrm>
            <a:off x="743712" y="850000"/>
            <a:ext cx="697968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Common Tool Types in Development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745" name="Table 1744"/>
          <p:cNvGraphicFramePr>
            <a:graphicFrameLocks noGrp="1"/>
          </p:cNvGraphicFramePr>
          <p:nvPr/>
        </p:nvGraphicFramePr>
        <p:xfrm>
          <a:off x="2584620" y="2399540"/>
          <a:ext cx="7022760" cy="291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6360"/>
                <a:gridCol w="2056440"/>
                <a:gridCol w="354996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Tool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read_file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Read code files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"Show me the auth module"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edit_file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Modify code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"Add error handling to line 42"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search_code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Find patterns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"Find all uses of this function"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run_terminal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Execute commands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"Run the tests"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web_search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Find documentation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"Look up pandas DataFrame API"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browser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Browse web pages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"Open the PR and review it"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git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Version control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"Create a branch and commit"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"/>
          <p:cNvSpPr txBox="1"/>
          <p:nvPr/>
        </p:nvSpPr>
        <p:spPr>
          <a:xfrm>
            <a:off x="743712" y="850000"/>
            <a:ext cx="57020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MCP (Model Context Protocol)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747720" y="3311200"/>
            <a:ext cx="63842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With MCP: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Tools advertise their capabilities; AI discovers them dynamically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TextBox 1763"/>
          <p:cNvSpPr txBox="1"/>
          <p:nvPr/>
        </p:nvSpPr>
        <p:spPr>
          <a:xfrm>
            <a:off x="743712" y="4193200"/>
            <a:ext cx="8020680" cy="158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┌──────────────┐     ┌──────────────┐     ┌──────────────┐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 AI Model   │ ←→ │   MCP Host   │ ←→ │   Tools 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(Claude,    │     │  (Cursor,    │     │  (Files,   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│   GPT, etc)  │     │   etc)       │     │   Terminal,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└──────────────┘     └──────────────┘     │   Web, etc)  │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                                          └──────────────┘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743712" y="2429200"/>
            <a:ext cx="10728960" cy="80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"USB-C for AI — one protocol that works across different tools."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Without MCP:</a:t>
            </a:r>
            <a:r>
              <a:rPr sz="2000" b="0">
                <a:solidFill>
                  <a:srgbClr val="000000"/>
                </a:solidFill>
                <a:latin typeface="Arial"/>
              </a:rPr>
              <a:t> Each tool needs custom integration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"/>
          <p:cNvSpPr txBox="1"/>
          <p:nvPr/>
        </p:nvSpPr>
        <p:spPr>
          <a:xfrm>
            <a:off x="743712" y="850000"/>
            <a:ext cx="334692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Why MCP Matters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28" name="Table 1827"/>
          <p:cNvGraphicFramePr>
            <a:graphicFrameLocks noGrp="1"/>
          </p:cNvGraphicFramePr>
          <p:nvPr/>
        </p:nvGraphicFramePr>
        <p:xfrm>
          <a:off x="2866080" y="2946740"/>
          <a:ext cx="6459840" cy="18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80"/>
                <a:gridCol w="461676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Benefit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Explanation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Interoperability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Same tools work across different AI models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Discoverability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AI can learn what tools are available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Standardization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One protocol, not dozens of custom APIs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Extensibility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Add new tools without changing AI logic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1" name=""/>
          <p:cNvSpPr txBox="1"/>
          <p:nvPr/>
        </p:nvSpPr>
        <p:spPr>
          <a:xfrm>
            <a:off x="743712" y="850000"/>
            <a:ext cx="5109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Tool Calling Best Practices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TextBox 1839"/>
          <p:cNvSpPr txBox="1"/>
          <p:nvPr/>
        </p:nvSpPr>
        <p:spPr>
          <a:xfrm>
            <a:off x="743712" y="242920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1. </a:t>
            </a:r>
            <a:r>
              <a:rPr sz="2000" b="1">
                <a:solidFill>
                  <a:srgbClr val="000000"/>
                </a:solidFill>
                <a:latin typeface="Arial"/>
              </a:rPr>
              <a:t>Define clear tool schemas</a:t>
            </a:r>
            <a:r>
              <a:rPr sz="2000" b="0">
                <a:solidFill>
                  <a:srgbClr val="000000"/>
                </a:solidFill>
                <a:latin typeface="Arial"/>
              </a:rPr>
              <a:t> — name, description, parameters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2. </a:t>
            </a:r>
            <a:r>
              <a:rPr sz="2000" b="1">
                <a:solidFill>
                  <a:srgbClr val="000000"/>
                </a:solidFill>
                <a:latin typeface="Arial"/>
              </a:rPr>
              <a:t>Validate tool calls</a:t>
            </a:r>
            <a:r>
              <a:rPr sz="2000" b="0">
                <a:solidFill>
                  <a:srgbClr val="000000"/>
                </a:solidFill>
                <a:latin typeface="Arial"/>
              </a:rPr>
              <a:t> before execution — allowlist + parameter checks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3. </a:t>
            </a:r>
            <a:r>
              <a:rPr sz="2000" b="1">
                <a:solidFill>
                  <a:srgbClr val="000000"/>
                </a:solidFill>
                <a:latin typeface="Arial"/>
              </a:rPr>
              <a:t>Set timeouts</a:t>
            </a:r>
            <a:r>
              <a:rPr sz="2000" b="0">
                <a:solidFill>
                  <a:srgbClr val="000000"/>
                </a:solidFill>
                <a:latin typeface="Arial"/>
              </a:rPr>
              <a:t> — e.g., 30 seconds max per tool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4. </a:t>
            </a:r>
            <a:r>
              <a:rPr sz="2000" b="1">
                <a:solidFill>
                  <a:srgbClr val="000000"/>
                </a:solidFill>
                <a:latin typeface="Arial"/>
              </a:rPr>
              <a:t>Log all tool calls</a:t>
            </a:r>
            <a:r>
              <a:rPr sz="2000" b="0">
                <a:solidFill>
                  <a:srgbClr val="000000"/>
                </a:solidFill>
                <a:latin typeface="Arial"/>
              </a:rPr>
              <a:t> — audit trail for debugging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5. </a:t>
            </a:r>
            <a:r>
              <a:rPr sz="2000" b="1">
                <a:solidFill>
                  <a:srgbClr val="000000"/>
                </a:solidFill>
                <a:latin typeface="Arial"/>
              </a:rPr>
              <a:t>Require human approval</a:t>
            </a:r>
            <a:r>
              <a:rPr sz="2000" b="0">
                <a:solidFill>
                  <a:srgbClr val="000000"/>
                </a:solidFill>
                <a:latin typeface="Arial"/>
              </a:rPr>
              <a:t> for destructive actions — never auto-run writes/deletes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"/>
          <p:cNvSpPr txBox="1"/>
          <p:nvPr/>
        </p:nvSpPr>
        <p:spPr>
          <a:xfrm>
            <a:off x="4835280" y="2268400"/>
            <a:ext cx="2521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Lesson 1.6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478780" y="3038000"/>
            <a:ext cx="123444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Agents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5243340" y="3787600"/>
            <a:ext cx="170532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Concept · 8 minutes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"/>
          <p:cNvSpPr txBox="1"/>
          <p:nvPr/>
        </p:nvSpPr>
        <p:spPr>
          <a:xfrm>
            <a:off x="743712" y="850000"/>
            <a:ext cx="3390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Agent vs. Chatbot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71" name="Table 1970"/>
          <p:cNvGraphicFramePr>
            <a:graphicFrameLocks noGrp="1"/>
          </p:cNvGraphicFramePr>
          <p:nvPr/>
        </p:nvGraphicFramePr>
        <p:xfrm>
          <a:off x="1624500" y="2886740"/>
          <a:ext cx="8943000" cy="255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9680"/>
                <a:gridCol w="3976680"/>
                <a:gridCol w="365664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Chatbot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Interaction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Single turn or simple back-and-forth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Multi-step, goal-oriented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User drives each step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Agent plans and executes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Limited to conversation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Can maintain state across steps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Actions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None (text only)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Can call tools, modify files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Autonomy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Goal-directed autonomy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"Explain this code"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"Fix all bugs in this repository"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"/>
          <p:cNvSpPr txBox="1"/>
          <p:nvPr/>
        </p:nvSpPr>
        <p:spPr>
          <a:xfrm>
            <a:off x="743712" y="850000"/>
            <a:ext cx="30160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Agent Loop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"/>
          <p:cNvSpPr txBox="1"/>
          <p:nvPr/>
        </p:nvSpPr>
        <p:spPr>
          <a:xfrm>
            <a:off x="743712" y="0"/>
            <a:ext cx="521784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Agent Loop — Diagram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6" name="TextBox 2005"/>
          <p:cNvSpPr txBox="1"/>
          <p:nvPr/>
        </p:nvSpPr>
        <p:spPr>
          <a:xfrm>
            <a:off x="743712" y="1579200"/>
            <a:ext cx="7609200" cy="423868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┌──────────┐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│  GOAL    │  "Add dark mode to the entire app"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└────┬─────┘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     ↓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┌──────────┐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│  PLAN    │  Break goal into steps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└────┬─────┘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     ↓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┌──────────┐     ┌──────────┐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│  ACT     │ ←→  │  OBSERVE │  (Tool call → result)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└────┬─────┘     └──────────┘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     ↓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┌──────────┐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│  THINK   │  Evaluate progress, adjust plan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└────┬─────┘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     ↓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┌──────────┐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│  REPEAT  │  Until goal achieved or blocked</a:t>
            </a:r>
          </a:p>
          <a:p>
            <a:pPr algn="l">
              <a:lnSpc>
                <a:spcPts val="1733"/>
              </a:lnSpc>
              <a:spcBef>
                <a:spcPts val="0"/>
              </a:spcBef>
              <a:spcAft>
                <a:spcPts val="0"/>
              </a:spcAft>
            </a:pPr>
            <a:r>
              <a:rPr sz="1559">
                <a:solidFill>
                  <a:srgbClr val="1A1A1A"/>
                </a:solidFill>
                <a:latin typeface="Consolas"/>
              </a:rPr>
              <a:t>    └──────────┘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"/>
          <p:cNvSpPr txBox="1"/>
          <p:nvPr/>
        </p:nvSpPr>
        <p:spPr>
          <a:xfrm>
            <a:off x="743712" y="850000"/>
            <a:ext cx="502020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Levels of Agent Autonomy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143" name="Table 2142"/>
          <p:cNvGraphicFramePr>
            <a:graphicFrameLocks noGrp="1"/>
          </p:cNvGraphicFramePr>
          <p:nvPr/>
        </p:nvGraphicFramePr>
        <p:xfrm>
          <a:off x="1556400" y="3069140"/>
          <a:ext cx="9079200" cy="218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9600"/>
                <a:gridCol w="1309680"/>
                <a:gridCol w="4190040"/>
                <a:gridCol w="290988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Level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L1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Assistant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Responds, needs step-by-step guidance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Basic chatbot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Tool-caller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Can request tools, human approves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Cursor Agent with approval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L3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Makes plans, executes with supervision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Auto-code review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L4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Autonomous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Self-directed, minimal supervision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CI/CD agent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L5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Full Agent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Complete task ownership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Enterprise automation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" name=""/>
          <p:cNvSpPr txBox="1"/>
          <p:nvPr/>
        </p:nvSpPr>
        <p:spPr>
          <a:xfrm>
            <a:off x="743712" y="850000"/>
            <a:ext cx="58345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How Agents Change Your Role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1" name=""/>
          <p:cNvSpPr txBox="1"/>
          <p:nvPr/>
        </p:nvSpPr>
        <p:spPr>
          <a:xfrm>
            <a:off x="747720" y="2429200"/>
            <a:ext cx="103788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Traditional: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3" name=""/>
          <p:cNvSpPr txBox="1"/>
          <p:nvPr/>
        </p:nvSpPr>
        <p:spPr>
          <a:xfrm>
            <a:off x="747720" y="3710600"/>
            <a:ext cx="1461240" cy="8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Agent-Assisted: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5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6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7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8" name="TextBox 2157"/>
          <p:cNvSpPr txBox="1"/>
          <p:nvPr/>
        </p:nvSpPr>
        <p:spPr>
          <a:xfrm>
            <a:off x="743712" y="3311200"/>
            <a:ext cx="623760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Developer writes every line → tests → deploys</a:t>
            </a:r>
          </a:p>
        </p:txBody>
      </p:sp>
      <p:sp>
        <p:nvSpPr>
          <p:cNvPr id="2159" name="TextBox 2158"/>
          <p:cNvSpPr txBox="1"/>
          <p:nvPr/>
        </p:nvSpPr>
        <p:spPr>
          <a:xfrm>
            <a:off x="743712" y="4592600"/>
            <a:ext cx="10763880" cy="3194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none" lIns="20000" rIns="20000" tIns="20000" bIns="2000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1A1A1A"/>
                </a:solidFill>
                <a:latin typeface="Consolas"/>
              </a:rPr>
              <a:t>Developer defines intent → Agent executes → Developer reviews → Agent iterates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7" name=""/>
          <p:cNvSpPr txBox="1"/>
          <p:nvPr/>
        </p:nvSpPr>
        <p:spPr>
          <a:xfrm>
            <a:off x="743712" y="850000"/>
            <a:ext cx="387576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Developer Role Shift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0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1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2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33" name="Table 2232"/>
          <p:cNvGraphicFramePr>
            <a:graphicFrameLocks noGrp="1"/>
          </p:cNvGraphicFramePr>
          <p:nvPr/>
        </p:nvGraphicFramePr>
        <p:xfrm>
          <a:off x="4252920" y="3069140"/>
          <a:ext cx="3686160" cy="218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720"/>
                <a:gridCol w="205644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Old Role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New Role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Code writer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Intent specifier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Debugger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Quality reviewer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Implementation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Orchestration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Manual testing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Acceptance testing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Problem solver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Problem framer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6" name=""/>
          <p:cNvSpPr txBox="1"/>
          <p:nvPr/>
        </p:nvSpPr>
        <p:spPr>
          <a:xfrm>
            <a:off x="743712" y="850000"/>
            <a:ext cx="385308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When to Use Agents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1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3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4" name="TextBox 2253"/>
          <p:cNvSpPr txBox="1"/>
          <p:nvPr/>
        </p:nvSpPr>
        <p:spPr>
          <a:xfrm>
            <a:off x="743712" y="2429200"/>
            <a:ext cx="10728960" cy="308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Good for agents: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Large, multi-step tasks · Repetitive patterns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Well-defined with clear success criteria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Low-risk changes · Documentation updates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Bad for agents: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Security-critical systems · Unrecoverable actions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Poorly defined goals · Real-time requirements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•"/>
              <a:marL val="342900"/>
              <a:indent val="-342900"/>
            </a:pPr>
            <a:r>
              <a:rPr sz="2000" b="0">
                <a:solidFill>
                  <a:srgbClr val="000000"/>
                </a:solidFill>
                <a:latin typeface="Arial"/>
              </a:rPr>
              <a:t> High cost of failure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1" name=""/>
          <p:cNvSpPr txBox="1"/>
          <p:nvPr/>
        </p:nvSpPr>
        <p:spPr>
          <a:xfrm>
            <a:off x="743712" y="850000"/>
            <a:ext cx="3303360" cy="66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l"/>
            <a:r>
              <a:rPr lang="en-US" sz="3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Summary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3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4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5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76" name="Table 2375"/>
          <p:cNvGraphicFramePr>
            <a:graphicFrameLocks noGrp="1"/>
          </p:cNvGraphicFramePr>
          <p:nvPr/>
        </p:nvGraphicFramePr>
        <p:xfrm>
          <a:off x="2264580" y="2124740"/>
          <a:ext cx="7662840" cy="34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6280"/>
                <a:gridCol w="2056440"/>
                <a:gridCol w="4830120"/>
              </a:tblGrid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Lesson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CC0000"/>
                          </a:solidFill>
                        </a:rPr>
                        <a:t>Key Insight</a:t>
                      </a:r>
                    </a:p>
                  </a:txBody>
                  <a:tcPr>
                    <a:solidFill>
                      <a:srgbClr val="FFEBEB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1.1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How AI Models Work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Probabilistic, not deterministic – manage with temperature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Hallucinations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Models invent confidently – always verify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1.3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Tokens and Pricing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Output costs more – optimize context, use cheaper models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Single most valuable skill – quality in = quality out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3648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Tool Calling &amp; MCP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AI requests actions, you control execution</a:t>
                      </a:r>
                    </a:p>
                  </a:txBody>
                  <a:tcPr>
                    <a:solidFill>
                      <a:srgbClr val="F7F7F7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  <a:tr h="593400"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  <a:tc>
                  <a:txBody>
                    <a:bodyPr wrap="square" lIns="30000" rIns="30000" tIns="15000" bIns="15000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</a:rPr>
                        <a:t>Goal-directed action – changes developer role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 algn="ctr">
                      <a:solidFill>
                        <a:srgbClr val="E0E0E0"/>
                      </a:solidFill>
                      <a:prstDash val="soli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0" name=""/>
          <p:cNvSpPr txBox="1"/>
          <p:nvPr/>
        </p:nvSpPr>
        <p:spPr>
          <a:xfrm>
            <a:off x="3968760" y="528680"/>
            <a:ext cx="4254480" cy="15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40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Up Next: Module 2</a:t>
            </a:r>
            <a:endParaRPr lang="en-US" sz="3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1" name=""/>
          <p:cNvSpPr txBox="1"/>
          <p:nvPr/>
        </p:nvSpPr>
        <p:spPr>
          <a:xfrm>
            <a:off x="2186940" y="2172680"/>
            <a:ext cx="7818120" cy="127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 algn="ctr"/>
            <a:r>
              <a:rPr lang="en-US" sz="32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Cursor Editor Essentials · Day 1 (Hands-On)</a:t>
            </a:r>
            <a:endParaRPr lang="en-US" sz="3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6" name=""/>
          <p:cNvSpPr txBox="1"/>
          <p:nvPr/>
        </p:nvSpPr>
        <p:spPr>
          <a:xfrm>
            <a:off x="285840" y="225720"/>
            <a:ext cx="4288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Module 1 — Mental Models for AI-Assisted Development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7" name=""/>
          <p:cNvSpPr txBox="1"/>
          <p:nvPr/>
        </p:nvSpPr>
        <p:spPr>
          <a:xfrm>
            <a:off x="285840" y="6426720"/>
            <a:ext cx="24764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Cursor Training Program · Day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8" name=""/>
          <p:cNvSpPr txBox="1"/>
          <p:nvPr/>
        </p:nvSpPr>
        <p:spPr>
          <a:xfrm>
            <a:off x="11651760" y="6355800"/>
            <a:ext cx="25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9" name="TextBox 2388"/>
          <p:cNvSpPr txBox="1"/>
          <p:nvPr/>
        </p:nvSpPr>
        <p:spPr>
          <a:xfrm>
            <a:off x="731520" y="3551880"/>
            <a:ext cx="10728960" cy="232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Now that you understand how AI models think, what they cost, and how agents work,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Module 2: Cursor Editor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Essentials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covers core editor workflows — codebase orientation, diffs, Plan Mode, @mentions, and terminal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integration.</a:t>
            </a:r>
          </a:p>
          <a:p>
            <a:pPr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1">
                <a:solidFill>
                  <a:srgbClr val="000000"/>
                </a:solidFill>
                <a:latin typeface="Arial"/>
              </a:rPr>
              <a:t>End of Module 1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LibreOffice/26.2.3.2$Windows_X86_64 LibreOffice_project/70e089b17412e4cb7773e41413306b17a2328c34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