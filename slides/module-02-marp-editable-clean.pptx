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3250020" y="2674620"/>
            <a:ext cx="5691960" cy="54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4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Cursor Editor Essentials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3496980" y="3320740"/>
            <a:ext cx="51980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· Day 1 (Hands-On)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2330760" y="3843180"/>
            <a:ext cx="7530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Hands-on exercise · ~90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743712" y="850000"/>
            <a:ext cx="3259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Overview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79" name="Table 78"/>
          <p:cNvGraphicFramePr>
            <a:graphicFrameLocks noGrp="1"/>
          </p:cNvGraphicFramePr>
          <p:nvPr/>
        </p:nvGraphicFramePr>
        <p:xfrm>
          <a:off x="743712" y="1442440"/>
          <a:ext cx="6353160" cy="263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04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Details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~90 minutes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Format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Hands-on exercise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Prerequisites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Module 1 completed, Cursor installed, Git repository access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Module Goal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Master the core workflows of AI-assisted coding in Cursor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 txBox="1"/>
          <p:nvPr/>
        </p:nvSpPr>
        <p:spPr>
          <a:xfrm>
            <a:off x="743712" y="850000"/>
            <a:ext cx="3788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Learning Objectives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747720" y="1442440"/>
            <a:ext cx="7184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By the end of this module, participants will be able to: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1357200" y="1862640"/>
            <a:ext cx="6049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Orient an AI agent to an unfamiliar codebase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1357200" y="2282840"/>
            <a:ext cx="7116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Get targeted explanations of specific files or symbols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1357200" y="2703040"/>
            <a:ext cx="6540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Make safe, reviewable changes using diff review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1357200" y="3123240"/>
            <a:ext cx="5574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Design complex changes with Plan Mode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1357200" y="3543440"/>
            <a:ext cx="7336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Compare models to choose the right one for each task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1357200" y="3963640"/>
            <a:ext cx="5748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 @mentions for precise context control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1357200" y="4383840"/>
            <a:ext cx="4965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Navigate checkpoints as a safety net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1357200" y="4804040"/>
            <a:ext cx="7320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Let agents run terminal commands and react to output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"/>
          <p:cNvSpPr txBox="1"/>
          <p:nvPr/>
        </p:nvSpPr>
        <p:spPr>
          <a:xfrm>
            <a:off x="743712" y="850000"/>
            <a:ext cx="1453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Agenda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57" name="Table 256"/>
          <p:cNvGraphicFramePr>
            <a:graphicFrameLocks noGrp="1"/>
          </p:cNvGraphicFramePr>
          <p:nvPr/>
        </p:nvGraphicFramePr>
        <p:xfrm>
          <a:off x="743712" y="1442440"/>
          <a:ext cx="4249080" cy="374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2696520"/>
                <a:gridCol w="77628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Codebase Understanding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20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Explaining Files/Symbols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13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Safe Reviewable Changes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13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2.4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Plan Mode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13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2.5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Comparing Models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13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2.6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@mentions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13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2.7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Checkpoints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2.8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Terminal Integration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13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2.1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3848700" y="3331520"/>
            <a:ext cx="44946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Codebase Understanding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8 min · Exercise · 12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"/>
          <p:cNvSpPr txBox="1"/>
          <p:nvPr/>
        </p:nvSpPr>
        <p:spPr>
          <a:xfrm>
            <a:off x="743712" y="850000"/>
            <a:ext cx="53060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The Problem &amp; The Solution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743712" y="1442440"/>
            <a:ext cx="10673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Problem: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Opening a new codebase is overwhelming. Where do you start?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747720" y="1862640"/>
            <a:ext cx="3108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What's the entry point?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743712" y="2282840"/>
            <a:ext cx="10181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Cursor Solution: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Ask the agent to explain the codebase. It reads files,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747720" y="2703040"/>
            <a:ext cx="5879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traces connections, and returns a roadmap.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743712" y="3123240"/>
            <a:ext cx="9453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"Drop an agent into a codebase you've never seen and get a coherent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1090440" y="3543440"/>
            <a:ext cx="3853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explanation of how it works."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2.1 — Steps 1–2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747720" y="1442440"/>
            <a:ext cx="6420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Open an unfamiliar repository in Cursor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747720" y="3038640"/>
            <a:ext cx="3423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Open the Agent (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4221720" y="4299240"/>
            <a:ext cx="7549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Cmd+I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743712" y="3458840"/>
            <a:ext cx="441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or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743712" y="4653920"/>
            <a:ext cx="9057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Ctrl+I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743712" y="387904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TextBox 299"/>
          <p:cNvSpPr txBox="1"/>
          <p:nvPr/>
        </p:nvSpPr>
        <p:spPr>
          <a:xfrm>
            <a:off x="923760" y="1862640"/>
            <a:ext cx="786256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git clone https://github.com/facebookresearch/detectron2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cd detectron2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cursor 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"/>
          <p:cNvSpPr txBox="1"/>
          <p:nvPr/>
        </p:nvSpPr>
        <p:spPr>
          <a:xfrm>
            <a:off x="743712" y="850000"/>
            <a:ext cx="79498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2.1 — Step 3: Orientation Prompt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TextBox 315"/>
          <p:cNvSpPr txBox="1"/>
          <p:nvPr/>
        </p:nvSpPr>
        <p:spPr>
          <a:xfrm>
            <a:off x="743712" y="1442440"/>
            <a:ext cx="9097000" cy="2620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Explain this codebase to me as if I'm a new team member.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Specifically tell me: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1. What is the main purpose of this project?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2. What are the entry points (main scripts, CLI, API)?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3. What are the key modules and how do they relate?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4. What are the main dependencies?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5. What files should I read first to understand the architecture?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2.1 — Steps 4–5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747720" y="1442440"/>
            <a:ext cx="4947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Follow up — trace data flow: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747720" y="2733840"/>
            <a:ext cx="4540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Ask for a visual overview: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743712" y="3154040"/>
            <a:ext cx="89294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Create an ASCII diagram showing the module relationships in this codebase.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TextBox 331"/>
          <p:cNvSpPr txBox="1"/>
          <p:nvPr/>
        </p:nvSpPr>
        <p:spPr>
          <a:xfrm>
            <a:off x="743712" y="1862640"/>
            <a:ext cx="909700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Based on what you just told me, trace the flow of data from input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to output. What functions get called in order?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"/>
          <p:cNvSpPr txBox="1"/>
          <p:nvPr/>
        </p:nvSpPr>
        <p:spPr>
          <a:xfrm>
            <a:off x="743712" y="850000"/>
            <a:ext cx="6186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Expected Agent Output (Sample)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TextBox 350"/>
          <p:cNvSpPr txBox="1"/>
          <p:nvPr/>
        </p:nvSpPr>
        <p:spPr>
          <a:xfrm>
            <a:off x="743712" y="1442440"/>
            <a:ext cx="9645640" cy="4144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PURPOSE: Object detection and segmentation library (PyTorch)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ENTRY POINTS: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• train_net.py — Main training script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• demo.py — Inference demo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KEY MODULES: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config/ ←→ model_zoo ←→ engine/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↓           ↓           ↓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structures ←→ modeling/ ←→ data/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DATA FLOW: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Config → build_model() → DataLoader → Training Loop → Loss → Backprop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"/>
          <p:cNvSpPr txBox="1"/>
          <p:nvPr/>
        </p:nvSpPr>
        <p:spPr>
          <a:xfrm>
            <a:off x="743712" y="850000"/>
            <a:ext cx="4977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Pro Tip &amp; Success Criteria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747720" y="1442440"/>
            <a:ext cx="7564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 Tip: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Save the agent's explanation as a project note: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747720" y="2733840"/>
            <a:ext cx="2491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1357200" y="3154040"/>
            <a:ext cx="4389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Agent described project purpose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1357200" y="3574240"/>
            <a:ext cx="6151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Agent identified entry points and key modules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1357200" y="3994440"/>
            <a:ext cx="4524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Agent suggested first files to read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1166904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TextBox 369"/>
          <p:cNvSpPr txBox="1"/>
          <p:nvPr/>
        </p:nvSpPr>
        <p:spPr>
          <a:xfrm>
            <a:off x="743712" y="1862640"/>
            <a:ext cx="868552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Save this explanation as .cursor/project-overview.md so future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team members can read it.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2.2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2946360" y="3331520"/>
            <a:ext cx="6299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Explaining a Specific File or Symbol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8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"/>
          <p:cNvSpPr txBox="1"/>
          <p:nvPr/>
        </p:nvSpPr>
        <p:spPr>
          <a:xfrm>
            <a:off x="743712" y="850000"/>
            <a:ext cx="42501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Targeted Explanations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743712" y="1442440"/>
            <a:ext cx="9537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"Don't make the agent read the whole codebase when you just need to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1090440" y="1862640"/>
            <a:ext cx="3464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understand one function."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743712" y="2282840"/>
            <a:ext cx="10623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precise context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select a function or class, then ask focused questions.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2.2 — Steps 1–3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747720" y="1442440"/>
            <a:ext cx="5675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Open a specific file in your project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747720" y="1862640"/>
            <a:ext cx="7184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Select a function or class you want explained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747720" y="2282840"/>
            <a:ext cx="5879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Use the Agent with precise context: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TextBox 406"/>
          <p:cNvSpPr txBox="1"/>
          <p:nvPr/>
        </p:nvSpPr>
        <p:spPr>
          <a:xfrm>
            <a:off x="743712" y="2703040"/>
            <a:ext cx="9782800" cy="1705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Explain the function I have selected. For each major section, tell me: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What it does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Why it's designed that way (trade-offs)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Potential edge cases or bugs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How it could be improved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2.2 — Steps 4–5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747720" y="1442440"/>
            <a:ext cx="4879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Ask for a concrete example: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747720" y="2733840"/>
            <a:ext cx="4524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Ask about dependencies: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TextBox 423"/>
          <p:cNvSpPr txBox="1"/>
          <p:nvPr/>
        </p:nvSpPr>
        <p:spPr>
          <a:xfrm>
            <a:off x="743712" y="1862640"/>
            <a:ext cx="937132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Give me a concrete example of inputs and outputs for this function.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Show me what happens in the normal case and one edge case.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743712" y="3154040"/>
            <a:ext cx="868552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What other functions does this call? What calls this function?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Trace the call chain two levels in each direction.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"/>
          <p:cNvSpPr txBox="1"/>
          <p:nvPr/>
        </p:nvSpPr>
        <p:spPr>
          <a:xfrm>
            <a:off x="743712" y="850000"/>
            <a:ext cx="51300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Inline Explanation Shortcut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747720" y="2313640"/>
            <a:ext cx="2491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1357200" y="2733840"/>
            <a:ext cx="7286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Selected specific code · Agent explained the selection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743712" y="3154040"/>
            <a:ext cx="9642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Agent provided input/output examples · Agent traced call dependencies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TextBox 439"/>
          <p:cNvSpPr txBox="1"/>
          <p:nvPr/>
        </p:nvSpPr>
        <p:spPr>
          <a:xfrm>
            <a:off x="923760" y="1442440"/>
            <a:ext cx="786256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Select code, press Cmd+L (or Ctrl+L)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The agent explains the selected code in the chat panel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2.3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2945820" y="3331520"/>
            <a:ext cx="6300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Making a Safe, Reviewable Change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8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"/>
          <p:cNvSpPr txBox="1"/>
          <p:nvPr/>
        </p:nvSpPr>
        <p:spPr>
          <a:xfrm>
            <a:off x="743712" y="850000"/>
            <a:ext cx="48441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The Diff Review Workflow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1018440" y="1442440"/>
            <a:ext cx="4559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 Ask agent to propose a change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1018440" y="1862640"/>
            <a:ext cx="5683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2. Review the diff (what's added/removed)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1018440" y="2282840"/>
            <a:ext cx="3694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3. Accept or reject changes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1018440" y="2703040"/>
            <a:ext cx="3270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4. Test after acceptance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743712" y="3123240"/>
            <a:ext cx="9834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"Before AI changes your code, see exactly what will change and approve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1090440" y="3543440"/>
            <a:ext cx="345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it."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2.3 — Steps 1–2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747720" y="1442440"/>
            <a:ext cx="5015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Ask for a small, safe change: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747720" y="2733840"/>
            <a:ext cx="5693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Watch the agent generate the diff: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1176120" y="3154040"/>
            <a:ext cx="27759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Changes to index.html: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TextBox 490"/>
          <p:cNvSpPr txBox="1"/>
          <p:nvPr/>
        </p:nvSpPr>
        <p:spPr>
          <a:xfrm>
            <a:off x="923760" y="1862640"/>
            <a:ext cx="827404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Change the welcome message in index.html from "Hello World"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to "Welcome to My App"</a:t>
            </a:r>
          </a:p>
        </p:txBody>
      </p:sp>
      <p:sp>
        <p:nvSpPr>
          <p:cNvPr id="492" name="TextBox 491"/>
          <p:cNvSpPr txBox="1"/>
          <p:nvPr/>
        </p:nvSpPr>
        <p:spPr>
          <a:xfrm>
            <a:off x="923760" y="3454000"/>
            <a:ext cx="4296400" cy="2010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📝 Changes to index.html: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&lt;h1&gt;- Hello World&lt;/h1&gt;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&lt;h1&gt;+ Welcome to My App&lt;/h1&gt;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Accept? [Yes] [No] [Edit]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"/>
          <p:cNvSpPr txBox="1"/>
          <p:nvPr/>
        </p:nvSpPr>
        <p:spPr>
          <a:xfrm>
            <a:off x="743712" y="850000"/>
            <a:ext cx="63216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2.3 — Review Questions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747720" y="1442440"/>
            <a:ext cx="4168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Before accepting, ask yourself: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1357200" y="1862640"/>
            <a:ext cx="5337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Are the changes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only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what I asked for?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1357200" y="2282840"/>
            <a:ext cx="6050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Are there unexpected additions or deletions?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1357200" y="2703040"/>
            <a:ext cx="4015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Does the syntax look correct?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1357200" y="3123240"/>
            <a:ext cx="3948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Will this break anything else?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747720" y="3543440"/>
            <a:ext cx="5302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Accept ·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Test manually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TextBox 512"/>
          <p:cNvSpPr txBox="1"/>
          <p:nvPr/>
        </p:nvSpPr>
        <p:spPr>
          <a:xfrm>
            <a:off x="923760" y="3963640"/>
            <a:ext cx="470788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open index.html          # web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python script.py         # Python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npm start                # React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"/>
          <p:cNvSpPr txBox="1"/>
          <p:nvPr/>
        </p:nvSpPr>
        <p:spPr>
          <a:xfrm>
            <a:off x="743712" y="850000"/>
            <a:ext cx="77731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2.3 — If Something Goes Wrong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747720" y="2313640"/>
            <a:ext cx="2491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743712" y="2733840"/>
            <a:ext cx="7930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Agent proposed a change · Reviewed diff before accepting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1357200" y="3154040"/>
            <a:ext cx="6947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Accepted only after verification · Tested the change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TextBox 528"/>
          <p:cNvSpPr txBox="1"/>
          <p:nvPr/>
        </p:nvSpPr>
        <p:spPr>
          <a:xfrm>
            <a:off x="923760" y="1442440"/>
            <a:ext cx="676528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That change didn't work. The button disappeared.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Please explain what happened and suggest a fix.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2.4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5148480" y="3331520"/>
            <a:ext cx="18950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Plan Mode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8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"/>
          <p:cNvSpPr txBox="1"/>
          <p:nvPr/>
        </p:nvSpPr>
        <p:spPr>
          <a:xfrm>
            <a:off x="743712" y="850000"/>
            <a:ext cx="46461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Design Before You Code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743712" y="1442440"/>
            <a:ext cx="9978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Plan Mode makes the agent create a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detailed plan BEFORE writing any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747720" y="1862640"/>
            <a:ext cx="796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code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747720" y="2282840"/>
            <a:ext cx="3522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When to use Plan Mode: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1357200" y="2703040"/>
            <a:ext cx="6219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Changing multiple files · Adding a new feature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 txBox="1"/>
          <p:nvPr/>
        </p:nvSpPr>
        <p:spPr>
          <a:xfrm>
            <a:off x="1357200" y="3123240"/>
            <a:ext cx="3423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Refactoring existing code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1357200" y="3543440"/>
            <a:ext cx="5786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You're not 100% sure of the best approach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1357200" y="3963640"/>
            <a:ext cx="4778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change is risky or hard to undo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"/>
          <p:cNvSpPr txBox="1"/>
          <p:nvPr/>
        </p:nvSpPr>
        <p:spPr>
          <a:xfrm>
            <a:off x="743712" y="850000"/>
            <a:ext cx="6299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2.4 — Enable Plan Mode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747720" y="2313640"/>
            <a:ext cx="4947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Describe a complex change: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TextBox 575"/>
          <p:cNvSpPr txBox="1"/>
          <p:nvPr/>
        </p:nvSpPr>
        <p:spPr>
          <a:xfrm>
            <a:off x="923760" y="1442440"/>
            <a:ext cx="758824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Press Shift+Tab in the Agent input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The input border changes color to indicate Plan Mode</a:t>
            </a:r>
          </a:p>
        </p:txBody>
      </p:sp>
      <p:sp>
        <p:nvSpPr>
          <p:cNvPr id="577" name="TextBox 576"/>
          <p:cNvSpPr txBox="1"/>
          <p:nvPr/>
        </p:nvSpPr>
        <p:spPr>
          <a:xfrm>
            <a:off x="923760" y="2733840"/>
            <a:ext cx="6353800" cy="2620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Add user authentication to this web app.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Requirements: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Email/password login · Session management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Protected routes (dashboard, settings)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Logout functionality · "Remember me" option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Don't write code yet – just give me a plan.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"/>
          <p:cNvSpPr txBox="1"/>
          <p:nvPr/>
        </p:nvSpPr>
        <p:spPr>
          <a:xfrm>
            <a:off x="743712" y="251880"/>
            <a:ext cx="55706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a Good Plan Looks Like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1176120" y="844320"/>
            <a:ext cx="24138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IMPLEMENTATION PLAN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TextBox 601"/>
          <p:cNvSpPr txBox="1"/>
          <p:nvPr/>
        </p:nvSpPr>
        <p:spPr>
          <a:xfrm>
            <a:off x="743712" y="1144280"/>
            <a:ext cx="8959840" cy="4673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📋 IMPLEMENTATION PLAN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Step 1: Create User Model — models/user.js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Step 2: Auth Routes — routes/auth.js (login, logout, register)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Step 3: Session Management — middleware/session.js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Step 4: Protected Route Middleware — middleware/auth.js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Step 5: Update Frontend — pages/login.html, dashboard.html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Step 6: Environment Variables — .env (SESSION_SECRET, REDIS_URL)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Questions for you: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1. JWT or server-side sessions?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2. Existing user database?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3. Include email verification?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Ready to proceed? [Yes] [No] [Modify Plan]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"/>
          <p:cNvSpPr txBox="1"/>
          <p:nvPr/>
        </p:nvSpPr>
        <p:spPr>
          <a:xfrm>
            <a:off x="743712" y="850000"/>
            <a:ext cx="65419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2.4 — Approve &amp; Execute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747720" y="1442440"/>
            <a:ext cx="5371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Answer questions and approve: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747720" y="2733840"/>
            <a:ext cx="7371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Watch the agent execute the plan step by step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747720" y="3154040"/>
            <a:ext cx="2491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743712" y="3574240"/>
            <a:ext cx="8531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Enabled Plan Mode (Shift+Tab) · Agent created structured plan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743712" y="3994440"/>
            <a:ext cx="9912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Agent asked clarifying questions · Approved plan before code was written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TextBox 619"/>
          <p:cNvSpPr txBox="1"/>
          <p:nvPr/>
        </p:nvSpPr>
        <p:spPr>
          <a:xfrm>
            <a:off x="743712" y="1862640"/>
            <a:ext cx="978280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Use JWT for simplicity. No existing database yet – use SQLite for now.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Skip email verification for this version. Proceed.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2.5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4003500" y="3331520"/>
            <a:ext cx="41850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Comparing Two Models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8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"/>
          <p:cNvSpPr txBox="1"/>
          <p:nvPr/>
        </p:nvSpPr>
        <p:spPr>
          <a:xfrm>
            <a:off x="743712" y="850000"/>
            <a:ext cx="4249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Model Selection Guide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735" name="Table 734"/>
          <p:cNvGraphicFramePr>
            <a:graphicFrameLocks noGrp="1"/>
          </p:cNvGraphicFramePr>
          <p:nvPr/>
        </p:nvGraphicFramePr>
        <p:xfrm>
          <a:off x="743712" y="1442440"/>
          <a:ext cx="904968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6560"/>
                <a:gridCol w="3336600"/>
                <a:gridCol w="26965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Task Type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Recommended Model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Why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Typo fixes, simple edits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GPT-5 Mini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Cheap, fast, good enough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Daily coding, bug fixes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GPT-5.3 Codex or Claude Sonnet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Best value, high quality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Complex logic, architecture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Claude Opus or GPT-5.5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Smartest, but expensive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Frontend/visual work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Gemini 3.1 Pro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Can see images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Fast, simple questions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Claude Haiku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Fastest responses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"/>
          <p:cNvSpPr txBox="1"/>
          <p:nvPr/>
        </p:nvSpPr>
        <p:spPr>
          <a:xfrm>
            <a:off x="743712" y="850000"/>
            <a:ext cx="70034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2.5 — Compare Two Models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 txBox="1"/>
          <p:nvPr/>
        </p:nvSpPr>
        <p:spPr>
          <a:xfrm>
            <a:off x="747720" y="1442440"/>
            <a:ext cx="5642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Set model to Claude Sonnet, ask: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 txBox="1"/>
          <p:nvPr/>
        </p:nvSpPr>
        <p:spPr>
          <a:xfrm>
            <a:off x="923760" y="1862640"/>
            <a:ext cx="78433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Explain what a closure is in JavaScript with a practical example.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 txBox="1"/>
          <p:nvPr/>
        </p:nvSpPr>
        <p:spPr>
          <a:xfrm>
            <a:off x="747720" y="2162600"/>
            <a:ext cx="3660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Copy the response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 txBox="1"/>
          <p:nvPr/>
        </p:nvSpPr>
        <p:spPr>
          <a:xfrm>
            <a:off x="747720" y="2582800"/>
            <a:ext cx="7639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Switch to GPT-5 Mini — ask the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same question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 txBox="1"/>
          <p:nvPr/>
        </p:nvSpPr>
        <p:spPr>
          <a:xfrm>
            <a:off x="747720" y="3003000"/>
            <a:ext cx="3846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Compare responses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821" name="Table 820"/>
          <p:cNvGraphicFramePr>
            <a:graphicFrameLocks noGrp="1"/>
          </p:cNvGraphicFramePr>
          <p:nvPr/>
        </p:nvGraphicFramePr>
        <p:xfrm>
          <a:off x="743712" y="3423200"/>
          <a:ext cx="499584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9800"/>
                <a:gridCol w="1523040"/>
                <a:gridCol w="120300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Comparison Point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Claude Sonnet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GPT-5 Mini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Length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Code example quality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Explanation clarity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Speed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"/>
          <p:cNvSpPr txBox="1"/>
          <p:nvPr/>
        </p:nvSpPr>
        <p:spPr>
          <a:xfrm>
            <a:off x="743712" y="850000"/>
            <a:ext cx="72241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2.5 — Cost &amp; Decision Matrix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"/>
          <p:cNvSpPr txBox="1"/>
          <p:nvPr/>
        </p:nvSpPr>
        <p:spPr>
          <a:xfrm>
            <a:off x="747720" y="1442440"/>
            <a:ext cx="8607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Check token usage at bottom of chat after each request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 txBox="1"/>
          <p:nvPr/>
        </p:nvSpPr>
        <p:spPr>
          <a:xfrm>
            <a:off x="747720" y="1862640"/>
            <a:ext cx="5726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6: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Create a personal decision matrix: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743712" y="4678040"/>
            <a:ext cx="10335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Same question to two models · Compared quality/speed ·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"/>
          <p:cNvSpPr txBox="1"/>
          <p:nvPr/>
        </p:nvSpPr>
        <p:spPr>
          <a:xfrm>
            <a:off x="747720" y="5098240"/>
            <a:ext cx="3169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Created personal guide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TextBox 840"/>
          <p:cNvSpPr txBox="1"/>
          <p:nvPr/>
        </p:nvSpPr>
        <p:spPr>
          <a:xfrm>
            <a:off x="923760" y="2282840"/>
            <a:ext cx="6765280" cy="2315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If task is...                    Use model...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Typos / text changes           → GPT-5 Mini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Quick question                 → Claude Haiku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Daily coding                   → GPT-5.3 Codex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Complex debugging              → Claude Sonnet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Architecture design            → Claude Opus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UI/frontend from image         → Gemini Pro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2.6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3229680" y="3331520"/>
            <a:ext cx="57326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Precise Context with @mentions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8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"/>
          <p:cNvSpPr txBox="1"/>
          <p:nvPr/>
        </p:nvSpPr>
        <p:spPr>
          <a:xfrm>
            <a:off x="743712" y="850000"/>
            <a:ext cx="31831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@mention Types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2" name=""/>
          <p:cNvSpPr txBox="1"/>
          <p:nvPr/>
        </p:nvSpPr>
        <p:spPr>
          <a:xfrm>
            <a:off x="1090440" y="4431640"/>
            <a:ext cx="7791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"Laser-targeting instead of spraying the whole codebase."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3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4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986" name="Table 985"/>
          <p:cNvGraphicFramePr>
            <a:graphicFrameLocks noGrp="1"/>
          </p:cNvGraphicFramePr>
          <p:nvPr/>
        </p:nvGraphicFramePr>
        <p:xfrm>
          <a:off x="743712" y="1442440"/>
          <a:ext cx="6489360" cy="290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6320"/>
                <a:gridCol w="3016560"/>
                <a:gridCol w="237648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@mention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What It Does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@filename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Include specific file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@auth.py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@symbol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Include function/class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@UserModel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@branch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Reference git branch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@main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@chat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Reference past conversation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@previous-chat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@folder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Reference entire directory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@/src/utils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@web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Search the web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@web pandas DataFrame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"/>
          <p:cNvSpPr txBox="1"/>
          <p:nvPr/>
        </p:nvSpPr>
        <p:spPr>
          <a:xfrm>
            <a:off x="743712" y="850000"/>
            <a:ext cx="7182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2.6 — @filename &amp; @symbol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6" name=""/>
          <p:cNvSpPr txBox="1"/>
          <p:nvPr/>
        </p:nvSpPr>
        <p:spPr>
          <a:xfrm>
            <a:off x="747720" y="1442440"/>
            <a:ext cx="3897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Target a specific file: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7" name=""/>
          <p:cNvSpPr txBox="1"/>
          <p:nvPr/>
        </p:nvSpPr>
        <p:spPr>
          <a:xfrm>
            <a:off x="743712" y="1862640"/>
            <a:ext cx="95328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@database.py What are the security vulnerabilities in this database connection?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8" name=""/>
          <p:cNvSpPr txBox="1"/>
          <p:nvPr/>
        </p:nvSpPr>
        <p:spPr>
          <a:xfrm>
            <a:off x="747720" y="2162600"/>
            <a:ext cx="4574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Target a specific function: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9" name=""/>
          <p:cNvSpPr txBox="1"/>
          <p:nvPr/>
        </p:nvSpPr>
        <p:spPr>
          <a:xfrm>
            <a:off x="923760" y="2582800"/>
            <a:ext cx="76021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@calculate_total This function is returning NaN sometimes. Why?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0" name=""/>
          <p:cNvSpPr txBox="1"/>
          <p:nvPr/>
        </p:nvSpPr>
        <p:spPr>
          <a:xfrm>
            <a:off x="747720" y="2882760"/>
            <a:ext cx="5172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Combine multiple @mentions: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3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4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6" name="TextBox 1005"/>
          <p:cNvSpPr txBox="1"/>
          <p:nvPr/>
        </p:nvSpPr>
        <p:spPr>
          <a:xfrm>
            <a:off x="743712" y="3302960"/>
            <a:ext cx="923416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@auth.py @UserModel @login_handler Review the authentication flow.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Are there any race conditions or timing attacks?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"/>
          <p:cNvSpPr txBox="1"/>
          <p:nvPr/>
        </p:nvSpPr>
        <p:spPr>
          <a:xfrm>
            <a:off x="743712" y="850000"/>
            <a:ext cx="9121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2.6 — @branch, @chat, @folder, @web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2" name=""/>
          <p:cNvSpPr txBox="1"/>
          <p:nvPr/>
        </p:nvSpPr>
        <p:spPr>
          <a:xfrm>
            <a:off x="923760" y="3184840"/>
            <a:ext cx="80848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@src/components Find all components that don't have loading states.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3" name=""/>
          <p:cNvSpPr txBox="1"/>
          <p:nvPr/>
        </p:nvSpPr>
        <p:spPr>
          <a:xfrm>
            <a:off x="923760" y="3484800"/>
            <a:ext cx="59130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@web React 19 useTransition hook How do I use it?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4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6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7" name="TextBox 1026"/>
          <p:cNvSpPr txBox="1"/>
          <p:nvPr/>
        </p:nvSpPr>
        <p:spPr>
          <a:xfrm>
            <a:off x="923760" y="1442440"/>
            <a:ext cx="813688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Compare @main and @feature/payment branches.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What are the key differences in the payment handling code?</a:t>
            </a:r>
          </a:p>
        </p:txBody>
      </p:sp>
      <p:sp>
        <p:nvSpPr>
          <p:cNvPr id="1028" name="TextBox 1027"/>
          <p:cNvSpPr txBox="1"/>
          <p:nvPr/>
        </p:nvSpPr>
        <p:spPr>
          <a:xfrm>
            <a:off x="923760" y="2313640"/>
            <a:ext cx="813688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@chat(authentication-discussion) Based on that discussion,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implement the fix we agreed on.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"/>
          <p:cNvSpPr txBox="1"/>
          <p:nvPr/>
        </p:nvSpPr>
        <p:spPr>
          <a:xfrm>
            <a:off x="743712" y="565120"/>
            <a:ext cx="36230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@mention Pro Tips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3" name=""/>
          <p:cNvSpPr txBox="1"/>
          <p:nvPr/>
        </p:nvSpPr>
        <p:spPr>
          <a:xfrm>
            <a:off x="1357200" y="1157560"/>
            <a:ext cx="1627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Start typing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4" name=""/>
          <p:cNvSpPr txBox="1"/>
          <p:nvPr/>
        </p:nvSpPr>
        <p:spPr>
          <a:xfrm>
            <a:off x="3052080" y="1997960"/>
            <a:ext cx="2739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@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6" name=""/>
          <p:cNvSpPr txBox="1"/>
          <p:nvPr/>
        </p:nvSpPr>
        <p:spPr>
          <a:xfrm>
            <a:off x="743712" y="1577760"/>
            <a:ext cx="5997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Cursor auto-suggests available mentions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8" name=""/>
          <p:cNvSpPr txBox="1"/>
          <p:nvPr/>
        </p:nvSpPr>
        <p:spPr>
          <a:xfrm>
            <a:off x="1357200" y="2352640"/>
            <a:ext cx="6968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You can @mention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multiple items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in one message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9" name=""/>
          <p:cNvSpPr txBox="1"/>
          <p:nvPr/>
        </p:nvSpPr>
        <p:spPr>
          <a:xfrm>
            <a:off x="1357200" y="2772840"/>
            <a:ext cx="65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@mentions work in both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Agent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and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Chat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modes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1" name=""/>
          <p:cNvSpPr txBox="1"/>
          <p:nvPr/>
        </p:nvSpPr>
        <p:spPr>
          <a:xfrm>
            <a:off x="747720" y="3193040"/>
            <a:ext cx="2491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3" name=""/>
          <p:cNvSpPr txBox="1"/>
          <p:nvPr/>
        </p:nvSpPr>
        <p:spPr>
          <a:xfrm>
            <a:off x="1357200" y="3613240"/>
            <a:ext cx="797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Used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4" name=""/>
          <p:cNvSpPr txBox="1"/>
          <p:nvPr/>
        </p:nvSpPr>
        <p:spPr>
          <a:xfrm>
            <a:off x="2221920" y="4873840"/>
            <a:ext cx="13582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@filename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6" name=""/>
          <p:cNvSpPr txBox="1"/>
          <p:nvPr/>
        </p:nvSpPr>
        <p:spPr>
          <a:xfrm>
            <a:off x="3647880" y="403344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7" name=""/>
          <p:cNvSpPr txBox="1"/>
          <p:nvPr/>
        </p:nvSpPr>
        <p:spPr>
          <a:xfrm>
            <a:off x="3885840" y="5228520"/>
            <a:ext cx="105660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@symbol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9" name=""/>
          <p:cNvSpPr txBox="1"/>
          <p:nvPr/>
        </p:nvSpPr>
        <p:spPr>
          <a:xfrm>
            <a:off x="743712" y="4453640"/>
            <a:ext cx="3613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multiple @mentions, and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0" name=""/>
          <p:cNvSpPr txBox="1"/>
          <p:nvPr/>
        </p:nvSpPr>
        <p:spPr>
          <a:xfrm>
            <a:off x="8691480" y="5583200"/>
            <a:ext cx="6040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@web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1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2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3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2.7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8" name=""/>
          <p:cNvSpPr txBox="1"/>
          <p:nvPr/>
        </p:nvSpPr>
        <p:spPr>
          <a:xfrm>
            <a:off x="5005380" y="3331520"/>
            <a:ext cx="21812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Checkpoints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9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4 min · Exercise · 4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0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"/>
          <p:cNvSpPr txBox="1"/>
          <p:nvPr/>
        </p:nvSpPr>
        <p:spPr>
          <a:xfrm>
            <a:off x="743712" y="850000"/>
            <a:ext cx="54615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 Safety Net for Experiments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8" name=""/>
          <p:cNvSpPr txBox="1"/>
          <p:nvPr/>
        </p:nvSpPr>
        <p:spPr>
          <a:xfrm>
            <a:off x="747720" y="1442440"/>
            <a:ext cx="3557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What Checkpoints Save: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0" name=""/>
          <p:cNvSpPr txBox="1"/>
          <p:nvPr/>
        </p:nvSpPr>
        <p:spPr>
          <a:xfrm>
            <a:off x="1357200" y="1862640"/>
            <a:ext cx="4575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Code changes made by the agent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1" name=""/>
          <p:cNvSpPr txBox="1"/>
          <p:nvPr/>
        </p:nvSpPr>
        <p:spPr>
          <a:xfrm>
            <a:off x="1357200" y="2282840"/>
            <a:ext cx="4438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Conversation history · File states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3" name=""/>
          <p:cNvSpPr txBox="1"/>
          <p:nvPr/>
        </p:nvSpPr>
        <p:spPr>
          <a:xfrm>
            <a:off x="747720" y="2703040"/>
            <a:ext cx="4251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When to Create Checkpoints: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5" name=""/>
          <p:cNvSpPr txBox="1"/>
          <p:nvPr/>
        </p:nvSpPr>
        <p:spPr>
          <a:xfrm>
            <a:off x="1357200" y="3123240"/>
            <a:ext cx="721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Before complex changes · At milestones (Step 2 of 5)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6" name=""/>
          <p:cNvSpPr txBox="1"/>
          <p:nvPr/>
        </p:nvSpPr>
        <p:spPr>
          <a:xfrm>
            <a:off x="1357200" y="3543440"/>
            <a:ext cx="7267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Before risky experiments · Before terminal commands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7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"/>
          <p:cNvSpPr txBox="1"/>
          <p:nvPr/>
        </p:nvSpPr>
        <p:spPr>
          <a:xfrm>
            <a:off x="743712" y="850000"/>
            <a:ext cx="61236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2.7 — Create &amp; Restore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8" name=""/>
          <p:cNvSpPr txBox="1"/>
          <p:nvPr/>
        </p:nvSpPr>
        <p:spPr>
          <a:xfrm>
            <a:off x="747720" y="1442440"/>
            <a:ext cx="7167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Create a checkpoint before making a change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2" name=""/>
          <p:cNvSpPr txBox="1"/>
          <p:nvPr/>
        </p:nvSpPr>
        <p:spPr>
          <a:xfrm>
            <a:off x="747720" y="2733840"/>
            <a:ext cx="4082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Name it descriptively: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3" name=""/>
          <p:cNvSpPr txBox="1"/>
          <p:nvPr/>
        </p:nvSpPr>
        <p:spPr>
          <a:xfrm>
            <a:off x="4898160" y="3154040"/>
            <a:ext cx="527940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"Before auth refactor - safe point"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4" name=""/>
          <p:cNvSpPr txBox="1"/>
          <p:nvPr/>
        </p:nvSpPr>
        <p:spPr>
          <a:xfrm>
            <a:off x="747720" y="3508720"/>
            <a:ext cx="5032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Let the agent make changes: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5" name=""/>
          <p:cNvSpPr txBox="1"/>
          <p:nvPr/>
        </p:nvSpPr>
        <p:spPr>
          <a:xfrm>
            <a:off x="923760" y="3928920"/>
            <a:ext cx="50684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Add input validation to all form handlers.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6" name=""/>
          <p:cNvSpPr txBox="1"/>
          <p:nvPr/>
        </p:nvSpPr>
        <p:spPr>
          <a:xfrm>
            <a:off x="747720" y="4228880"/>
            <a:ext cx="8097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If something goes wrong →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Restore to checkpoint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7" name=""/>
          <p:cNvSpPr txBox="1"/>
          <p:nvPr/>
        </p:nvSpPr>
        <p:spPr>
          <a:xfrm>
            <a:off x="747720" y="4649080"/>
            <a:ext cx="7184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View history via the clock icon in Agent panel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8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9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0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1" name="TextBox 1100"/>
          <p:cNvSpPr txBox="1"/>
          <p:nvPr/>
        </p:nvSpPr>
        <p:spPr>
          <a:xfrm>
            <a:off x="923760" y="1862640"/>
            <a:ext cx="539368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Click checkpoint icon in Agent panel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Or: Cmd+Shift+S / Ctrl+Shift+S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"/>
          <p:cNvSpPr txBox="1"/>
          <p:nvPr/>
        </p:nvSpPr>
        <p:spPr>
          <a:xfrm>
            <a:off x="743712" y="850000"/>
            <a:ext cx="4999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Checkpoint Best Practices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7" name=""/>
          <p:cNvSpPr txBox="1"/>
          <p:nvPr/>
        </p:nvSpPr>
        <p:spPr>
          <a:xfrm>
            <a:off x="743712" y="1442440"/>
            <a:ext cx="8234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 checkpoints every 5–10 minutes during complex work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9" name=""/>
          <p:cNvSpPr txBox="1"/>
          <p:nvPr/>
        </p:nvSpPr>
        <p:spPr>
          <a:xfrm>
            <a:off x="1357200" y="1862640"/>
            <a:ext cx="5807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descriptive names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not "checkpoint1"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1" name=""/>
          <p:cNvSpPr txBox="1"/>
          <p:nvPr/>
        </p:nvSpPr>
        <p:spPr>
          <a:xfrm>
            <a:off x="1357200" y="2282840"/>
            <a:ext cx="5473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Test the restored state before continuing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2" name=""/>
          <p:cNvSpPr txBox="1"/>
          <p:nvPr/>
        </p:nvSpPr>
        <p:spPr>
          <a:xfrm>
            <a:off x="1357200" y="2703040"/>
            <a:ext cx="5015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Clean up old checkpoints periodically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4" name=""/>
          <p:cNvSpPr txBox="1"/>
          <p:nvPr/>
        </p:nvSpPr>
        <p:spPr>
          <a:xfrm>
            <a:off x="747720" y="3123240"/>
            <a:ext cx="2491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5" name=""/>
          <p:cNvSpPr txBox="1"/>
          <p:nvPr/>
        </p:nvSpPr>
        <p:spPr>
          <a:xfrm>
            <a:off x="743712" y="3543440"/>
            <a:ext cx="9234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Created checkpoint · Made changes · Restored · Verified restoration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6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2.8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3" name=""/>
          <p:cNvSpPr txBox="1"/>
          <p:nvPr/>
        </p:nvSpPr>
        <p:spPr>
          <a:xfrm>
            <a:off x="4333800" y="3331520"/>
            <a:ext cx="35244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Terminal Integration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4" name=""/>
          <p:cNvSpPr txBox="1"/>
          <p:nvPr/>
        </p:nvSpPr>
        <p:spPr>
          <a:xfrm>
            <a:off x="3792000" y="3853960"/>
            <a:ext cx="460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5 min · Exercise · 8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5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"/>
          <p:cNvSpPr txBox="1"/>
          <p:nvPr/>
        </p:nvSpPr>
        <p:spPr>
          <a:xfrm>
            <a:off x="743712" y="850000"/>
            <a:ext cx="44031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the Agent Can Do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4" name=""/>
          <p:cNvSpPr txBox="1"/>
          <p:nvPr/>
        </p:nvSpPr>
        <p:spPr>
          <a:xfrm>
            <a:off x="1357200" y="1442440"/>
            <a:ext cx="7065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Run shell commands · See stdout, stderr, exit codes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6" name=""/>
          <p:cNvSpPr txBox="1"/>
          <p:nvPr/>
        </p:nvSpPr>
        <p:spPr>
          <a:xfrm>
            <a:off x="1357200" y="1862640"/>
            <a:ext cx="6540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React to command output · Install dependencies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7" name=""/>
          <p:cNvSpPr txBox="1"/>
          <p:nvPr/>
        </p:nvSpPr>
        <p:spPr>
          <a:xfrm>
            <a:off x="1357200" y="2282840"/>
            <a:ext cx="4066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Run tests · Start/stop services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9" name=""/>
          <p:cNvSpPr txBox="1"/>
          <p:nvPr/>
        </p:nvSpPr>
        <p:spPr>
          <a:xfrm>
            <a:off x="747720" y="2703040"/>
            <a:ext cx="23724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Safety Features: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1" name=""/>
          <p:cNvSpPr txBox="1"/>
          <p:nvPr/>
        </p:nvSpPr>
        <p:spPr>
          <a:xfrm>
            <a:off x="1357200" y="3123240"/>
            <a:ext cx="6236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You approve each command before execution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3" name=""/>
          <p:cNvSpPr txBox="1"/>
          <p:nvPr/>
        </p:nvSpPr>
        <p:spPr>
          <a:xfrm>
            <a:off x="1357200" y="3543440"/>
            <a:ext cx="6014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Commands appear in terminal for you to see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4" name=""/>
          <p:cNvSpPr txBox="1"/>
          <p:nvPr/>
        </p:nvSpPr>
        <p:spPr>
          <a:xfrm>
            <a:off x="1357200" y="3963640"/>
            <a:ext cx="5049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You can reject dangerous commands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5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2.8 — Steps 1–3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6" name=""/>
          <p:cNvSpPr txBox="1"/>
          <p:nvPr/>
        </p:nvSpPr>
        <p:spPr>
          <a:xfrm>
            <a:off x="747720" y="1442440"/>
            <a:ext cx="4320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Check the environment: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7" name=""/>
          <p:cNvSpPr txBox="1"/>
          <p:nvPr/>
        </p:nvSpPr>
        <p:spPr>
          <a:xfrm>
            <a:off x="923760" y="1862640"/>
            <a:ext cx="80848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Run `python --version` and tell me what Python version we're using.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8" name=""/>
          <p:cNvSpPr txBox="1"/>
          <p:nvPr/>
        </p:nvSpPr>
        <p:spPr>
          <a:xfrm>
            <a:off x="747720" y="2162600"/>
            <a:ext cx="6354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Approve the command when prompted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"/>
          <p:cNvSpPr txBox="1"/>
          <p:nvPr/>
        </p:nvSpPr>
        <p:spPr>
          <a:xfrm>
            <a:off x="747720" y="2582800"/>
            <a:ext cx="4523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Run tests and fix failures: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2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4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5" name="TextBox 1164"/>
          <p:cNvSpPr txBox="1"/>
          <p:nvPr/>
        </p:nvSpPr>
        <p:spPr>
          <a:xfrm>
            <a:off x="923760" y="3003000"/>
            <a:ext cx="676528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Run the test suite. If any tests fail, fix them.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Show me what you're changing.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"/>
          <p:cNvSpPr txBox="1"/>
          <p:nvPr/>
        </p:nvSpPr>
        <p:spPr>
          <a:xfrm>
            <a:off x="743712" y="850000"/>
            <a:ext cx="6870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2.8 — Agent Terminal Loop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0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3" name="TextBox 1182"/>
          <p:cNvSpPr txBox="1"/>
          <p:nvPr/>
        </p:nvSpPr>
        <p:spPr>
          <a:xfrm>
            <a:off x="743712" y="1442440"/>
            <a:ext cx="10194280" cy="3839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Agent: I'll run the tests first.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→ Executing: pytest tests/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→ Output: 7 passed, 2 failed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Agent: Two tests failed. Let me look at them.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→ Reading: tests/test_auth.py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Agent: Login test failing — timeout too short. Increasing 5 → 10 seconds.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→ Editing: tests/test_auth.py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→ Executing: pytest tests/test_auth.py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→ Output: All tests passed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"/>
          <p:cNvSpPr txBox="1"/>
          <p:nvPr/>
        </p:nvSpPr>
        <p:spPr>
          <a:xfrm>
            <a:off x="743712" y="850000"/>
            <a:ext cx="61228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2.8 — More Commands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1" name=""/>
          <p:cNvSpPr txBox="1"/>
          <p:nvPr/>
        </p:nvSpPr>
        <p:spPr>
          <a:xfrm>
            <a:off x="747720" y="1442440"/>
            <a:ext cx="3982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Install a dependency: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2" name=""/>
          <p:cNvSpPr txBox="1"/>
          <p:nvPr/>
        </p:nvSpPr>
        <p:spPr>
          <a:xfrm>
            <a:off x="923760" y="1862640"/>
            <a:ext cx="73609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Install the 'requests' library if it's not already installed.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3" name=""/>
          <p:cNvSpPr txBox="1"/>
          <p:nvPr/>
        </p:nvSpPr>
        <p:spPr>
          <a:xfrm>
            <a:off x="747720" y="2162600"/>
            <a:ext cx="3777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6: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Multi-step workflow: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9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2" name="TextBox 1201"/>
          <p:cNvSpPr txBox="1"/>
          <p:nvPr/>
        </p:nvSpPr>
        <p:spPr>
          <a:xfrm>
            <a:off x="923760" y="2582800"/>
            <a:ext cx="8136880" cy="2010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Run these commands in order: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1. git checkout main  2. git pull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3. git checkout -b feature/analytics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4. Create analytics.py  5. Run flake8  6. Fix style issues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Confirm before each command that might affect the repo.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"/>
          <p:cNvSpPr txBox="1"/>
          <p:nvPr/>
        </p:nvSpPr>
        <p:spPr>
          <a:xfrm>
            <a:off x="743712" y="850000"/>
            <a:ext cx="61880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Terminal Command Safety Rules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2" name=""/>
          <p:cNvSpPr txBox="1"/>
          <p:nvPr/>
        </p:nvSpPr>
        <p:spPr>
          <a:xfrm>
            <a:off x="747720" y="4023040"/>
            <a:ext cx="2491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4" name=""/>
          <p:cNvSpPr txBox="1"/>
          <p:nvPr/>
        </p:nvSpPr>
        <p:spPr>
          <a:xfrm>
            <a:off x="1357200" y="4443240"/>
            <a:ext cx="7031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Ran version check · Ran tests and reacted to output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5" name=""/>
          <p:cNvSpPr txBox="1"/>
          <p:nvPr/>
        </p:nvSpPr>
        <p:spPr>
          <a:xfrm>
            <a:off x="1357200" y="4863440"/>
            <a:ext cx="7099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Installed dependency · Executed multi-step workflow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6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289" name="Table 1288"/>
          <p:cNvGraphicFramePr>
            <a:graphicFrameLocks noGrp="1"/>
          </p:cNvGraphicFramePr>
          <p:nvPr/>
        </p:nvGraphicFramePr>
        <p:xfrm>
          <a:off x="743712" y="1442440"/>
          <a:ext cx="7099920" cy="25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980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Commands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Always approve first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rm, sudo, git push --force, production changes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Review carefully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npm install, pip install, git branch changes, docker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Safe to auto-approve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python --version, ls, pwd, cat, pytest, npm test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"/>
          <p:cNvSpPr txBox="1"/>
          <p:nvPr/>
        </p:nvSpPr>
        <p:spPr>
          <a:xfrm>
            <a:off x="743712" y="850000"/>
            <a:ext cx="3303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Summary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0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443" name="Table 1442"/>
          <p:cNvGraphicFramePr>
            <a:graphicFrameLocks noGrp="1"/>
          </p:cNvGraphicFramePr>
          <p:nvPr/>
        </p:nvGraphicFramePr>
        <p:xfrm>
          <a:off x="743712" y="1442440"/>
          <a:ext cx="5849280" cy="374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2696520"/>
                <a:gridCol w="237648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Key Skill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Codebase Understanding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Orient to new repo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Explaining Files/Symbols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Targeted explanations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Safe Reviewable Changes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Diff review workflow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2.4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Plan Mode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Design before code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2.5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Comparing Models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Model selection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2.6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@mentions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Precise context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2.7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Checkpoints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Safety net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2.8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Terminal Integration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Command execution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"/>
          <p:cNvSpPr txBox="1"/>
          <p:nvPr/>
        </p:nvSpPr>
        <p:spPr>
          <a:xfrm>
            <a:off x="743712" y="850000"/>
            <a:ext cx="41410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Quick Reference Card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7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0" name="TextBox 1459"/>
          <p:cNvSpPr txBox="1"/>
          <p:nvPr/>
        </p:nvSpPr>
        <p:spPr>
          <a:xfrm>
            <a:off x="743712" y="1442440"/>
            <a:ext cx="9508480" cy="3229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SHORTCUTS: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Cmd/Ctrl + I          → Open Agent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Cmd/Ctrl + L          → Explain selected code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Shift + Tab           → Toggle Plan Mode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Cmd/Ctrl + Shift + S  → Create checkpoint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@MENTIONS:  @filename  @symbol  @branch  @chat  @web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SAFE CHANGE:  Ask → Review diff → Accept/reject → Test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PLAN MODE:    Shift+Tab → Describe → Review plan → Approve → Execute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"/>
          <p:cNvSpPr txBox="1"/>
          <p:nvPr/>
        </p:nvSpPr>
        <p:spPr>
          <a:xfrm>
            <a:off x="743712" y="850000"/>
            <a:ext cx="425448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Up Next: Module 3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5" name=""/>
          <p:cNvSpPr txBox="1"/>
          <p:nvPr/>
        </p:nvSpPr>
        <p:spPr>
          <a:xfrm>
            <a:off x="743712" y="2565720"/>
            <a:ext cx="96804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Agent Modes and Tools · Day 1 (Hands-On + Concept)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6" name=""/>
          <p:cNvSpPr txBox="1"/>
          <p:nvPr/>
        </p:nvSpPr>
        <p:spPr>
          <a:xfrm>
            <a:off x="743712" y="3158160"/>
            <a:ext cx="9764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Now that you've mastered essential Cursor workflows,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Module 3: Agent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7" name=""/>
          <p:cNvSpPr txBox="1"/>
          <p:nvPr/>
        </p:nvSpPr>
        <p:spPr>
          <a:xfrm>
            <a:off x="743712" y="3578360"/>
            <a:ext cx="9588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Modes and Tools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covers Ask, Agent, and custom modes plus browser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8" name=""/>
          <p:cNvSpPr txBox="1"/>
          <p:nvPr/>
        </p:nvSpPr>
        <p:spPr>
          <a:xfrm>
            <a:off x="1090440" y="3998560"/>
            <a:ext cx="2491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and terminal tools.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9" name=""/>
          <p:cNvSpPr txBox="1"/>
          <p:nvPr/>
        </p:nvSpPr>
        <p:spPr>
          <a:xfrm>
            <a:off x="747720" y="4418760"/>
            <a:ext cx="2220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End of Module 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0" name=""/>
          <p:cNvSpPr txBox="1"/>
          <p:nvPr/>
        </p:nvSpPr>
        <p:spPr>
          <a:xfrm>
            <a:off x="285840" y="225720"/>
            <a:ext cx="27993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2 — Cursor Editor Essentials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