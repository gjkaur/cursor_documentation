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3250020" y="1947400"/>
            <a:ext cx="5691960" cy="15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40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Cursor Editor Essentials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496980" y="3631400"/>
            <a:ext cx="5198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· Day 1 (Hands-On)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4199400"/>
            <a:ext cx="470664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Hands-on exercise · ~90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 txBox="1"/>
          <p:nvPr/>
        </p:nvSpPr>
        <p:spPr>
          <a:xfrm>
            <a:off x="743712" y="850000"/>
            <a:ext cx="3259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Overview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79" name="Table 78"/>
          <p:cNvGraphicFramePr>
            <a:graphicFrameLocks noGrp="1"/>
          </p:cNvGraphicFramePr>
          <p:nvPr/>
        </p:nvGraphicFramePr>
        <p:xfrm>
          <a:off x="2919420" y="3022940"/>
          <a:ext cx="6353160" cy="22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3040"/>
                <a:gridCol w="48301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Details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~90 minutes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Hands-on exercise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Prerequisites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Module 1 completed, Cursor installed, Git repository access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Module Goal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Master the core workflows of AI-assisted coding in Cursor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 txBox="1"/>
          <p:nvPr/>
        </p:nvSpPr>
        <p:spPr>
          <a:xfrm>
            <a:off x="743712" y="809680"/>
            <a:ext cx="3788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Learning Objectives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743712" y="2388880"/>
            <a:ext cx="10728960" cy="346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By the end of this module, participants will be able to: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Orient an AI agent to an unfamiliar codebase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Get targeted explanations of specific files or symbols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Make safe, reviewable changes using diff review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Design complex changes with Plan Mode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Compare models to choose the right one for each task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Use @mentions for precise context control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Navigate checkpoints as a safety net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Let agents run terminal commands and react to output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 txBox="1"/>
          <p:nvPr/>
        </p:nvSpPr>
        <p:spPr>
          <a:xfrm>
            <a:off x="743712" y="850000"/>
            <a:ext cx="145368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Agenda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57" name="Table 256"/>
          <p:cNvGraphicFramePr>
            <a:graphicFrameLocks noGrp="1"/>
          </p:cNvGraphicFramePr>
          <p:nvPr/>
        </p:nvGraphicFramePr>
        <p:xfrm>
          <a:off x="3971460" y="2217140"/>
          <a:ext cx="4249080" cy="328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6280"/>
                <a:gridCol w="2696520"/>
                <a:gridCol w="77628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Lesson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Time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2.1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Codebase Understanding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Explaining Files/Symbols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2.3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Safe Reviewable Changes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Plan Mode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Comparing Models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@mentions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2.7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Checkpoints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8 min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Terminal Integration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13 min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2.1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848700" y="2733200"/>
            <a:ext cx="44946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Codebase Understanding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602900" y="4092400"/>
            <a:ext cx="298620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8 min · Exercise · 12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 txBox="1"/>
          <p:nvPr/>
        </p:nvSpPr>
        <p:spPr>
          <a:xfrm>
            <a:off x="743712" y="850000"/>
            <a:ext cx="5306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Problem &amp; The Solution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The Problem:</a:t>
            </a:r>
            <a:r>
              <a:rPr sz="2000" b="0">
                <a:solidFill>
                  <a:srgbClr val="000000"/>
                </a:solidFill>
                <a:latin typeface="Arial"/>
              </a:rPr>
              <a:t> Opening a new codebase is overwhelming. Where do you start? What's the entry point?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The Cursor Solution:</a:t>
            </a:r>
            <a:r>
              <a:rPr sz="2000" b="0">
                <a:solidFill>
                  <a:srgbClr val="000000"/>
                </a:solidFill>
                <a:latin typeface="Arial"/>
              </a:rPr>
              <a:t> Ask the agent to explain the codebase. It reads files, traces connections, and returns a roadmap.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"Drop an agent into a codebase you've never seen and get a coherent explanation of how it works."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2.1 — Steps 1–2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747720" y="4218600"/>
            <a:ext cx="56757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2: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Open the Agent (Ctrl+I on Windows/Linux · Cmd+I on Mac)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743712" y="3311200"/>
            <a:ext cx="7746360" cy="82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git clone https://github.com/facebookresearch/detectron2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cd detectron2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cursor .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743712" y="2429200"/>
            <a:ext cx="10728960" cy="80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1:</a:t>
            </a:r>
            <a:r>
              <a:rPr sz="2000" b="0">
                <a:solidFill>
                  <a:srgbClr val="000000"/>
                </a:solidFill>
                <a:latin typeface="Arial"/>
              </a:rPr>
              <a:t> Open an unfamiliar repository in Cursor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Use </a:t>
            </a:r>
            <a:r>
              <a:rPr sz="2000" b="1">
                <a:solidFill>
                  <a:srgbClr val="000000"/>
                </a:solidFill>
                <a:latin typeface="Arial"/>
              </a:rPr>
              <a:t>PowerShell</a:t>
            </a:r>
            <a:r>
              <a:rPr sz="2000" b="0">
                <a:solidFill>
                  <a:srgbClr val="000000"/>
                </a:solidFill>
                <a:latin typeface="Arial"/>
              </a:rPr>
              <a:t>, </a:t>
            </a:r>
            <a:r>
              <a:rPr sz="2000" b="1">
                <a:solidFill>
                  <a:srgbClr val="000000"/>
                </a:solidFill>
                <a:latin typeface="Arial"/>
              </a:rPr>
              <a:t>Git Bash</a:t>
            </a:r>
            <a:r>
              <a:rPr sz="2000" b="0">
                <a:solidFill>
                  <a:srgbClr val="000000"/>
                </a:solidFill>
                <a:latin typeface="Arial"/>
              </a:rPr>
              <a:t>, or </a:t>
            </a:r>
            <a:r>
              <a:rPr sz="2000" b="1">
                <a:solidFill>
                  <a:srgbClr val="000000"/>
                </a:solidFill>
                <a:latin typeface="Arial"/>
              </a:rPr>
              <a:t>CMD</a:t>
            </a:r>
            <a:r>
              <a:rPr sz="2000" b="0">
                <a:solidFill>
                  <a:srgbClr val="000000"/>
                </a:solidFill>
                <a:latin typeface="Arial"/>
              </a:rPr>
              <a:t> in Cursor's integrated terminal (Ctrl+`):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 txBox="1"/>
          <p:nvPr/>
        </p:nvSpPr>
        <p:spPr>
          <a:xfrm>
            <a:off x="743712" y="850000"/>
            <a:ext cx="7949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2.1 — Step 3: Orientation Prompt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743712" y="2429200"/>
            <a:ext cx="8980800" cy="209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Explain this codebase to me as if I'm a new team member.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Specifically tell me: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1. What is the main purpose of this project?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2. What are the entry points (main scripts, CLI, API)?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3. What are the key modules and how do they relate?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4. What are the main dependencies?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5. What files should I read first to understand the architecture?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 txBox="1"/>
          <p:nvPr/>
        </p:nvSpPr>
        <p:spPr>
          <a:xfrm>
            <a:off x="743712" y="850000"/>
            <a:ext cx="73782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2.1 — Step 4: Trace Data Flow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47720" y="2429200"/>
            <a:ext cx="30920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4: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Follow up — trace data flow: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743712" y="3311200"/>
            <a:ext cx="898080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Based on what you just told me, trace the flow of data from input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to output. What functions get called in order?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"/>
          <p:cNvSpPr txBox="1"/>
          <p:nvPr/>
        </p:nvSpPr>
        <p:spPr>
          <a:xfrm>
            <a:off x="743712" y="850000"/>
            <a:ext cx="7379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2.1 — Step 5: Visual Overview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47720" y="2429200"/>
            <a:ext cx="283788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5: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Ask for a visual overview: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TextBox 330"/>
          <p:cNvSpPr txBox="1"/>
          <p:nvPr/>
        </p:nvSpPr>
        <p:spPr>
          <a:xfrm>
            <a:off x="743712" y="3311200"/>
            <a:ext cx="1021524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Create an ASCII diagram showing the module relationships in this codebase.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 txBox="1"/>
          <p:nvPr/>
        </p:nvSpPr>
        <p:spPr>
          <a:xfrm>
            <a:off x="743712" y="850000"/>
            <a:ext cx="61869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Expected Agent Output (Sample)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166904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TextBox 349"/>
          <p:cNvSpPr txBox="1"/>
          <p:nvPr/>
        </p:nvSpPr>
        <p:spPr>
          <a:xfrm>
            <a:off x="743712" y="2429200"/>
            <a:ext cx="9529440" cy="336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PURPOSE: Object detection and segmentation library (PyTorch)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ENTRY POINTS: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• train_net.py — Main training script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• demo.py — Inference demo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KEY MODULES: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config/ ←→ model_zoo ←→ engine/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↓           ↓           ↓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structures ←→ modeling/ ←→ data/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DATA FLOW: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Config → build_model() → DataLoader → Training Loop → Loss → Backprop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 txBox="1"/>
          <p:nvPr/>
        </p:nvSpPr>
        <p:spPr>
          <a:xfrm>
            <a:off x="743712" y="850000"/>
            <a:ext cx="5483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Pro Tip — Save the Overview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47720" y="2429200"/>
            <a:ext cx="47282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 Tip: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Save the agent's explanation as a project note: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TextBox 361"/>
          <p:cNvSpPr txBox="1"/>
          <p:nvPr/>
        </p:nvSpPr>
        <p:spPr>
          <a:xfrm>
            <a:off x="743712" y="3311200"/>
            <a:ext cx="856932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Save this explanation as .cursor/project-overview.md so future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team members can read it.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 txBox="1"/>
          <p:nvPr/>
        </p:nvSpPr>
        <p:spPr>
          <a:xfrm>
            <a:off x="743712" y="850000"/>
            <a:ext cx="6014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2.1 — Success Criteria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TextBox 375"/>
          <p:cNvSpPr txBox="1"/>
          <p:nvPr/>
        </p:nvSpPr>
        <p:spPr>
          <a:xfrm>
            <a:off x="743712" y="24292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described project purpose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identified entry points and key modules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suggested first files to read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2.2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946360" y="2733200"/>
            <a:ext cx="6299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Explaining a Specific File or Symbol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 txBox="1"/>
          <p:nvPr/>
        </p:nvSpPr>
        <p:spPr>
          <a:xfrm>
            <a:off x="743712" y="850000"/>
            <a:ext cx="4250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Targeted Explanations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TextBox 394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"Don't make the agent read the whole codebase when you just need to understand one function."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Use </a:t>
            </a:r>
            <a:r>
              <a:rPr sz="2000" b="1">
                <a:solidFill>
                  <a:srgbClr val="000000"/>
                </a:solidFill>
                <a:latin typeface="Arial"/>
              </a:rPr>
              <a:t>precise context</a:t>
            </a:r>
            <a:r>
              <a:rPr sz="2000" b="0">
                <a:solidFill>
                  <a:srgbClr val="000000"/>
                </a:solidFill>
                <a:latin typeface="Arial"/>
              </a:rPr>
              <a:t> — select a function or class, then ask focused questions.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2.2 — Steps 1–3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743712" y="3692200"/>
            <a:ext cx="9666600" cy="1335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Explain the function I have selected. For each major section, tell me: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What it does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Why it's designed that way (trade-offs)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Potential edge cases or bugs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How it could be improved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1:</a:t>
            </a:r>
            <a:r>
              <a:rPr sz="2000" b="0">
                <a:solidFill>
                  <a:srgbClr val="000000"/>
                </a:solidFill>
                <a:latin typeface="Arial"/>
              </a:rPr>
              <a:t> Open a specific file in your project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2:</a:t>
            </a:r>
            <a:r>
              <a:rPr sz="2000" b="0">
                <a:solidFill>
                  <a:srgbClr val="000000"/>
                </a:solidFill>
                <a:latin typeface="Arial"/>
              </a:rPr>
              <a:t> Select a function or class you want explained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3:</a:t>
            </a:r>
            <a:r>
              <a:rPr sz="2000" b="0">
                <a:solidFill>
                  <a:srgbClr val="000000"/>
                </a:solidFill>
                <a:latin typeface="Arial"/>
              </a:rPr>
              <a:t> Use the Agent with precise context: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 txBox="1"/>
          <p:nvPr/>
        </p:nvSpPr>
        <p:spPr>
          <a:xfrm>
            <a:off x="743712" y="850000"/>
            <a:ext cx="6607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2.2 — Step 4: Example I/O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747720" y="2429200"/>
            <a:ext cx="30499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4: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Ask for a concrete example: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743712" y="3311200"/>
            <a:ext cx="925512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Give me a concrete example of inputs and outputs for this function.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Show me what happens in the normal case and one edge case.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"/>
          <p:cNvSpPr txBox="1"/>
          <p:nvPr/>
        </p:nvSpPr>
        <p:spPr>
          <a:xfrm>
            <a:off x="743712" y="850000"/>
            <a:ext cx="7026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2.2 — Step 5: Dependencies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747720" y="2429200"/>
            <a:ext cx="28281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5: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Ask about dependencies: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743712" y="3311200"/>
            <a:ext cx="856932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What other functions does this call? What calls this function?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Trace the call chain two levels in each direction.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"/>
          <p:cNvSpPr txBox="1"/>
          <p:nvPr/>
        </p:nvSpPr>
        <p:spPr>
          <a:xfrm>
            <a:off x="743712" y="850000"/>
            <a:ext cx="51300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Inline Explanation Shortcut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TextBox 451"/>
          <p:cNvSpPr txBox="1"/>
          <p:nvPr/>
        </p:nvSpPr>
        <p:spPr>
          <a:xfrm>
            <a:off x="743712" y="3692200"/>
            <a:ext cx="774636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Select code, press Cmd+L (or Ctrl+L)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The agent explains the selected code in the chat panel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Selected specific code · Agent explained the selection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provided input/output examples · Agent traced call dependencies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2.3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2945820" y="2733200"/>
            <a:ext cx="63003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Making a Safe, Reviewable Change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"/>
          <p:cNvSpPr txBox="1"/>
          <p:nvPr/>
        </p:nvSpPr>
        <p:spPr>
          <a:xfrm>
            <a:off x="743712" y="850000"/>
            <a:ext cx="4844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Diff Review Workflow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743712" y="2429200"/>
            <a:ext cx="10728960" cy="1945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1. Ask agent to propose a change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2. Review the diff (what's added/removed)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3. Accept or reject changes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4. Test after acceptance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"Before AI changes your code, see exactly what will change and approve it."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"/>
          <p:cNvSpPr txBox="1"/>
          <p:nvPr/>
        </p:nvSpPr>
        <p:spPr>
          <a:xfrm>
            <a:off x="743712" y="27188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2.3 — Steps 1–2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747720" y="1851080"/>
            <a:ext cx="31345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1: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Ask for a small, safe change: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747720" y="3386480"/>
            <a:ext cx="355860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2: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Watch the agent generate the diff: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743712" y="2733080"/>
            <a:ext cx="815784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Change the welcome message in index.html from "Hello World"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to "Welcome to My App"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743712" y="4268480"/>
            <a:ext cx="4180200" cy="154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>📝 Changes to index.html:</a:t>
            </a:r>
          </a:p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>  &lt;h1&gt;- Hello World&lt;/h1&gt;</a:t>
            </a:r>
          </a:p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>  &lt;h1&gt;+ Welcome to My App&lt;/h1&gt;</a:t>
            </a:r>
          </a:p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1949"/>
              </a:lnSpc>
              <a:spcBef>
                <a:spcPts val="0"/>
              </a:spcBef>
              <a:spcAft>
                <a:spcPts val="0"/>
              </a:spcAft>
            </a:pPr>
            <a:r>
              <a:rPr sz="1754">
                <a:solidFill>
                  <a:srgbClr val="1A1A1A"/>
                </a:solidFill>
                <a:latin typeface="Consolas"/>
              </a:rPr>
              <a:t>Accept? [Yes] [No] [Edit]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 txBox="1"/>
          <p:nvPr/>
        </p:nvSpPr>
        <p:spPr>
          <a:xfrm>
            <a:off x="743712" y="850000"/>
            <a:ext cx="63216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2.3 — Review Questions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Before accepting, ask yourself: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Are the changes </a:t>
            </a:r>
            <a:r>
              <a:rPr sz="2000" b="1">
                <a:solidFill>
                  <a:srgbClr val="000000"/>
                </a:solidFill>
                <a:latin typeface="Arial"/>
              </a:rPr>
              <a:t>only</a:t>
            </a:r>
            <a:r>
              <a:rPr sz="2000" b="0">
                <a:solidFill>
                  <a:srgbClr val="000000"/>
                </a:solidFill>
                <a:latin typeface="Arial"/>
              </a:rPr>
              <a:t> what I asked for?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Are there unexpected additions or deletions?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Does the syntax look correct?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Will this break anything else?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4:</a:t>
            </a:r>
            <a:r>
              <a:rPr sz="2000" b="0">
                <a:solidFill>
                  <a:srgbClr val="000000"/>
                </a:solidFill>
                <a:latin typeface="Arial"/>
              </a:rPr>
              <a:t> Accept · </a:t>
            </a:r>
            <a:r>
              <a:rPr sz="2000" b="1">
                <a:solidFill>
                  <a:srgbClr val="000000"/>
                </a:solidFill>
                <a:latin typeface="Arial"/>
              </a:rPr>
              <a:t>Step 5:</a:t>
            </a:r>
            <a:r>
              <a:rPr sz="2000" b="0">
                <a:solidFill>
                  <a:srgbClr val="000000"/>
                </a:solidFill>
                <a:latin typeface="Arial"/>
              </a:rPr>
              <a:t> Test manually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"/>
          <p:cNvSpPr txBox="1"/>
          <p:nvPr/>
        </p:nvSpPr>
        <p:spPr>
          <a:xfrm>
            <a:off x="743712" y="850000"/>
            <a:ext cx="6189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2.3 — Test After Accept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TextBox 535"/>
          <p:cNvSpPr txBox="1"/>
          <p:nvPr/>
        </p:nvSpPr>
        <p:spPr>
          <a:xfrm>
            <a:off x="743712" y="2429200"/>
            <a:ext cx="4728840" cy="2351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Windows (PowerShell)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start index.html          # web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python script.py          # Python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npm start                 # React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Mac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open index.html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python script.py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npm start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"/>
          <p:cNvSpPr txBox="1"/>
          <p:nvPr/>
        </p:nvSpPr>
        <p:spPr>
          <a:xfrm>
            <a:off x="743712" y="850000"/>
            <a:ext cx="7773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2.3 — If Something Goes Wrong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743712" y="2429200"/>
            <a:ext cx="664908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That change didn't work. The button disappeared.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Please explain what happened and suggest a fix.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43712" y="30826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proposed a change · Reviewed diff before accepting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Accepted only after verification · Tested the change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2.4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148480" y="2733200"/>
            <a:ext cx="1895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Plan Mode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"/>
          <p:cNvSpPr txBox="1"/>
          <p:nvPr/>
        </p:nvSpPr>
        <p:spPr>
          <a:xfrm>
            <a:off x="743712" y="850000"/>
            <a:ext cx="4646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Design Before You Code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TextBox 577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Plan Mode makes the agent create a </a:t>
            </a:r>
            <a:r>
              <a:rPr sz="2000" b="1">
                <a:solidFill>
                  <a:srgbClr val="000000"/>
                </a:solidFill>
                <a:latin typeface="Arial"/>
              </a:rPr>
              <a:t>detailed plan BEFORE writing any code</a:t>
            </a:r>
            <a:r>
              <a:rPr sz="2000" b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When to use Plan Mode: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Changing multiple files · Adding a new feature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Refactoring existing code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You're not 100% sure of the best approach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The change is risky or hard to undo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"/>
          <p:cNvSpPr txBox="1"/>
          <p:nvPr/>
        </p:nvSpPr>
        <p:spPr>
          <a:xfrm>
            <a:off x="743712" y="850000"/>
            <a:ext cx="6299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2.4 — Enable Plan Mode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TextBox 588"/>
          <p:cNvSpPr txBox="1"/>
          <p:nvPr/>
        </p:nvSpPr>
        <p:spPr>
          <a:xfrm>
            <a:off x="743712" y="2429200"/>
            <a:ext cx="747204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Press Shift+Tab in the Agent input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The input border changes color to indicate Plan Mode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"/>
          <p:cNvSpPr txBox="1"/>
          <p:nvPr/>
        </p:nvSpPr>
        <p:spPr>
          <a:xfrm>
            <a:off x="743712" y="850000"/>
            <a:ext cx="75765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2.4 — Step 2: Describe Change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747720" y="2429200"/>
            <a:ext cx="309240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2: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Describe a complex change: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TextBox 604"/>
          <p:cNvSpPr txBox="1"/>
          <p:nvPr/>
        </p:nvSpPr>
        <p:spPr>
          <a:xfrm>
            <a:off x="743712" y="3311200"/>
            <a:ext cx="6237600" cy="209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Add user authentication to this web app.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Requirements: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Email/password login · Session management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Protected routes (dashboard, settings)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- Logout functionality · "Remember me" option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Don't write code yet – just give me a plan.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"/>
          <p:cNvSpPr txBox="1"/>
          <p:nvPr/>
        </p:nvSpPr>
        <p:spPr>
          <a:xfrm>
            <a:off x="743712" y="403280"/>
            <a:ext cx="55706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a Good Plan Looks Like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743712" y="1982480"/>
            <a:ext cx="8843640" cy="3835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📋 IMPLEMENTATION PLAN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1: Create User Model — models/user.js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2: Auth Routes — routes/auth.js (login, logout, register)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3: Session Management — middleware/session.js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4: Protected Route Middleware — middleware/auth.js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5: Update Frontend — pages/login.html, dashboard.html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Step 6: Environment Variables — .env (SESSION_SECRET, REDIS_URL)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Questions for you: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1. JWT or server-side sessions?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2. Existing user database?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3. Include email verification?</a:t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1979"/>
              </a:lnSpc>
              <a:spcBef>
                <a:spcPts val="0"/>
              </a:spcBef>
              <a:spcAft>
                <a:spcPts val="0"/>
              </a:spcAft>
            </a:pPr>
            <a:r>
              <a:rPr sz="1781">
                <a:solidFill>
                  <a:srgbClr val="1A1A1A"/>
                </a:solidFill>
                <a:latin typeface="Consolas"/>
              </a:rPr>
              <a:t>Ready to proceed? [Yes] [No] [Modify Plan]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"/>
          <p:cNvSpPr txBox="1"/>
          <p:nvPr/>
        </p:nvSpPr>
        <p:spPr>
          <a:xfrm>
            <a:off x="743712" y="850000"/>
            <a:ext cx="65419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2.4 — Approve &amp; Execute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747720" y="2429200"/>
            <a:ext cx="3357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4: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Answer questions and approve: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743712" y="3311200"/>
            <a:ext cx="966660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Use JWT for simplicity. No existing database yet – use SQLite for now.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Skip email verification for this version. Proceed.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743712" y="39646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5:</a:t>
            </a:r>
            <a:r>
              <a:rPr sz="2000" b="0">
                <a:solidFill>
                  <a:srgbClr val="000000"/>
                </a:solidFill>
                <a:latin typeface="Arial"/>
              </a:rPr>
              <a:t> Watch the agent execute the plan step by step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Enabled Plan Mode (Shift+Tab) · Agent created structured plan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Agent asked clarifying questions · Approved plan before code was written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2.5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4003500" y="2733200"/>
            <a:ext cx="41850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Comparing Two Models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"/>
          <p:cNvSpPr txBox="1"/>
          <p:nvPr/>
        </p:nvSpPr>
        <p:spPr>
          <a:xfrm>
            <a:off x="743712" y="850000"/>
            <a:ext cx="4249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Model Selection Guide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764" name="Table 763"/>
          <p:cNvGraphicFramePr>
            <a:graphicFrameLocks noGrp="1"/>
          </p:cNvGraphicFramePr>
          <p:nvPr/>
        </p:nvGraphicFramePr>
        <p:xfrm>
          <a:off x="1571160" y="3069140"/>
          <a:ext cx="9049680" cy="218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6560"/>
                <a:gridCol w="3336600"/>
                <a:gridCol w="26965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Task Type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Recommended Model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Typo fixes, simple edits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 Mini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Cheap, fast, good enough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Daily coding, bug fixes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GPT-5.3 Codex or Claude Sonnet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Best value, high quality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Complex logic, architecture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Opus or GPT-5.5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Smartest, but expensive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Frontend/visual work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Gemini 3.1 Pro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Can see images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Fast, simple questions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Haiku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Fastest responses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 txBox="1"/>
          <p:nvPr/>
        </p:nvSpPr>
        <p:spPr>
          <a:xfrm>
            <a:off x="743712" y="850000"/>
            <a:ext cx="70034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2.5 — Compare Two Models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747720" y="2429200"/>
            <a:ext cx="35269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1: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Set model to Claude Sonnet, ask: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TextBox 777"/>
          <p:cNvSpPr txBox="1"/>
          <p:nvPr/>
        </p:nvSpPr>
        <p:spPr>
          <a:xfrm>
            <a:off x="743712" y="3311200"/>
            <a:ext cx="898080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Explain what a closure is in JavaScript with a practical example.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743712" y="37106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2:</a:t>
            </a:r>
            <a:r>
              <a:rPr sz="2000" b="0">
                <a:solidFill>
                  <a:srgbClr val="000000"/>
                </a:solidFill>
                <a:latin typeface="Arial"/>
              </a:rPr>
              <a:t> Copy the response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3:</a:t>
            </a:r>
            <a:r>
              <a:rPr sz="2000" b="0">
                <a:solidFill>
                  <a:srgbClr val="000000"/>
                </a:solidFill>
                <a:latin typeface="Arial"/>
              </a:rPr>
              <a:t> Switch to GPT-5 Mini — ask the </a:t>
            </a:r>
            <a:r>
              <a:rPr sz="2000" b="1">
                <a:solidFill>
                  <a:srgbClr val="000000"/>
                </a:solidFill>
                <a:latin typeface="Arial"/>
              </a:rPr>
              <a:t>same question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4:</a:t>
            </a:r>
            <a:r>
              <a:rPr sz="2000" b="0">
                <a:solidFill>
                  <a:srgbClr val="000000"/>
                </a:solidFill>
                <a:latin typeface="Arial"/>
              </a:rPr>
              <a:t> Compare responses side by side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"/>
          <p:cNvSpPr txBox="1"/>
          <p:nvPr/>
        </p:nvSpPr>
        <p:spPr>
          <a:xfrm>
            <a:off x="743712" y="850000"/>
            <a:ext cx="6365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2.5 — Comparison Table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860" name="Table 859"/>
          <p:cNvGraphicFramePr>
            <a:graphicFrameLocks noGrp="1"/>
          </p:cNvGraphicFramePr>
          <p:nvPr/>
        </p:nvGraphicFramePr>
        <p:xfrm>
          <a:off x="3598080" y="3251540"/>
          <a:ext cx="499584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800"/>
                <a:gridCol w="1523040"/>
                <a:gridCol w="120300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Comparison Point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Claude Sonnet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GPT-5 Mini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Length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Code example quality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Explanation clarity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Speed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 txBox="1"/>
          <p:nvPr/>
        </p:nvSpPr>
        <p:spPr>
          <a:xfrm>
            <a:off x="743712" y="671280"/>
            <a:ext cx="7224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2.5 — Cost &amp; Decision Matrix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747720" y="5055880"/>
            <a:ext cx="849348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Success Criteria: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Same question to two models · Compared quality/speed · Created personal guide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TextBox 878"/>
          <p:cNvSpPr txBox="1"/>
          <p:nvPr/>
        </p:nvSpPr>
        <p:spPr>
          <a:xfrm>
            <a:off x="743712" y="3132480"/>
            <a:ext cx="6649080" cy="184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If task is...                    Use model...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Typos / text changes           → GPT-5 Mini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Quick question                 → Claude Haiku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Daily coding                   → GPT-5.3 Codex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Complex debugging              → Claude Sonnet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Architecture design            → Claude Opus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UI/frontend from image         → Gemini Pro</a:t>
            </a:r>
          </a:p>
        </p:txBody>
      </p:sp>
      <p:sp>
        <p:nvSpPr>
          <p:cNvPr id="880" name="TextBox 879"/>
          <p:cNvSpPr txBox="1"/>
          <p:nvPr/>
        </p:nvSpPr>
        <p:spPr>
          <a:xfrm>
            <a:off x="743712" y="2250480"/>
            <a:ext cx="10728960" cy="80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5:</a:t>
            </a:r>
            <a:r>
              <a:rPr sz="2000" b="0">
                <a:solidFill>
                  <a:srgbClr val="000000"/>
                </a:solidFill>
                <a:latin typeface="Arial"/>
              </a:rPr>
              <a:t> Check token usage at bottom of chat after each request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6:</a:t>
            </a:r>
            <a:r>
              <a:rPr sz="2000" b="0">
                <a:solidFill>
                  <a:srgbClr val="000000"/>
                </a:solidFill>
                <a:latin typeface="Arial"/>
              </a:rPr>
              <a:t> Create a personal decision matrix: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2.6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229680" y="2733200"/>
            <a:ext cx="57326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Precise Context with @mentions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"/>
          <p:cNvSpPr txBox="1"/>
          <p:nvPr/>
        </p:nvSpPr>
        <p:spPr>
          <a:xfrm>
            <a:off x="743712" y="850000"/>
            <a:ext cx="318312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@mention Types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090440" y="1819600"/>
            <a:ext cx="48697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"Laser-targeting instead of spraying the whole codebase."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024" name="Table 1023"/>
          <p:cNvGraphicFramePr>
            <a:graphicFrameLocks noGrp="1"/>
          </p:cNvGraphicFramePr>
          <p:nvPr/>
        </p:nvGraphicFramePr>
        <p:xfrm>
          <a:off x="743712" y="2701600"/>
          <a:ext cx="6489360" cy="255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320"/>
                <a:gridCol w="3016560"/>
                <a:gridCol w="237648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@mention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@filename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Include specific file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@auth.py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@symbol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Include function/class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@UserModel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@branch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Reference git branch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@main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@chat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Reference past conversation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@previous-chat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@folder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Reference entire directory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@/src/utils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@web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Search the web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@web pandas DataFrame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2.6 — Steps 1–2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47720" y="2429200"/>
            <a:ext cx="24357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1: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Target a specific file: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747720" y="3710600"/>
            <a:ext cx="285948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2: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Target a specific function: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TextBox 1038"/>
          <p:cNvSpPr txBox="1"/>
          <p:nvPr/>
        </p:nvSpPr>
        <p:spPr>
          <a:xfrm>
            <a:off x="743712" y="3311200"/>
            <a:ext cx="1090104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@database.py What are the security vulnerabilities in this database connection?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743712" y="4592600"/>
            <a:ext cx="870648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@calculate_total This function is returning NaN sometimes. Why?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"/>
          <p:cNvSpPr txBox="1"/>
          <p:nvPr/>
        </p:nvSpPr>
        <p:spPr>
          <a:xfrm>
            <a:off x="743712" y="850000"/>
            <a:ext cx="8093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2.6 — Step 3: Multiple @mentions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747720" y="2429200"/>
            <a:ext cx="323280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3: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Combine multiple @mentions: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TextBox 1050"/>
          <p:cNvSpPr txBox="1"/>
          <p:nvPr/>
        </p:nvSpPr>
        <p:spPr>
          <a:xfrm>
            <a:off x="743712" y="3311200"/>
            <a:ext cx="911796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@auth.py @UserModel @login_handler Review the authentication flow.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Are there any race conditions or timing attacks?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"/>
          <p:cNvSpPr txBox="1"/>
          <p:nvPr/>
        </p:nvSpPr>
        <p:spPr>
          <a:xfrm>
            <a:off x="743712" y="850000"/>
            <a:ext cx="63234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2.6 — @branch &amp; @chat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TextBox 1065"/>
          <p:cNvSpPr txBox="1"/>
          <p:nvPr/>
        </p:nvSpPr>
        <p:spPr>
          <a:xfrm>
            <a:off x="743712" y="2429200"/>
            <a:ext cx="802068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Compare @main and @feature/payment branches.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What are the key differences in the payment handling code?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743712" y="3082600"/>
            <a:ext cx="802068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@chat(authentication-discussion) Based on that discussion,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implement the fix we agreed on.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 txBox="1"/>
          <p:nvPr/>
        </p:nvSpPr>
        <p:spPr>
          <a:xfrm>
            <a:off x="743712" y="850000"/>
            <a:ext cx="6058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2.6 — @folder &amp; @web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TextBox 1078"/>
          <p:cNvSpPr txBox="1"/>
          <p:nvPr/>
        </p:nvSpPr>
        <p:spPr>
          <a:xfrm>
            <a:off x="743712" y="2429200"/>
            <a:ext cx="925512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@src/components Find all components that don't have loading states.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743712" y="2828600"/>
            <a:ext cx="678624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@web React 19 useTransition hook How do I use it?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"/>
          <p:cNvSpPr txBox="1"/>
          <p:nvPr/>
        </p:nvSpPr>
        <p:spPr>
          <a:xfrm>
            <a:off x="743712" y="850000"/>
            <a:ext cx="3623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@mention Pro Tips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TextBox 1094"/>
          <p:cNvSpPr txBox="1"/>
          <p:nvPr/>
        </p:nvSpPr>
        <p:spPr>
          <a:xfrm>
            <a:off x="743712" y="2429200"/>
            <a:ext cx="10728960" cy="1945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Start typing 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— Cursor auto-suggests available mentions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Calibri"/>
              </a:rPr>
              <a:t> @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 can @mention </a:t>
            </a:r>
            <a:r>
              <a:rPr sz="2000" b="1">
                <a:solidFill>
                  <a:srgbClr val="000000"/>
                </a:solidFill>
                <a:latin typeface="Arial"/>
              </a:rPr>
              <a:t>multiple items</a:t>
            </a:r>
            <a:r>
              <a:rPr sz="2000" b="0">
                <a:solidFill>
                  <a:srgbClr val="000000"/>
                </a:solidFill>
                <a:latin typeface="Arial"/>
              </a:rPr>
              <a:t> in one message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@mentions work in both </a:t>
            </a:r>
            <a:r>
              <a:rPr sz="2000" b="1">
                <a:solidFill>
                  <a:srgbClr val="000000"/>
                </a:solidFill>
                <a:latin typeface="Arial"/>
              </a:rPr>
              <a:t>Agent</a:t>
            </a:r>
            <a:r>
              <a:rPr sz="2000" b="0">
                <a:solidFill>
                  <a:srgbClr val="000000"/>
                </a:solidFill>
                <a:latin typeface="Arial"/>
              </a:rPr>
              <a:t> and </a:t>
            </a:r>
            <a:r>
              <a:rPr sz="2000" b="1">
                <a:solidFill>
                  <a:srgbClr val="000000"/>
                </a:solidFill>
                <a:latin typeface="Arial"/>
              </a:rPr>
              <a:t>Chat</a:t>
            </a:r>
            <a:r>
              <a:rPr sz="2000" b="0">
                <a:solidFill>
                  <a:srgbClr val="000000"/>
                </a:solidFill>
                <a:latin typeface="Arial"/>
              </a:rPr>
              <a:t> modes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"/>
          <p:cNvSpPr txBox="1"/>
          <p:nvPr/>
        </p:nvSpPr>
        <p:spPr>
          <a:xfrm>
            <a:off x="743712" y="850000"/>
            <a:ext cx="6014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2.6 — Success Criteria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TextBox 1112"/>
          <p:cNvSpPr txBox="1"/>
          <p:nvPr/>
        </p:nvSpPr>
        <p:spPr>
          <a:xfrm>
            <a:off x="743712" y="2429200"/>
            <a:ext cx="10728960" cy="270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Used 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, 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, multiple @mentions, and 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Calibri"/>
              </a:rPr>
              <a:t> @filename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Calibri"/>
              </a:rPr>
              <a:t> @symbol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Calibri"/>
              </a:rPr>
              <a:t> @web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2.7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5005380" y="2733200"/>
            <a:ext cx="21812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Checkpoints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4 min · Exercise · 4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"/>
          <p:cNvSpPr txBox="1"/>
          <p:nvPr/>
        </p:nvSpPr>
        <p:spPr>
          <a:xfrm>
            <a:off x="743712" y="850000"/>
            <a:ext cx="54615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 Safety Net for Experiments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TextBox 1138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What Checkpoints Save: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Code changes made by the agent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Conversation history · File states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When to Create Checkpoints: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Before complex changes · At milestones (Step 2 of 5)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Before risky experiments · Before terminal commands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"/>
          <p:cNvSpPr txBox="1"/>
          <p:nvPr/>
        </p:nvSpPr>
        <p:spPr>
          <a:xfrm>
            <a:off x="743712" y="850000"/>
            <a:ext cx="61236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2.7 — Create &amp; Restore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747720" y="2429200"/>
            <a:ext cx="44798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1: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Create a checkpoint before making a change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TextBox 1150"/>
          <p:cNvSpPr txBox="1"/>
          <p:nvPr/>
        </p:nvSpPr>
        <p:spPr>
          <a:xfrm>
            <a:off x="743712" y="3311200"/>
            <a:ext cx="664908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Click checkpoint icon in Agent panel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Windows/Linux: Ctrl+Shift+S · Mac: Cmd+Shift+S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2.7 — Steps 2–3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TextBox 1164"/>
          <p:cNvSpPr txBox="1"/>
          <p:nvPr/>
        </p:nvSpPr>
        <p:spPr>
          <a:xfrm>
            <a:off x="743712" y="3692200"/>
            <a:ext cx="582612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Add input validation to all form handlers.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2:</a:t>
            </a:r>
            <a:r>
              <a:rPr sz="2000" b="0">
                <a:solidFill>
                  <a:srgbClr val="000000"/>
                </a:solidFill>
                <a:latin typeface="Arial"/>
              </a:rPr>
              <a:t> Name it descriptively: 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Calibri"/>
              </a:rPr>
              <a:t> "Before auth refactor - safe point"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3:</a:t>
            </a:r>
            <a:r>
              <a:rPr sz="2000" b="0">
                <a:solidFill>
                  <a:srgbClr val="000000"/>
                </a:solidFill>
                <a:latin typeface="Arial"/>
              </a:rPr>
              <a:t> Let the agent make changes: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2.7 — Steps 4–5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TextBox 1173"/>
          <p:cNvSpPr txBox="1"/>
          <p:nvPr/>
        </p:nvSpPr>
        <p:spPr>
          <a:xfrm>
            <a:off x="743712" y="2429200"/>
            <a:ext cx="10728960" cy="80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4:</a:t>
            </a:r>
            <a:r>
              <a:rPr sz="2000" b="0">
                <a:solidFill>
                  <a:srgbClr val="000000"/>
                </a:solidFill>
                <a:latin typeface="Arial"/>
              </a:rPr>
              <a:t> If something goes wrong → </a:t>
            </a:r>
            <a:r>
              <a:rPr sz="2000" b="1">
                <a:solidFill>
                  <a:srgbClr val="000000"/>
                </a:solidFill>
                <a:latin typeface="Arial"/>
              </a:rPr>
              <a:t>Restore to checkpoint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5:</a:t>
            </a:r>
            <a:r>
              <a:rPr sz="2000" b="0">
                <a:solidFill>
                  <a:srgbClr val="000000"/>
                </a:solidFill>
                <a:latin typeface="Arial"/>
              </a:rPr>
              <a:t> View history via the clock icon in Agent panel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"/>
          <p:cNvSpPr txBox="1"/>
          <p:nvPr/>
        </p:nvSpPr>
        <p:spPr>
          <a:xfrm>
            <a:off x="743712" y="850000"/>
            <a:ext cx="49996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Checkpoint Best Practices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TextBox 1191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Create checkpoints every 5–10 minutes during complex work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Use </a:t>
            </a:r>
            <a:r>
              <a:rPr sz="2000" b="1">
                <a:solidFill>
                  <a:srgbClr val="000000"/>
                </a:solidFill>
                <a:latin typeface="Arial"/>
              </a:rPr>
              <a:t>descriptive names</a:t>
            </a:r>
            <a:r>
              <a:rPr sz="2000" b="0">
                <a:solidFill>
                  <a:srgbClr val="000000"/>
                </a:solidFill>
                <a:latin typeface="Arial"/>
              </a:rPr>
              <a:t>, not "checkpoint1"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Test the restored state before continuing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Clean up old checkpoints periodically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Created checkpoint · Made changes · Restored · Verified restoration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2.8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333800" y="2733200"/>
            <a:ext cx="35244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Terminal Integration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655820" y="4092400"/>
            <a:ext cx="28803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5 min · Exercise · 8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"/>
          <p:cNvSpPr txBox="1"/>
          <p:nvPr/>
        </p:nvSpPr>
        <p:spPr>
          <a:xfrm>
            <a:off x="743712" y="850000"/>
            <a:ext cx="4403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the Agent Can Do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TextBox 1220"/>
          <p:cNvSpPr txBox="1"/>
          <p:nvPr/>
        </p:nvSpPr>
        <p:spPr>
          <a:xfrm>
            <a:off x="743712" y="2429200"/>
            <a:ext cx="10728960" cy="270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Run shell commands · See stdout, stderr, exit codes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React to command output · Install dependencies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Run tests · Start/stop services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Safety Features: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 approve each command before execution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Commands appear in terminal for you to see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 can reject dangerous commands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"/>
          <p:cNvSpPr txBox="1"/>
          <p:nvPr/>
        </p:nvSpPr>
        <p:spPr>
          <a:xfrm>
            <a:off x="743712" y="850000"/>
            <a:ext cx="4758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2.8 — Steps 1–3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747720" y="2429200"/>
            <a:ext cx="27007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1: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Check the environment: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TextBox 1237"/>
          <p:cNvSpPr txBox="1"/>
          <p:nvPr/>
        </p:nvSpPr>
        <p:spPr>
          <a:xfrm>
            <a:off x="743712" y="3311200"/>
            <a:ext cx="925512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Run `python --version` and tell me what Python version we're using.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743712" y="4592600"/>
            <a:ext cx="664908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Run the test suite. If any tests fail, fix them.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Show me what you're changing.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743712" y="3710600"/>
            <a:ext cx="10728960" cy="80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2:</a:t>
            </a:r>
            <a:r>
              <a:rPr sz="2000" b="0">
                <a:solidFill>
                  <a:srgbClr val="000000"/>
                </a:solidFill>
                <a:latin typeface="Arial"/>
              </a:rPr>
              <a:t> Approve the command when prompted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Step 3:</a:t>
            </a:r>
            <a:r>
              <a:rPr sz="2000" b="0">
                <a:solidFill>
                  <a:srgbClr val="000000"/>
                </a:solidFill>
                <a:latin typeface="Arial"/>
              </a:rPr>
              <a:t> Run tests and fix failures: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 txBox="1"/>
          <p:nvPr/>
        </p:nvSpPr>
        <p:spPr>
          <a:xfrm>
            <a:off x="743712" y="850000"/>
            <a:ext cx="68709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2.8 — Agent Terminal Loop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TextBox 1255"/>
          <p:cNvSpPr txBox="1"/>
          <p:nvPr/>
        </p:nvSpPr>
        <p:spPr>
          <a:xfrm>
            <a:off x="743712" y="2429200"/>
            <a:ext cx="10078080" cy="311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Agent: I'll run the tests first.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Executing: pytest tests/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Output: 7 passed, 2 failed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Agent: Two tests failed. Let me look at them.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Reading: tests/test_auth.py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Agent: Login test failing — timeout too short. Increasing 5 → 10 seconds.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Editing: tests/test_auth.py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Executing: pytest tests/test_auth.py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→ Output: All tests passed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"/>
          <p:cNvSpPr txBox="1"/>
          <p:nvPr/>
        </p:nvSpPr>
        <p:spPr>
          <a:xfrm>
            <a:off x="743712" y="850000"/>
            <a:ext cx="79509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2.8 — Step 5: Install Dependency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747720" y="2429200"/>
            <a:ext cx="24890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5: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Install a dependency: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TextBox 1266"/>
          <p:cNvSpPr txBox="1"/>
          <p:nvPr/>
        </p:nvSpPr>
        <p:spPr>
          <a:xfrm>
            <a:off x="743712" y="3311200"/>
            <a:ext cx="843216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Install the 'requests' library if it's not already installed.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"/>
          <p:cNvSpPr txBox="1"/>
          <p:nvPr/>
        </p:nvSpPr>
        <p:spPr>
          <a:xfrm>
            <a:off x="743712" y="850000"/>
            <a:ext cx="81475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Exercise 2.8 — Step 6: Multi-Step Workflow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747720" y="2429200"/>
            <a:ext cx="23612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 6: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Multi-step workflow: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TextBox 1281"/>
          <p:cNvSpPr txBox="1"/>
          <p:nvPr/>
        </p:nvSpPr>
        <p:spPr>
          <a:xfrm>
            <a:off x="743712" y="3311200"/>
            <a:ext cx="8020680" cy="158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Run these commands in order: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1. git checkout main  2. git pull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3. git checkout -b feature/analytics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4. Create analytics.py  5. Run flake8  6. Fix style issues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Confirm before each command that might affect the repo.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"/>
          <p:cNvSpPr txBox="1"/>
          <p:nvPr/>
        </p:nvSpPr>
        <p:spPr>
          <a:xfrm>
            <a:off x="743712" y="850000"/>
            <a:ext cx="6188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Terminal Command Safety Rules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69" name="Table 1368"/>
          <p:cNvGraphicFramePr>
            <a:graphicFrameLocks noGrp="1"/>
          </p:cNvGraphicFramePr>
          <p:nvPr/>
        </p:nvGraphicFramePr>
        <p:xfrm>
          <a:off x="743712" y="3692200"/>
          <a:ext cx="7099920" cy="214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800"/>
                <a:gridCol w="48301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Always approve first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rm, sudo, git push --force, production changes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Review carefully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npm install, pip install, git branch changes, docker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Safe to auto-approve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python --version, ls, pwd, cat, pytest, npm test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70" name="TextBox 1369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Success Criteria: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Ran version check · Ran tests and reacted to output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Installed dependency · Executed multi-step workflow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"/>
          <p:cNvSpPr txBox="1"/>
          <p:nvPr/>
        </p:nvSpPr>
        <p:spPr>
          <a:xfrm>
            <a:off x="743712" y="850000"/>
            <a:ext cx="330336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Summary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523" name="Table 1522"/>
          <p:cNvGraphicFramePr>
            <a:graphicFrameLocks noGrp="1"/>
          </p:cNvGraphicFramePr>
          <p:nvPr/>
        </p:nvGraphicFramePr>
        <p:xfrm>
          <a:off x="3171360" y="2217140"/>
          <a:ext cx="5849280" cy="328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6280"/>
                <a:gridCol w="2696520"/>
                <a:gridCol w="237648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Lesson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Key Skill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2.1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Codebase Understanding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Orient to new repo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Explaining Files/Symbols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Targeted explanations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2.3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Safe Reviewable Changes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Diff review workflow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Plan Mode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Design before code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Comparing Models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Model selection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@mentions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Precise context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2.7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Checkpoints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Safety net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Terminal Integration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Command execution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"/>
          <p:cNvSpPr txBox="1"/>
          <p:nvPr/>
        </p:nvSpPr>
        <p:spPr>
          <a:xfrm>
            <a:off x="743712" y="850000"/>
            <a:ext cx="41410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Quick Reference Card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TextBox 1539"/>
          <p:cNvSpPr txBox="1"/>
          <p:nvPr/>
        </p:nvSpPr>
        <p:spPr>
          <a:xfrm>
            <a:off x="743712" y="2429200"/>
            <a:ext cx="9392280" cy="2605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SHORTCUTS: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Cmd/Ctrl + I          → Open Agent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Cmd/Ctrl + L          → Explain selected code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Shift + Tab           → Toggle Plan Mode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Cmd/Ctrl + Shift + S  → Create checkpoint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@MENTIONS:  @filename  @symbol  @branch  @chat  @web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SAFE CHANGE:  Ask → Review diff → Accept/reject → Test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PLAN MODE:    Shift+Tab → Describe → Review plan → Approve → Execute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"/>
          <p:cNvSpPr txBox="1"/>
          <p:nvPr/>
        </p:nvSpPr>
        <p:spPr>
          <a:xfrm>
            <a:off x="3968760" y="1105400"/>
            <a:ext cx="4254480" cy="15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40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Up Next: Module 3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255800" y="2769400"/>
            <a:ext cx="96804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Agent Modes and Tools · Day 1 (Hands-On + Concept)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285840" y="225720"/>
            <a:ext cx="27993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2 — Cursor Editor Essentials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TextBox 1551"/>
          <p:cNvSpPr txBox="1"/>
          <p:nvPr/>
        </p:nvSpPr>
        <p:spPr>
          <a:xfrm>
            <a:off x="731520" y="41886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Now that you've mastered essential Cursor workflows,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Module 3: Agent Modes and Tools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covers Ask, Agent, and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custom modes plus browser and terminal tools.</a:t>
            </a:r>
          </a:p>
          <a:p>
            <a:pPr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End of Module 2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LibreOffice/26.2.3.2$Windows_X86_64 LibreOffice_project/70e089b17412e4cb7773e41413306b17a2328c34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