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044920" y="2674620"/>
            <a:ext cx="81021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Customizing Cursor for Your Team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159040" y="3320740"/>
            <a:ext cx="7873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· Day 1 (Hands-On + Walkthrough)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walkthrough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Modules 1–3 completed, team repository access, Cursor installed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Customize Cursor for team workflows with rules, skills, MCP, and subagents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43712" y="1862640"/>
            <a:ext cx="7947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Rules that encode team conventions and guardrails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43712" y="2282840"/>
            <a:ext cx="8183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Write Repository Instructions for lightweight project guidance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43712" y="2703040"/>
            <a:ext cx="774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and invoke reusable Skills for specialized workflows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43712" y="3123240"/>
            <a:ext cx="801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Connect external tools via MCP and create slash workflows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743712" y="3543440"/>
            <a:ext cx="8015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Understand when and how to use Subagents for delegation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03" name="Table 202"/>
          <p:cNvGraphicFramePr>
            <a:graphicFrameLocks noGrp="1"/>
          </p:cNvGraphicFramePr>
          <p:nvPr/>
        </p:nvGraphicFramePr>
        <p:xfrm>
          <a:off x="743712" y="1442440"/>
          <a:ext cx="49958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44328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Rule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Repository Instructions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and Invoking a Skill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MCP, Hooks, and Slash Workflows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Subagents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719000" y="3331520"/>
            <a:ext cx="2754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 Rule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 txBox="1"/>
          <p:nvPr/>
        </p:nvSpPr>
        <p:spPr>
          <a:xfrm>
            <a:off x="743712" y="850000"/>
            <a:ext cx="3170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Are Rules?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47720" y="1442440"/>
            <a:ext cx="360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Rules are Markdown files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43712" y="2282840"/>
            <a:ext cx="2866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.cursor/rules/*.mdc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7358400" y="1862640"/>
            <a:ext cx="3761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with persistent instructions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747720" y="2637520"/>
            <a:ext cx="4270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agent automatically applies.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39" name="Table 338"/>
          <p:cNvGraphicFramePr>
            <a:graphicFrameLocks noGrp="1"/>
          </p:cNvGraphicFramePr>
          <p:nvPr/>
        </p:nvGraphicFramePr>
        <p:xfrm>
          <a:off x="743712" y="3057720"/>
          <a:ext cx="104660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360"/>
                <a:gridCol w="1629720"/>
                <a:gridCol w="2909880"/>
                <a:gridCol w="45100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Rule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Applied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All projects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Always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"Use American English spelling"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Project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Specific repo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When opening that project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"Run make test before suggesting changes"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 pattern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Matching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When editing those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"For *.py files, use type hints"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Your account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Always across all projects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"Explain like I'm a junior developer"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 txBox="1"/>
          <p:nvPr/>
        </p:nvSpPr>
        <p:spPr>
          <a:xfrm>
            <a:off x="743712" y="850000"/>
            <a:ext cx="273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Rule Structure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923760" y="1442440"/>
            <a:ext cx="362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---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923760" y="1742400"/>
            <a:ext cx="6395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description: Brief description of what this rule does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923760" y="2042360"/>
            <a:ext cx="2896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globs: </a:t>
            </a:r>
            <a:r>
              <a:rPr lang="en-US" sz="2000" b="0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*.py, src/</a:t>
            </a:r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**/*.js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923760" y="2342320"/>
            <a:ext cx="2052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alwaysApply: true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923760" y="2642280"/>
            <a:ext cx="362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---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923760" y="2942240"/>
            <a:ext cx="1448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# Rule Title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923760" y="3242200"/>
            <a:ext cx="3499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## Instructions for the Agent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923760" y="3542160"/>
            <a:ext cx="5913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Write your instructions here in natural language.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923760" y="3842120"/>
            <a:ext cx="1328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## Examples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923760" y="4142080"/>
            <a:ext cx="2293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i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Good: ...  Bad: ...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 txBox="1"/>
          <p:nvPr/>
        </p:nvSpPr>
        <p:spPr>
          <a:xfrm>
            <a:off x="743712" y="850000"/>
            <a:ext cx="5440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4.1 — Step 1: Setup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923760" y="1442440"/>
            <a:ext cx="2655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mkdir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-p .cursor/rules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747720" y="1742400"/>
            <a:ext cx="4557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coding standards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rule at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5372640" y="258280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.cursor/rules/coding-standards.mdc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0568880" y="21626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TextBox 377"/>
          <p:cNvSpPr txBox="1"/>
          <p:nvPr/>
        </p:nvSpPr>
        <p:spPr>
          <a:xfrm>
            <a:off x="923760" y="2937480"/>
            <a:ext cx="799972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globs: **/*.{js,ts,py}  |  alwaysApply: true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Python: type hints, Black (88 chars), Google docstrings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JS/TS: const over let, arrow functions, optional chaining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General: no commented-out code, no console.log in prod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 txBox="1"/>
          <p:nvPr/>
        </p:nvSpPr>
        <p:spPr>
          <a:xfrm>
            <a:off x="743712" y="643280"/>
            <a:ext cx="6188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4.1 — Build &amp; Test Rule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747720" y="123572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815840" y="2076120"/>
            <a:ext cx="48268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.cursor/rules/build-and-test.mdc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43712" y="165592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747720" y="360680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815840" y="4447200"/>
            <a:ext cx="39222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.cursor/rules/security.mdc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43712" y="40270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TextBox 402"/>
          <p:cNvSpPr txBox="1"/>
          <p:nvPr/>
        </p:nvSpPr>
        <p:spPr>
          <a:xfrm>
            <a:off x="743712" y="2430800"/>
            <a:ext cx="964564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Before changes: git status, git diff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After changes:  make test / pytest / npm test → make lint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 NOT suggest changes that break tests or need undocumented API keys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743712" y="4801880"/>
            <a:ext cx="9371320" cy="101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30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Never: hardcoded secrets, eval() on user input, SQL concatenation</a:t>
            </a:r>
          </a:p>
          <a:p>
            <a:pPr algn="l">
              <a:lnSpc>
                <a:spcPts val="230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Always: input validation, rate limiting, HTTPS, safe error messages</a:t>
            </a:r>
          </a:p>
          <a:p>
            <a:pPr algn="l">
              <a:lnSpc>
                <a:spcPts val="230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Flag: exec/eval with user input, password/secret in variable names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"/>
          <p:cNvSpPr txBox="1"/>
          <p:nvPr/>
        </p:nvSpPr>
        <p:spPr>
          <a:xfrm>
            <a:off x="743712" y="850000"/>
            <a:ext cx="775260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4.1 — Test &amp; File-Specific Rules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747720" y="220840"/>
            <a:ext cx="43038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Verify rules are applied: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47720" y="1512240"/>
            <a:ext cx="21013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43712" y="235264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.cursor/rules/react-components.mdc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8112960" y="1932440"/>
            <a:ext cx="5259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8706600" y="2707320"/>
            <a:ext cx="150912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**/*.jsx, 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747720" y="3482200"/>
            <a:ext cx="120744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**/*.tsx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2022840" y="30620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743712" y="3836880"/>
            <a:ext cx="79632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Component structure, naming (PascalCase, handleSubmit)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1357200" y="4257080"/>
            <a:ext cx="69800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Performance: React.memo, useCallback, useMemo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357200" y="4677280"/>
            <a:ext cx="70304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Accessibility: keyboard nav, alt text, semantic HTML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43712" y="5097480"/>
            <a:ext cx="97923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Created rules directory · coding, build, security rules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747720" y="5517680"/>
            <a:ext cx="25254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verified application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TextBox 431"/>
          <p:cNvSpPr txBox="1"/>
          <p:nvPr/>
        </p:nvSpPr>
        <p:spPr>
          <a:xfrm>
            <a:off x="743712" y="1442440"/>
            <a:ext cx="103314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Based on the project rules, what are the coding standards I should follow?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are the security guardrails?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4080540" y="3331520"/>
            <a:ext cx="4030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Repository Instructions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"/>
          <p:cNvSpPr txBox="1"/>
          <p:nvPr/>
        </p:nvSpPr>
        <p:spPr>
          <a:xfrm>
            <a:off x="743712" y="850000"/>
            <a:ext cx="6297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Rules vs. Repository Instructions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743712" y="1442440"/>
          <a:ext cx="755616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2483160"/>
                <a:gridCol w="37633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Rules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Repository Instructions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.cursor/rules/*.mdc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.cursor/repository-instructions.md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Multiple files, scoped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file, global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Granularity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Per-file patterns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Entire repository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Detailed standards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High-level project overview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"/>
          <p:cNvSpPr txBox="1"/>
          <p:nvPr/>
        </p:nvSpPr>
        <p:spPr>
          <a:xfrm>
            <a:off x="743712" y="850000"/>
            <a:ext cx="6319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Repository Instructions Structure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923760" y="1442440"/>
            <a:ext cx="690244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Repository Instructions for [Project Name]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Project Purpose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Key Technologies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Architecture Overview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Important Conventions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Common Tasks (make dev, make test, make build)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External Dependencies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Contact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 txBox="1"/>
          <p:nvPr/>
        </p:nvSpPr>
        <p:spPr>
          <a:xfrm>
            <a:off x="743712" y="850000"/>
            <a:ext cx="6519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4.2 — Create Instructions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747720" y="14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815840" y="228284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.cursor/repository-instructions.md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701208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743712" y="2637520"/>
            <a:ext cx="937132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Project: Task Manager API (FastAPI + PostgreSQL + JWT)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Architecture: api/ → services/ → repositories/ → models/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Conventions: dependency injection, async/await, type hints required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dev:  uvicorn src.main:app --reload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tests: pytest -v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Migrations: alembic upgrade head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 txBox="1"/>
          <p:nvPr/>
        </p:nvSpPr>
        <p:spPr>
          <a:xfrm>
            <a:off x="743712" y="850000"/>
            <a:ext cx="6123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4.2 — Verify &amp; Maintain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47720" y="1442440"/>
            <a:ext cx="3084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the Agent: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47720" y="2733840"/>
            <a:ext cx="460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Update instructions when: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1357200" y="3154040"/>
            <a:ext cx="5913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 team members join → add contact info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357200" y="3574240"/>
            <a:ext cx="5540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Architecture changes → update structure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357200" y="3994440"/>
            <a:ext cx="6709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 dependencies or common issues discovered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743712" y="4414640"/>
            <a:ext cx="1060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Created instructions · included purpose, stack, commands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747720" y="4834840"/>
            <a:ext cx="286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verified agent access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TextBox 589"/>
          <p:cNvSpPr txBox="1"/>
          <p:nvPr/>
        </p:nvSpPr>
        <p:spPr>
          <a:xfrm>
            <a:off x="923760" y="1862640"/>
            <a:ext cx="71767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are the key technologies used in this project?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How do I run the tests?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3584640" y="3331520"/>
            <a:ext cx="5022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and Invoking a Skill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"/>
          <p:cNvSpPr txBox="1"/>
          <p:nvPr/>
        </p:nvSpPr>
        <p:spPr>
          <a:xfrm>
            <a:off x="743712" y="256640"/>
            <a:ext cx="2907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a Skill?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743712" y="849080"/>
            <a:ext cx="10106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reusable, specialized workflow the agent loads and follows — 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"prompt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747720" y="1269280"/>
            <a:ext cx="3448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template with memory."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743712" y="3779880"/>
          <a:ext cx="40062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2163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Frequent task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"PR Review"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Complex workflow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"Onboarding"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Domain-specific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"Security Audit"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"Generate API Docs"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74" name="TextBox 673"/>
          <p:cNvSpPr txBox="1"/>
          <p:nvPr/>
        </p:nvSpPr>
        <p:spPr>
          <a:xfrm>
            <a:off x="923760" y="1689480"/>
            <a:ext cx="786256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.cursor/skills/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 skill-name/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├── SKILL.md          # Main instructions (required)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├── scripts/          # Optional helper scripts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├── references/       # Optional reference docs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└── templates/        # Optional output templates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"/>
          <p:cNvSpPr txBox="1"/>
          <p:nvPr/>
        </p:nvSpPr>
        <p:spPr>
          <a:xfrm>
            <a:off x="743712" y="850000"/>
            <a:ext cx="5859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4.3 — PR Review Skill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747720" y="14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1815840" y="2282840"/>
            <a:ext cx="49777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.cursor/skills/pr-review/SKILL.md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743712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TextBox 691"/>
          <p:cNvSpPr txBox="1"/>
          <p:nvPr/>
        </p:nvSpPr>
        <p:spPr>
          <a:xfrm>
            <a:off x="743712" y="2637520"/>
            <a:ext cx="991996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name: pr-review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description: Review a PR for code quality, security, and team standards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1: Fetch diff (git fetch + git diff main...FETCH_HEAD)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2: Review — code quality, security, testing, docs, style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3: Output formatted review with Critical / Warning / Suggestion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Verdict: APPROVE / REQUEST CHANGES / COMMENT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"/>
          <p:cNvSpPr txBox="1"/>
          <p:nvPr/>
        </p:nvSpPr>
        <p:spPr>
          <a:xfrm>
            <a:off x="743712" y="850000"/>
            <a:ext cx="6519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4.3 — Security Audit Skill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747720" y="14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1815840" y="2282840"/>
            <a:ext cx="5731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.cursor/skills/security-audit/SKILL.md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761544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TextBox 709"/>
          <p:cNvSpPr txBox="1"/>
          <p:nvPr/>
        </p:nvSpPr>
        <p:spPr>
          <a:xfrm>
            <a:off x="743712" y="2637520"/>
            <a:ext cx="991996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Scan for: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Critical: hardcoded secrets, SQL injection, command injection, eval()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Medium:   no input validation, weak crypto, missing CSRF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Low:      debug endpoints, verbose errors, outdated deps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Output: report with line numbers, fix suggestions, overall risk rating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"/>
          <p:cNvSpPr txBox="1"/>
          <p:nvPr/>
        </p:nvSpPr>
        <p:spPr>
          <a:xfrm>
            <a:off x="743712" y="850000"/>
            <a:ext cx="5309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4.3 — Invoke Skills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747720" y="1442440"/>
            <a:ext cx="4777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Invoke via slash command: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747720" y="2733840"/>
            <a:ext cx="369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 available skills: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923760" y="3154040"/>
            <a:ext cx="5068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What skills are available in this project?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743712" y="3454000"/>
            <a:ext cx="972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Onboarding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skill — generates setup checklist from repo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747720" y="3874200"/>
            <a:ext cx="1542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instructions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743712" y="4294400"/>
            <a:ext cx="10376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Created skills · built PR Review + Security Audit · invoked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747720" y="4714600"/>
            <a:ext cx="2609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via slash command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TextBox 729"/>
          <p:cNvSpPr txBox="1"/>
          <p:nvPr/>
        </p:nvSpPr>
        <p:spPr>
          <a:xfrm>
            <a:off x="923760" y="1862640"/>
            <a:ext cx="53936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/pr-review PR #42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/pr-review feature/payment-integration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3023760" y="3331520"/>
            <a:ext cx="6144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MCP, Hooks, and Slash Workflows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3944100" y="3853960"/>
            <a:ext cx="4303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Walkthrough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"/>
          <p:cNvSpPr txBox="1"/>
          <p:nvPr/>
        </p:nvSpPr>
        <p:spPr>
          <a:xfrm>
            <a:off x="743712" y="561440"/>
            <a:ext cx="2642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MCP?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743712" y="1153880"/>
            <a:ext cx="10055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MCP standardizes how AI agents discover and use external tools —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"USB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747720" y="1574080"/>
            <a:ext cx="1702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port for AI."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12" name="Table 811"/>
          <p:cNvGraphicFramePr>
            <a:graphicFrameLocks noGrp="1"/>
          </p:cNvGraphicFramePr>
          <p:nvPr/>
        </p:nvGraphicFramePr>
        <p:xfrm>
          <a:off x="743712" y="3779880"/>
          <a:ext cx="60331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00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MCP Server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Capabilities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GitHub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PRs, comment on issues, fetch reviews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Slack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Send messages, read channels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Jira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tickets, update status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Query databases, run migrations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13" name="TextBox 812"/>
          <p:cNvSpPr txBox="1"/>
          <p:nvPr/>
        </p:nvSpPr>
        <p:spPr>
          <a:xfrm>
            <a:off x="923760" y="1994280"/>
            <a:ext cx="703960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Cursor Agent ←─MCP Protocol─→ MCP Server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├─→ GitHub API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├─→ Slack API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├─→ Jira API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└─→ Custom Tools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"/>
          <p:cNvSpPr txBox="1"/>
          <p:nvPr/>
        </p:nvSpPr>
        <p:spPr>
          <a:xfrm>
            <a:off x="743712" y="45840"/>
            <a:ext cx="4888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Hooks &amp; Slash Workflows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747720" y="638280"/>
            <a:ext cx="6827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Hooks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scripts at specific agent workflow points: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743712" y="3216480"/>
            <a:ext cx="10283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Slash workflows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team commands combining MCP, hooks, and prompts: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57" name="Table 956"/>
          <p:cNvGraphicFramePr>
            <a:graphicFrameLocks noGrp="1"/>
          </p:cNvGraphicFramePr>
          <p:nvPr/>
        </p:nvGraphicFramePr>
        <p:xfrm>
          <a:off x="743712" y="1058480"/>
          <a:ext cx="744948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2589840"/>
                <a:gridCol w="33366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Hook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It Runs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pre-tool-use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Before tool call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Validate permissions, log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post-tool-use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After tool returns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Transform results, audit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pre-prompt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Before sending to model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Inject context, redact secrets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post-response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After agent responds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 output, log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58" name="Table 957"/>
          <p:cNvGraphicFramePr>
            <a:graphicFrameLocks noGrp="1"/>
          </p:cNvGraphicFramePr>
          <p:nvPr/>
        </p:nvGraphicFramePr>
        <p:xfrm>
          <a:off x="743712" y="3636680"/>
          <a:ext cx="6673200" cy="22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/onboard @newdev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Onboarding skill + GitHub issue + Slack message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/deploy staging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Tests → build → deploy → notify team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/bug-report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Analyze error → create issue → assign on-call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"/>
          <p:cNvSpPr txBox="1"/>
          <p:nvPr/>
        </p:nvSpPr>
        <p:spPr>
          <a:xfrm>
            <a:off x="743712" y="795040"/>
            <a:ext cx="625140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Walkthrough: MCP Configuration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747720" y="15240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1815840" y="992800"/>
            <a:ext cx="27154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~/.cursor/mcp.json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4599000" y="5726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TextBox 985"/>
          <p:cNvSpPr txBox="1"/>
          <p:nvPr/>
        </p:nvSpPr>
        <p:spPr>
          <a:xfrm>
            <a:off x="923760" y="1387480"/>
            <a:ext cx="621664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"mcpServers": 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"github": 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"command": "cursor-mcp-github",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"args": ["--token", "${GITHUB_TOKEN}"]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"slack": 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"command": "cursor-mcp-slack",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"args": ["--token", "${SLACK_TOKEN}"]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743712" y="5306680"/>
            <a:ext cx="8822680" cy="51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225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Create a PR from feature/payment and request review from @alice</a:t>
            </a:r>
          </a:p>
          <a:p>
            <a:pPr algn="l">
              <a:lnSpc>
                <a:spcPts val="2225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Send a message to #deploys: "Deployment starting"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"/>
          <p:cNvSpPr txBox="1"/>
          <p:nvPr/>
        </p:nvSpPr>
        <p:spPr>
          <a:xfrm>
            <a:off x="743712" y="444680"/>
            <a:ext cx="7508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Walkthrough: Slash Command Example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747720" y="103712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815840" y="1877520"/>
            <a:ext cx="39222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.cursor/commands/deploy.md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743712" y="145732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747720" y="4322600"/>
            <a:ext cx="105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Usage: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1866600" y="4742800"/>
            <a:ext cx="2262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/deploy staging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743712" y="5097480"/>
            <a:ext cx="9165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Understood MCP, hooks, slash commands · saw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747720" y="5517680"/>
            <a:ext cx="3135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configuration examples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TextBox 1008"/>
          <p:cNvSpPr txBox="1"/>
          <p:nvPr/>
        </p:nvSpPr>
        <p:spPr>
          <a:xfrm>
            <a:off x="743712" y="2232200"/>
            <a:ext cx="882268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name: deploy  |  arguments: environment (staging | production)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Pre-deploy: make test → make lint → git status clean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Deploy staging: git push origin main → kubectl set image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Deploy production: git tag → deploy-prod.sh (requires approval)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Post-deploy: health check → smoke tests → Slack notify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4.5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5148300" y="3331520"/>
            <a:ext cx="1895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Subagents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4028880" y="3853960"/>
            <a:ext cx="4134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6 min · Walkthrough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"/>
          <p:cNvSpPr txBox="1"/>
          <p:nvPr/>
        </p:nvSpPr>
        <p:spPr>
          <a:xfrm>
            <a:off x="743712" y="850000"/>
            <a:ext cx="4117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Are Subagents?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743712" y="1442440"/>
            <a:ext cx="10336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Independent agent instances for specialized tasks — own context, tools,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747720" y="1862640"/>
            <a:ext cx="6743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instructions — then report back to the main agent.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TextBox 1032"/>
          <p:cNvSpPr txBox="1"/>
          <p:nvPr/>
        </p:nvSpPr>
        <p:spPr>
          <a:xfrm>
            <a:off x="743712" y="2282840"/>
            <a:ext cx="868552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Main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├──→ Subagent: Security Scanner → "2 critical issues found"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├──→ Subagent: Documentation Generator → "Updated README.md"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└──→ Subagent: Test Writer → "Added 5 test cases"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"/>
          <p:cNvSpPr txBox="1"/>
          <p:nvPr/>
        </p:nvSpPr>
        <p:spPr>
          <a:xfrm>
            <a:off x="743712" y="850000"/>
            <a:ext cx="4535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Subagents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23" name="Table 1122"/>
          <p:cNvGraphicFramePr>
            <a:graphicFrameLocks noGrp="1"/>
          </p:cNvGraphicFramePr>
          <p:nvPr/>
        </p:nvGraphicFramePr>
        <p:xfrm>
          <a:off x="743712" y="1442440"/>
          <a:ext cx="87296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720"/>
                <a:gridCol w="3229920"/>
                <a:gridCol w="38700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Why Subagent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Parallel work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Multiple tasks simultaneously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Scan security AND generate docs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Isolation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Separate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Analyze large file independently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Specialization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Different instructions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Security expert vs. UI designer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Sandboxing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Limit tool access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Read-only subagent for unknown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"/>
          <p:cNvSpPr txBox="1"/>
          <p:nvPr/>
        </p:nvSpPr>
        <p:spPr>
          <a:xfrm>
            <a:off x="743712" y="850000"/>
            <a:ext cx="4998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Subagent vs. Tool vs. Skill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76" name="Table 1175"/>
          <p:cNvGraphicFramePr>
            <a:graphicFrameLocks noGrp="1"/>
          </p:cNvGraphicFramePr>
          <p:nvPr/>
        </p:nvGraphicFramePr>
        <p:xfrm>
          <a:off x="743712" y="1442440"/>
          <a:ext cx="517968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640"/>
                <a:gridCol w="41900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Concept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action (read file, run command)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Skill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Multi-step workflow, same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Subagent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Parallel, isolated, specialized work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"/>
          <p:cNvSpPr txBox="1"/>
          <p:nvPr/>
        </p:nvSpPr>
        <p:spPr>
          <a:xfrm>
            <a:off x="743712" y="850000"/>
            <a:ext cx="649440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Walkthrough: Subagents in Action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743712" y="224280"/>
            <a:ext cx="105692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"Review codebase for security issues and generate API documentation"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747720" y="644480"/>
            <a:ext cx="74192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Without subagents: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Mixed context, sequential, slower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747720" y="1064680"/>
            <a:ext cx="37263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 subagents (parallel):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747720" y="2965680"/>
            <a:ext cx="10677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Invoke: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743712" y="4257080"/>
            <a:ext cx="97088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Understood concept · parallel execution · recognized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747720" y="46772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1425240" y="50974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1662480" y="55176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TextBox 1199"/>
          <p:cNvSpPr txBox="1"/>
          <p:nvPr/>
        </p:nvSpPr>
        <p:spPr>
          <a:xfrm>
            <a:off x="923760" y="1442440"/>
            <a:ext cx="813688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Subagent 1 (Security): scan all files, read-only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Subagent 2 (Docs): generate OpenAPI spec, write to docs/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Main Agent combines: security report + openapi.yaml</a:t>
            </a:r>
          </a:p>
        </p:txBody>
      </p:sp>
      <p:sp>
        <p:nvSpPr>
          <p:cNvPr id="1201" name="TextBox 1200"/>
          <p:cNvSpPr txBox="1"/>
          <p:nvPr/>
        </p:nvSpPr>
        <p:spPr>
          <a:xfrm>
            <a:off x="923760" y="2923240"/>
            <a:ext cx="82740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Spawn a security subagent to audit src/auth/ independently.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Meanwhile, I'll work on the frontend.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310" name="Table 1309"/>
          <p:cNvGraphicFramePr>
            <a:graphicFrameLocks noGrp="1"/>
          </p:cNvGraphicFramePr>
          <p:nvPr/>
        </p:nvGraphicFramePr>
        <p:xfrm>
          <a:off x="743712" y="1442440"/>
          <a:ext cx="71294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589840"/>
                <a:gridCol w="37633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Output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Rule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.cursor/rules/*.mdc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Repository Instructions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.cursor/repository-instructions.md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Skills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.cursor/skills/*/SKILL.md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MCP &amp; Slash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MCP config, slash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Subagents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Understanding of delegation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743712" y="1442440"/>
            <a:ext cx="97828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RULES          → .cursor/rules/*.mdc (standards, security, build)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REPO INSTR.    → .cursor/repository-instructions.md (project overview)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SKILLS         → .cursor/skills/*/SKILL.md (invoke with /skill-name)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MCP            → ~/.cursor/mcp.json (GitHub, Slack, Jira, custom)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SLASH CMDS     → .cursor/commands/*.md (/deploy, /onboard, /triage)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SUBAGENTS      → Parallel, isolated, specialized execution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"/>
          <p:cNvSpPr txBox="1"/>
          <p:nvPr/>
        </p:nvSpPr>
        <p:spPr>
          <a:xfrm>
            <a:off x="743712" y="850000"/>
            <a:ext cx="4254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743712" y="2565720"/>
            <a:ext cx="9426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CLI and Local Automation · Day 1 (Hands-On)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743712" y="3158160"/>
            <a:ext cx="9916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you've customized Cursor for your team,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5: Cursor CLI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743712" y="3578360"/>
            <a:ext cx="9282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and Local Automation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covers terminal-based AI sessions, one-shot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1090440" y="3998560"/>
            <a:ext cx="416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commands, and cloud handoff.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747720" y="441876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285840" y="225720"/>
            <a:ext cx="360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4 — Customizing Cursor for Your Team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