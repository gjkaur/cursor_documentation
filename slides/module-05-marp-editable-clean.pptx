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2207640" y="2674620"/>
            <a:ext cx="7776720" cy="54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4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Cursor CLI and Local Automation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3496980" y="3320740"/>
            <a:ext cx="51980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5 · Day 1 (Hands-On)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3736920" y="3843180"/>
            <a:ext cx="4718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~60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285840" y="225720"/>
            <a:ext cx="3492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 txBox="1"/>
          <p:nvPr/>
        </p:nvSpPr>
        <p:spPr>
          <a:xfrm>
            <a:off x="743712" y="850000"/>
            <a:ext cx="32598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Overview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285840" y="225720"/>
            <a:ext cx="3492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79" name="Table 78"/>
          <p:cNvGraphicFramePr>
            <a:graphicFrameLocks noGrp="1"/>
          </p:cNvGraphicFramePr>
          <p:nvPr/>
        </p:nvGraphicFramePr>
        <p:xfrm>
          <a:off x="743712" y="1442440"/>
          <a:ext cx="6353160" cy="263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040"/>
                <a:gridCol w="4830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Details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~60 minutes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Format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Hands-on exercise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Prerequisites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Cursor CLI installed, terminal access, Modules 1–4 completed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Module Goal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Master the Cursor CLI for terminal-based AI workflows and automation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 txBox="1"/>
          <p:nvPr/>
        </p:nvSpPr>
        <p:spPr>
          <a:xfrm>
            <a:off x="743712" y="850000"/>
            <a:ext cx="37882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Learning Objectives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747720" y="1442440"/>
            <a:ext cx="7184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By the end of this module, participants will be able to: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743712" y="1862640"/>
            <a:ext cx="91486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 the Cursor CLI in interactive mode for real-time AI collaboration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743712" y="2282840"/>
            <a:ext cx="8640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Run one-shot CLI commands for scripting and CI/CD integration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743712" y="2703040"/>
            <a:ext cx="8251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Hand off local sessions to Cloud Agents for remote execution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743712" y="3123240"/>
            <a:ext cx="7760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List, resume, and manage concurrent sessions effectively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285840" y="225720"/>
            <a:ext cx="3492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"/>
          <p:cNvSpPr txBox="1"/>
          <p:nvPr/>
        </p:nvSpPr>
        <p:spPr>
          <a:xfrm>
            <a:off x="743712" y="850000"/>
            <a:ext cx="14536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Agenda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285840" y="225720"/>
            <a:ext cx="3492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85" name="Table 184"/>
          <p:cNvGraphicFramePr>
            <a:graphicFrameLocks noGrp="1"/>
          </p:cNvGraphicFramePr>
          <p:nvPr/>
        </p:nvGraphicFramePr>
        <p:xfrm>
          <a:off x="743712" y="1442440"/>
          <a:ext cx="478248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280"/>
                <a:gridCol w="3229920"/>
                <a:gridCol w="77628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Lesson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Time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5.1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Interactive CLI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20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5.2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One-Shot CLI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20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5.3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Cloud Handoff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18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5.4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Listing and Resuming Sessions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20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5.1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4818360" y="3331520"/>
            <a:ext cx="25552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Interactive CLI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3707220" y="3853960"/>
            <a:ext cx="4777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8 min · Exercise · 12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285840" y="225720"/>
            <a:ext cx="3492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"/>
          <p:cNvSpPr txBox="1"/>
          <p:nvPr/>
        </p:nvSpPr>
        <p:spPr>
          <a:xfrm>
            <a:off x="743712" y="850000"/>
            <a:ext cx="45136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What Is the Cursor CLI?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743712" y="1442440"/>
            <a:ext cx="9758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Cursor CLI brings AI-powered coding directly to your command line.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1357200" y="1862640"/>
            <a:ext cx="4828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Start AI sessions from your terminal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1357200" y="2282840"/>
            <a:ext cx="6811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Get code assistance without leaving your workflow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1357200" y="2703040"/>
            <a:ext cx="46764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Automate coding tasks with scripts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1357200" y="3123240"/>
            <a:ext cx="4558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Integrate AI into existing CLI tools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747720" y="3543440"/>
            <a:ext cx="2846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Primary command: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3661920" y="4383840"/>
            <a:ext cx="7549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agent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743712" y="3963640"/>
            <a:ext cx="2457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(main entry point)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285840" y="225720"/>
            <a:ext cx="3492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"/>
          <p:cNvSpPr txBox="1"/>
          <p:nvPr/>
        </p:nvSpPr>
        <p:spPr>
          <a:xfrm>
            <a:off x="743712" y="850000"/>
            <a:ext cx="53953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Interactive Mode Commands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285840" y="225720"/>
            <a:ext cx="3492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330" name="Table 329"/>
          <p:cNvGraphicFramePr>
            <a:graphicFrameLocks noGrp="1"/>
          </p:cNvGraphicFramePr>
          <p:nvPr/>
        </p:nvGraphicFramePr>
        <p:xfrm>
          <a:off x="743712" y="1442440"/>
          <a:ext cx="6993240" cy="401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3120"/>
                <a:gridCol w="4830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Command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/model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Switch between AI models interactively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/compress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Summarize conversation, free up context window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/rules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Create and edit rules directly from CLI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/commands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Create and modify custom commands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/mcp enable/disable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Manage MCP servers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/usage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View Cursor usage stats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/about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View environment and CLI configuration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/resume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View and resume previous sessions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5.1 — Steps 1–2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747720" y="1442440"/>
            <a:ext cx="4761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1: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Start an interactive session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747720" y="2733840"/>
            <a:ext cx="3931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Navigate the session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1357200" y="3154040"/>
            <a:ext cx="31006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Type prompts naturally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1425600" y="3994440"/>
            <a:ext cx="165960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Shift+Enter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743712" y="3574240"/>
            <a:ext cx="4117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new line without submitting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1425600" y="4769320"/>
            <a:ext cx="7549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Enter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2248200" y="4349120"/>
            <a:ext cx="2405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submit prompt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1425600" y="5544200"/>
            <a:ext cx="90576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Ctrl+D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2399400" y="5124000"/>
            <a:ext cx="1728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twice — exit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285840" y="225720"/>
            <a:ext cx="3492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TextBox 356"/>
          <p:cNvSpPr txBox="1"/>
          <p:nvPr/>
        </p:nvSpPr>
        <p:spPr>
          <a:xfrm>
            <a:off x="923760" y="1862640"/>
            <a:ext cx="799972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 "Help me understand the current codebase structure"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5.1 — Steps 3–5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747720" y="1442440"/>
            <a:ext cx="3151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3: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Switch models: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747720" y="3038640"/>
            <a:ext cx="4100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4: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Ask Mode (read-only):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747720" y="4330040"/>
            <a:ext cx="2643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5: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Plan Mode: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923760" y="4750240"/>
            <a:ext cx="66369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agent --mode=plan </a:t>
            </a: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"Add user authentication to this API"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285840" y="225720"/>
            <a:ext cx="3492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TextBox 378"/>
          <p:cNvSpPr txBox="1"/>
          <p:nvPr/>
        </p:nvSpPr>
        <p:spPr>
          <a:xfrm>
            <a:off x="923760" y="1862640"/>
            <a:ext cx="4707880" cy="1096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/model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Or list models outside session: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 --list-models</a:t>
            </a:r>
          </a:p>
        </p:txBody>
      </p:sp>
      <p:sp>
        <p:nvSpPr>
          <p:cNvPr id="380" name="TextBox 379"/>
          <p:cNvSpPr txBox="1"/>
          <p:nvPr/>
        </p:nvSpPr>
        <p:spPr>
          <a:xfrm>
            <a:off x="743712" y="3458840"/>
            <a:ext cx="854836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 --mode=ask "What does this project's main function do?"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Or inside session: /ask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5.1 — Steps 6–7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747720" y="1442440"/>
            <a:ext cx="3965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6: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Configure status line: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747720" y="2733840"/>
            <a:ext cx="4151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7: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Terminal key bindings: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923760" y="3154040"/>
            <a:ext cx="25344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agent /setup-terminal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743712" y="3454000"/>
            <a:ext cx="10453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Started session · switched models · used Ask/Plan Mode ·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747720" y="3874200"/>
            <a:ext cx="2881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configured status line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285840" y="225720"/>
            <a:ext cx="3492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TextBox 396"/>
          <p:cNvSpPr txBox="1"/>
          <p:nvPr/>
        </p:nvSpPr>
        <p:spPr>
          <a:xfrm>
            <a:off x="743712" y="1862640"/>
            <a:ext cx="978280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npx -y cursor-statusline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Shows: [model: claude-4.5-sonnet] [~/project] [main] [ctx: 45k/200k]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5.2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4884240" y="3331520"/>
            <a:ext cx="24235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One-Shot CLI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3707220" y="3853960"/>
            <a:ext cx="4777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8 min · Exercise · 12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285840" y="225720"/>
            <a:ext cx="3492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1166904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"/>
          <p:cNvSpPr txBox="1"/>
          <p:nvPr/>
        </p:nvSpPr>
        <p:spPr>
          <a:xfrm>
            <a:off x="743712" y="850000"/>
            <a:ext cx="57024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One-Shot Command Structure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743712" y="2923240"/>
            <a:ext cx="8603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"Perfect for automation, CI/CD pipelines, and batch operations."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 txBox="1"/>
          <p:nvPr/>
        </p:nvSpPr>
        <p:spPr>
          <a:xfrm>
            <a:off x="285840" y="225720"/>
            <a:ext cx="3492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TextBox 420"/>
          <p:cNvSpPr txBox="1"/>
          <p:nvPr/>
        </p:nvSpPr>
        <p:spPr>
          <a:xfrm>
            <a:off x="743712" y="1442440"/>
            <a:ext cx="9645640" cy="1400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 "your prompt here"                    # Basic one-shot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 --mode=ask "question about code"      # Read-only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 --model claude-4.5-sonnet "task"      # Specific model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 --non-interactive "run this task"     # No prompts, just output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"/>
          <p:cNvSpPr txBox="1"/>
          <p:nvPr/>
        </p:nvSpPr>
        <p:spPr>
          <a:xfrm>
            <a:off x="743712" y="850000"/>
            <a:ext cx="52848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Use Cases for One-Shot CLI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285840" y="225720"/>
            <a:ext cx="3492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743712" y="1442440"/>
          <a:ext cx="6673200" cy="361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080"/>
                <a:gridCol w="4830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Use Case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Example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Code generation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agent "Create a React component for a login form"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Documentation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agent "Generate JSDoc comments for src/api.js"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CI/CD tasks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agent "Review this PR diff for security issues"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Batch processing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Loop through files with agent commands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Pre-commit hooks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agent --mode=ask "Check for console.log statements"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5.2 — Steps 1–2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747720" y="1442440"/>
            <a:ext cx="4777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1: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Basic one-shot commands: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747720" y="3038640"/>
            <a:ext cx="3253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Specify models: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285840" y="225720"/>
            <a:ext cx="3492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TextBox 520"/>
          <p:cNvSpPr txBox="1"/>
          <p:nvPr/>
        </p:nvSpPr>
        <p:spPr>
          <a:xfrm>
            <a:off x="743712" y="1862640"/>
            <a:ext cx="9371320" cy="1096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 "What is the difference between let and const in JavaScript?"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 "Write a bash function that checks if a port is in use"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 --mode=ask "Explain the git rebase command with examples"</a:t>
            </a:r>
          </a:p>
        </p:txBody>
      </p:sp>
      <p:sp>
        <p:nvSpPr>
          <p:cNvPr id="522" name="TextBox 521"/>
          <p:cNvSpPr txBox="1"/>
          <p:nvPr/>
        </p:nvSpPr>
        <p:spPr>
          <a:xfrm>
            <a:off x="743712" y="3458840"/>
            <a:ext cx="1097280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 --model gpt-5-mini "What does this command do: ls -la | grep .txt"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 --model claude-4.5-opus "Design a database schema for a task management system"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"/>
          <p:cNvSpPr txBox="1"/>
          <p:nvPr/>
        </p:nvSpPr>
        <p:spPr>
          <a:xfrm>
            <a:off x="743712" y="850000"/>
            <a:ext cx="77752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5.2 — Scriptable Code Reviewer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 txBox="1"/>
          <p:nvPr/>
        </p:nvSpPr>
        <p:spPr>
          <a:xfrm>
            <a:off x="747720" y="1442440"/>
            <a:ext cx="1000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Create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 txBox="1"/>
          <p:nvPr/>
        </p:nvSpPr>
        <p:spPr>
          <a:xfrm>
            <a:off x="1815840" y="2282840"/>
            <a:ext cx="241380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bin/ai-review.sh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4297320" y="186264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 txBox="1"/>
          <p:nvPr/>
        </p:nvSpPr>
        <p:spPr>
          <a:xfrm>
            <a:off x="285840" y="225720"/>
            <a:ext cx="3492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TextBox 539"/>
          <p:cNvSpPr txBox="1"/>
          <p:nvPr/>
        </p:nvSpPr>
        <p:spPr>
          <a:xfrm>
            <a:off x="743712" y="2637520"/>
            <a:ext cx="8685520" cy="2315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#!/bin/bash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STAGED_FILES=$(git diff --cached --name-only | tr '\n' ', ')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 --mode=ask "Review these staged files for common issues: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Files: $STAGED_FILES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Check for: debugging statements, unused imports,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security issues, missing error handling. Be concise."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"/>
          <p:cNvSpPr txBox="1"/>
          <p:nvPr/>
        </p:nvSpPr>
        <p:spPr>
          <a:xfrm>
            <a:off x="743712" y="850000"/>
            <a:ext cx="63871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5.2 — Batch &amp; Git Hooks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 txBox="1"/>
          <p:nvPr/>
        </p:nvSpPr>
        <p:spPr>
          <a:xfrm>
            <a:off x="747720" y="1442440"/>
            <a:ext cx="3744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4: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Batch process files: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 txBox="1"/>
          <p:nvPr/>
        </p:nvSpPr>
        <p:spPr>
          <a:xfrm>
            <a:off x="743712" y="3343440"/>
            <a:ext cx="10436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5: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Pre-commit hook — review staged diff for secrets, debug statements,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 txBox="1"/>
          <p:nvPr/>
        </p:nvSpPr>
        <p:spPr>
          <a:xfrm>
            <a:off x="747720" y="3763640"/>
            <a:ext cx="2050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merge markers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 txBox="1"/>
          <p:nvPr/>
        </p:nvSpPr>
        <p:spPr>
          <a:xfrm>
            <a:off x="743712" y="4183840"/>
            <a:ext cx="8928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6: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CI/CD — analyze test output and suggest fixes for failures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743712" y="4604040"/>
            <a:ext cx="10622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Ran one-shots · specified models · created reviewer script ·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 txBox="1"/>
          <p:nvPr/>
        </p:nvSpPr>
        <p:spPr>
          <a:xfrm>
            <a:off x="747720" y="5024240"/>
            <a:ext cx="3016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understood CI/CD use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 txBox="1"/>
          <p:nvPr/>
        </p:nvSpPr>
        <p:spPr>
          <a:xfrm>
            <a:off x="285840" y="225720"/>
            <a:ext cx="3492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TextBox 558"/>
          <p:cNvSpPr txBox="1"/>
          <p:nvPr/>
        </p:nvSpPr>
        <p:spPr>
          <a:xfrm>
            <a:off x="743712" y="1862640"/>
            <a:ext cx="9645640" cy="1400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for file in src/**/*.py; do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agent --mode=ask --non-interactive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"Summarize this Python file in one sentence: $(head -50 $file)"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done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5.3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4828980" y="3331520"/>
            <a:ext cx="25340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Cloud Handoff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3707220" y="3853960"/>
            <a:ext cx="4777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8 min · Exercise · 10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285840" y="225720"/>
            <a:ext cx="3492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"/>
          <p:cNvSpPr txBox="1"/>
          <p:nvPr/>
        </p:nvSpPr>
        <p:spPr>
          <a:xfrm>
            <a:off x="743712" y="850000"/>
            <a:ext cx="44906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What Is Cloud Handoff?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747720" y="1442440"/>
            <a:ext cx="5931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Send a local conversation to a Cloud Agent: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 txBox="1"/>
          <p:nvPr/>
        </p:nvSpPr>
        <p:spPr>
          <a:xfrm>
            <a:off x="1357200" y="1862640"/>
            <a:ext cx="4083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Continue from web or mobile (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 txBox="1"/>
          <p:nvPr/>
        </p:nvSpPr>
        <p:spPr>
          <a:xfrm>
            <a:off x="743712" y="2703040"/>
            <a:ext cx="256464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cursor.com/agents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 txBox="1"/>
          <p:nvPr/>
        </p:nvSpPr>
        <p:spPr>
          <a:xfrm>
            <a:off x="8141040" y="228284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 txBox="1"/>
          <p:nvPr/>
        </p:nvSpPr>
        <p:spPr>
          <a:xfrm>
            <a:off x="1357200" y="3057720"/>
            <a:ext cx="6243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Let the agent run long tasks while you're away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 txBox="1"/>
          <p:nvPr/>
        </p:nvSpPr>
        <p:spPr>
          <a:xfrm>
            <a:off x="1357200" y="3477920"/>
            <a:ext cx="5676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Resume the session later from any device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747720" y="3898120"/>
            <a:ext cx="627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 txBox="1"/>
          <p:nvPr/>
        </p:nvSpPr>
        <p:spPr>
          <a:xfrm>
            <a:off x="1442880" y="5158720"/>
            <a:ext cx="27396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&amp;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 txBox="1"/>
          <p:nvPr/>
        </p:nvSpPr>
        <p:spPr>
          <a:xfrm>
            <a:off x="1662120" y="4318320"/>
            <a:ext cx="4862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prefix: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Prepend any message with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743712" y="5513400"/>
            <a:ext cx="27396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&amp;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6812280" y="4738520"/>
            <a:ext cx="3067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to send it to the cloud.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 txBox="1"/>
          <p:nvPr/>
        </p:nvSpPr>
        <p:spPr>
          <a:xfrm>
            <a:off x="285840" y="225720"/>
            <a:ext cx="3492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"/>
          <p:cNvSpPr txBox="1"/>
          <p:nvPr/>
        </p:nvSpPr>
        <p:spPr>
          <a:xfrm>
            <a:off x="743712" y="850000"/>
            <a:ext cx="37422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Cloud Handoff Flow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 txBox="1"/>
          <p:nvPr/>
        </p:nvSpPr>
        <p:spPr>
          <a:xfrm>
            <a:off x="285840" y="225720"/>
            <a:ext cx="3492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TextBox 608"/>
          <p:cNvSpPr txBox="1"/>
          <p:nvPr/>
        </p:nvSpPr>
        <p:spPr>
          <a:xfrm>
            <a:off x="923760" y="1442440"/>
            <a:ext cx="7039600" cy="2620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Local Terminal                    Cloud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┌─────────────┐                  ┌─────────────┐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agent       │  ──&amp; prompt──→   │ Cloud Agent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(interactive│                  │ (runs async)│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session)    │  ←──result────   │         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└─────────────┘                  └─────────────┘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                            ↓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                     cursor.com/agents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5.3 — Steps 1–3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747720" y="1442440"/>
            <a:ext cx="5439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1: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Start local session and hand off: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 txBox="1"/>
          <p:nvPr/>
        </p:nvSpPr>
        <p:spPr>
          <a:xfrm>
            <a:off x="747720" y="2733840"/>
            <a:ext cx="3067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Verify handoff: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 txBox="1"/>
          <p:nvPr/>
        </p:nvSpPr>
        <p:spPr>
          <a:xfrm>
            <a:off x="1176120" y="3154040"/>
            <a:ext cx="36205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Handing off to Cloud Agent...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 txBox="1"/>
          <p:nvPr/>
        </p:nvSpPr>
        <p:spPr>
          <a:xfrm>
            <a:off x="1176120" y="3454000"/>
            <a:ext cx="68781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Session running at: https://cursor.com/agents/[agent-id]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 txBox="1"/>
          <p:nvPr/>
        </p:nvSpPr>
        <p:spPr>
          <a:xfrm>
            <a:off x="747720" y="3753960"/>
            <a:ext cx="5421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3: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Check status via browser or CLI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285840" y="225720"/>
            <a:ext cx="3492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TextBox 634"/>
          <p:cNvSpPr txBox="1"/>
          <p:nvPr/>
        </p:nvSpPr>
        <p:spPr>
          <a:xfrm>
            <a:off x="743712" y="1862640"/>
            <a:ext cx="868552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&amp; "Analyze the entire codebase and create a dependency graph."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5.3 — Steps 4–6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 txBox="1"/>
          <p:nvPr/>
        </p:nvSpPr>
        <p:spPr>
          <a:xfrm>
            <a:off x="747720" y="1442440"/>
            <a:ext cx="4812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4: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Push existing conversation: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 txBox="1"/>
          <p:nvPr/>
        </p:nvSpPr>
        <p:spPr>
          <a:xfrm>
            <a:off x="923760" y="1862640"/>
            <a:ext cx="76021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&amp; "Continue this conversation in the cloud. I need to log off."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 txBox="1"/>
          <p:nvPr/>
        </p:nvSpPr>
        <p:spPr>
          <a:xfrm>
            <a:off x="747720" y="2162600"/>
            <a:ext cx="3626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5: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Long-running task: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 txBox="1"/>
          <p:nvPr/>
        </p:nvSpPr>
        <p:spPr>
          <a:xfrm>
            <a:off x="743712" y="2582800"/>
            <a:ext cx="88088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agent </a:t>
            </a: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"&amp; Refactor the auth module to use JWT. Update all tests and docs."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 txBox="1"/>
          <p:nvPr/>
        </p:nvSpPr>
        <p:spPr>
          <a:xfrm>
            <a:off x="747720" y="2882760"/>
            <a:ext cx="2998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6: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Resume later: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 txBox="1"/>
          <p:nvPr/>
        </p:nvSpPr>
        <p:spPr>
          <a:xfrm>
            <a:off x="923760" y="3302960"/>
            <a:ext cx="43444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agent --resume [agent-id-from-cloud]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 txBox="1"/>
          <p:nvPr/>
        </p:nvSpPr>
        <p:spPr>
          <a:xfrm>
            <a:off x="285840" y="225720"/>
            <a:ext cx="3492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"/>
          <p:cNvSpPr txBox="1"/>
          <p:nvPr/>
        </p:nvSpPr>
        <p:spPr>
          <a:xfrm>
            <a:off x="743712" y="850000"/>
            <a:ext cx="55710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Cloud Handoff Best Practices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"/>
          <p:cNvSpPr txBox="1"/>
          <p:nvPr/>
        </p:nvSpPr>
        <p:spPr>
          <a:xfrm>
            <a:off x="747720" y="3600440"/>
            <a:ext cx="3287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Sent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"/>
          <p:cNvSpPr txBox="1"/>
          <p:nvPr/>
        </p:nvSpPr>
        <p:spPr>
          <a:xfrm>
            <a:off x="4102920" y="4440840"/>
            <a:ext cx="27396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&amp;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 txBox="1"/>
          <p:nvPr/>
        </p:nvSpPr>
        <p:spPr>
          <a:xfrm>
            <a:off x="4322520" y="4020640"/>
            <a:ext cx="6913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message · verified cloud agent · accessed via web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"/>
          <p:cNvSpPr txBox="1"/>
          <p:nvPr/>
        </p:nvSpPr>
        <p:spPr>
          <a:xfrm>
            <a:off x="285840" y="225720"/>
            <a:ext cx="3492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722" name="Table 721"/>
          <p:cNvGraphicFramePr>
            <a:graphicFrameLocks noGrp="1"/>
          </p:cNvGraphicFramePr>
          <p:nvPr/>
        </p:nvGraphicFramePr>
        <p:xfrm>
          <a:off x="743712" y="1442440"/>
          <a:ext cx="720660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9920"/>
                <a:gridCol w="397668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When to Use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When Not to Use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Long-running tasks (&gt;5 min)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Quick questions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When you need to close laptop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Interactive debugging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Overnight batch processing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Tasks needing terminal access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Parallel work streams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Security-sensitive code (local only)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5.4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 txBox="1"/>
          <p:nvPr/>
        </p:nvSpPr>
        <p:spPr>
          <a:xfrm>
            <a:off x="3331380" y="3331520"/>
            <a:ext cx="55292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Listing and Resuming Sessions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 txBox="1"/>
          <p:nvPr/>
        </p:nvSpPr>
        <p:spPr>
          <a:xfrm>
            <a:off x="3707220" y="3853960"/>
            <a:ext cx="4777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8 min · Exercise · 12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 txBox="1"/>
          <p:nvPr/>
        </p:nvSpPr>
        <p:spPr>
          <a:xfrm>
            <a:off x="285840" y="225720"/>
            <a:ext cx="3492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"/>
          <p:cNvSpPr txBox="1"/>
          <p:nvPr/>
        </p:nvSpPr>
        <p:spPr>
          <a:xfrm>
            <a:off x="743712" y="850000"/>
            <a:ext cx="63201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Session Management Commands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"/>
          <p:cNvSpPr txBox="1"/>
          <p:nvPr/>
        </p:nvSpPr>
        <p:spPr>
          <a:xfrm>
            <a:off x="747720" y="3184840"/>
            <a:ext cx="5844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Tip: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Name sessions with the first message: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"/>
          <p:cNvSpPr txBox="1"/>
          <p:nvPr/>
        </p:nvSpPr>
        <p:spPr>
          <a:xfrm>
            <a:off x="285840" y="225720"/>
            <a:ext cx="3492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792" name="Table 791"/>
          <p:cNvGraphicFramePr>
            <a:graphicFrameLocks noGrp="1"/>
          </p:cNvGraphicFramePr>
          <p:nvPr/>
        </p:nvGraphicFramePr>
        <p:xfrm>
          <a:off x="743712" y="1442440"/>
          <a:ext cx="6673200" cy="16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3120"/>
                <a:gridCol w="451008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Command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/resume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List all previous sessions and resume one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agent --resume [id]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Resume a specific session by ID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agent --list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List available sessions (alternative)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93" name="TextBox 792"/>
          <p:cNvSpPr txBox="1"/>
          <p:nvPr/>
        </p:nvSpPr>
        <p:spPr>
          <a:xfrm>
            <a:off x="923760" y="3605040"/>
            <a:ext cx="566800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 "Just say one word: auth-refactor"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Session named "auth-refactor Agent"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5.4 — Steps 1–2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"/>
          <p:cNvSpPr txBox="1"/>
          <p:nvPr/>
        </p:nvSpPr>
        <p:spPr>
          <a:xfrm>
            <a:off x="747720" y="1442440"/>
            <a:ext cx="5523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1: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Create multiple named sessions: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"/>
          <p:cNvSpPr txBox="1"/>
          <p:nvPr/>
        </p:nvSpPr>
        <p:spPr>
          <a:xfrm>
            <a:off x="747720" y="3038640"/>
            <a:ext cx="3321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List all sessions: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"/>
          <p:cNvSpPr txBox="1"/>
          <p:nvPr/>
        </p:nvSpPr>
        <p:spPr>
          <a:xfrm>
            <a:off x="285840" y="225720"/>
            <a:ext cx="3492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2" name="TextBox 811"/>
          <p:cNvSpPr txBox="1"/>
          <p:nvPr/>
        </p:nvSpPr>
        <p:spPr>
          <a:xfrm>
            <a:off x="743712" y="1862640"/>
            <a:ext cx="8548360" cy="1096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 "Just say one word: frontend-cleanup"   # do work, exit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 "Just say one word: db-optimization"  # do work, exit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agent "Just say one word: docs-update"</a:t>
            </a:r>
          </a:p>
        </p:txBody>
      </p:sp>
      <p:sp>
        <p:nvSpPr>
          <p:cNvPr id="813" name="TextBox 812"/>
          <p:cNvSpPr txBox="1"/>
          <p:nvPr/>
        </p:nvSpPr>
        <p:spPr>
          <a:xfrm>
            <a:off x="923760" y="3458840"/>
            <a:ext cx="5805160" cy="1400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/resume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1. frontend-cleanup Agent (2 hours ago)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2. db-optimization Agent (1 hour ago)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3. docs-update Agent (30 minutes ago)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5.4 — Steps 3–5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2" name=""/>
          <p:cNvSpPr txBox="1"/>
          <p:nvPr/>
        </p:nvSpPr>
        <p:spPr>
          <a:xfrm>
            <a:off x="747720" y="1442440"/>
            <a:ext cx="3117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3: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Resume by ID: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3" name=""/>
          <p:cNvSpPr txBox="1"/>
          <p:nvPr/>
        </p:nvSpPr>
        <p:spPr>
          <a:xfrm>
            <a:off x="923760" y="1862640"/>
            <a:ext cx="42238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agent --resume abc123-def456-ghi789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4" name=""/>
          <p:cNvSpPr txBox="1"/>
          <p:nvPr/>
        </p:nvSpPr>
        <p:spPr>
          <a:xfrm>
            <a:off x="747720" y="2162600"/>
            <a:ext cx="6793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4: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Concurrent sessions in different terminals: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7" name=""/>
          <p:cNvSpPr txBox="1"/>
          <p:nvPr/>
        </p:nvSpPr>
        <p:spPr>
          <a:xfrm>
            <a:off x="747720" y="3454000"/>
            <a:ext cx="41004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5: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Context management: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"/>
          <p:cNvSpPr txBox="1"/>
          <p:nvPr/>
        </p:nvSpPr>
        <p:spPr>
          <a:xfrm>
            <a:off x="923760" y="3874200"/>
            <a:ext cx="68781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/compress   # Summarize conversation, free context window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"/>
          <p:cNvSpPr txBox="1"/>
          <p:nvPr/>
        </p:nvSpPr>
        <p:spPr>
          <a:xfrm>
            <a:off x="285840" y="225720"/>
            <a:ext cx="3492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1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2" name="TextBox 831"/>
          <p:cNvSpPr txBox="1"/>
          <p:nvPr/>
        </p:nvSpPr>
        <p:spPr>
          <a:xfrm>
            <a:off x="923760" y="2582800"/>
            <a:ext cx="635380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Terminal 1: agent --resume frontend-cleanup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Terminal 2: agent --resume db-optimization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"/>
          <p:cNvSpPr txBox="1"/>
          <p:nvPr/>
        </p:nvSpPr>
        <p:spPr>
          <a:xfrm>
            <a:off x="743712" y="850000"/>
            <a:ext cx="7996320" cy="4424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5.4 — Steps 6–7 &amp; Best Practices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6" name=""/>
          <p:cNvSpPr txBox="1"/>
          <p:nvPr/>
        </p:nvSpPr>
        <p:spPr>
          <a:xfrm>
            <a:off x="747720" y="0"/>
            <a:ext cx="633564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6: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Export session summary as markdown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8" name=""/>
          <p:cNvSpPr txBox="1"/>
          <p:nvPr/>
        </p:nvSpPr>
        <p:spPr>
          <a:xfrm>
            <a:off x="747720" y="0"/>
            <a:ext cx="210132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7: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Create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9" name=""/>
          <p:cNvSpPr txBox="1"/>
          <p:nvPr/>
        </p:nvSpPr>
        <p:spPr>
          <a:xfrm>
            <a:off x="2916720" y="0"/>
            <a:ext cx="3318840" cy="2746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bin/cursor-sessions.sh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0" name=""/>
          <p:cNvSpPr txBox="1"/>
          <p:nvPr/>
        </p:nvSpPr>
        <p:spPr>
          <a:xfrm>
            <a:off x="6303240" y="0"/>
            <a:ext cx="384660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to list and manage sessions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2" name=""/>
          <p:cNvSpPr txBox="1"/>
          <p:nvPr/>
        </p:nvSpPr>
        <p:spPr>
          <a:xfrm>
            <a:off x="747720" y="0"/>
            <a:ext cx="193140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Naming: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Use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3" name=""/>
          <p:cNvSpPr txBox="1"/>
          <p:nvPr/>
        </p:nvSpPr>
        <p:spPr>
          <a:xfrm>
            <a:off x="2746800" y="1223080"/>
            <a:ext cx="1961280" cy="2746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[area]-[task]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5" name=""/>
          <p:cNvSpPr txBox="1"/>
          <p:nvPr/>
        </p:nvSpPr>
        <p:spPr>
          <a:xfrm>
            <a:off x="743712" y="382680"/>
            <a:ext cx="181332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format (e.g.,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6" name=""/>
          <p:cNvSpPr txBox="1"/>
          <p:nvPr/>
        </p:nvSpPr>
        <p:spPr>
          <a:xfrm>
            <a:off x="6656760" y="1577760"/>
            <a:ext cx="1810440" cy="2746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api-auth-fix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7" name=""/>
          <p:cNvSpPr txBox="1"/>
          <p:nvPr/>
        </p:nvSpPr>
        <p:spPr>
          <a:xfrm>
            <a:off x="8535240" y="80288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9" name=""/>
          <p:cNvSpPr txBox="1"/>
          <p:nvPr/>
        </p:nvSpPr>
        <p:spPr>
          <a:xfrm>
            <a:off x="747720" y="1932440"/>
            <a:ext cx="194796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Context: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Use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0" name=""/>
          <p:cNvSpPr txBox="1"/>
          <p:nvPr/>
        </p:nvSpPr>
        <p:spPr>
          <a:xfrm>
            <a:off x="2763720" y="2772840"/>
            <a:ext cx="1358280" cy="2746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/compress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1" name=""/>
          <p:cNvSpPr txBox="1"/>
          <p:nvPr/>
        </p:nvSpPr>
        <p:spPr>
          <a:xfrm>
            <a:off x="4189680" y="2352640"/>
            <a:ext cx="701496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on long sessions · cloud handoff for very long tasks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2" name=""/>
          <p:cNvSpPr txBox="1"/>
          <p:nvPr/>
        </p:nvSpPr>
        <p:spPr>
          <a:xfrm>
            <a:off x="743712" y="3127520"/>
            <a:ext cx="957168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Cleanup: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Sessions persist indefinitely — manually complete or discard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3" name=""/>
          <p:cNvSpPr txBox="1"/>
          <p:nvPr/>
        </p:nvSpPr>
        <p:spPr>
          <a:xfrm>
            <a:off x="747720" y="3547720"/>
            <a:ext cx="179676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finished ones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5" name=""/>
          <p:cNvSpPr txBox="1"/>
          <p:nvPr/>
        </p:nvSpPr>
        <p:spPr>
          <a:xfrm>
            <a:off x="747720" y="3967920"/>
            <a:ext cx="764136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Created named sessions · listed with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6" name=""/>
          <p:cNvSpPr txBox="1"/>
          <p:nvPr/>
        </p:nvSpPr>
        <p:spPr>
          <a:xfrm>
            <a:off x="8456760" y="4808320"/>
            <a:ext cx="1056600" cy="2746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/resume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7" name=""/>
          <p:cNvSpPr txBox="1"/>
          <p:nvPr/>
        </p:nvSpPr>
        <p:spPr>
          <a:xfrm>
            <a:off x="9581040" y="4388120"/>
            <a:ext cx="164376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· resumed ·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9" name=""/>
          <p:cNvSpPr txBox="1"/>
          <p:nvPr/>
        </p:nvSpPr>
        <p:spPr>
          <a:xfrm>
            <a:off x="747720" y="5163000"/>
            <a:ext cx="74628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used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0" name=""/>
          <p:cNvSpPr txBox="1"/>
          <p:nvPr/>
        </p:nvSpPr>
        <p:spPr>
          <a:xfrm>
            <a:off x="1561680" y="5583200"/>
            <a:ext cx="1358280" cy="2746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/compress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1" name=""/>
          <p:cNvSpPr txBox="1"/>
          <p:nvPr/>
        </p:nvSpPr>
        <p:spPr>
          <a:xfrm>
            <a:off x="285840" y="225720"/>
            <a:ext cx="3492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2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"/>
          <p:cNvSpPr txBox="1"/>
          <p:nvPr/>
        </p:nvSpPr>
        <p:spPr>
          <a:xfrm>
            <a:off x="743712" y="850000"/>
            <a:ext cx="3303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Summary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1" name=""/>
          <p:cNvSpPr txBox="1"/>
          <p:nvPr/>
        </p:nvSpPr>
        <p:spPr>
          <a:xfrm>
            <a:off x="285840" y="225720"/>
            <a:ext cx="3492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2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3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954" name="Table 953"/>
          <p:cNvGraphicFramePr>
            <a:graphicFrameLocks noGrp="1"/>
          </p:cNvGraphicFramePr>
          <p:nvPr/>
        </p:nvGraphicFramePr>
        <p:xfrm>
          <a:off x="743712" y="1442440"/>
          <a:ext cx="563592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280"/>
                <a:gridCol w="2056440"/>
                <a:gridCol w="280320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Lesson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Key Skill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5.1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Interactive CLI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Real-time terminal AI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5.2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One-Shot CLI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Scripting &amp; automation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5.3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Cloud Handoff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Remote/long-running tasks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5.4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Session Management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Concurrent work handling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"/>
          <p:cNvSpPr txBox="1"/>
          <p:nvPr/>
        </p:nvSpPr>
        <p:spPr>
          <a:xfrm>
            <a:off x="743712" y="850000"/>
            <a:ext cx="41410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Quick Reference Card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9" name=""/>
          <p:cNvSpPr txBox="1"/>
          <p:nvPr/>
        </p:nvSpPr>
        <p:spPr>
          <a:xfrm>
            <a:off x="285840" y="225720"/>
            <a:ext cx="3492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0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1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2" name="TextBox 971"/>
          <p:cNvSpPr txBox="1"/>
          <p:nvPr/>
        </p:nvSpPr>
        <p:spPr>
          <a:xfrm>
            <a:off x="743712" y="1442440"/>
            <a:ext cx="9234160" cy="3839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BASIC: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agent                  Start interactive session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agent "prompt"         One-shot command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agent --mode=ask       Read-only mode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agent --mode=plan      Plan before code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agent --model &lt;name&gt;   Specify model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IN SESSION:  /model  /compress  /rules  /commands  /resume  /usage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CLOUD:  &amp; "message"  →  cursor.com/agents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KEYS:  Shift+Enter (new line)  |  Ctrl+D twice (exit)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"/>
          <p:cNvSpPr txBox="1"/>
          <p:nvPr/>
        </p:nvSpPr>
        <p:spPr>
          <a:xfrm>
            <a:off x="743712" y="850000"/>
            <a:ext cx="425448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Up Next: Module 6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7" name=""/>
          <p:cNvSpPr txBox="1"/>
          <p:nvPr/>
        </p:nvSpPr>
        <p:spPr>
          <a:xfrm>
            <a:off x="743712" y="2565720"/>
            <a:ext cx="105609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Cloud Agents in the UI · Day 2 (Hands-On + Demonstration)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8" name=""/>
          <p:cNvSpPr txBox="1"/>
          <p:nvPr/>
        </p:nvSpPr>
        <p:spPr>
          <a:xfrm>
            <a:off x="743712" y="3158160"/>
            <a:ext cx="99507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Now that you've mastered terminal-based AI workflows,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Module 6: Cloud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9" name=""/>
          <p:cNvSpPr txBox="1"/>
          <p:nvPr/>
        </p:nvSpPr>
        <p:spPr>
          <a:xfrm>
            <a:off x="743712" y="3578360"/>
            <a:ext cx="9775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Agents in the UI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covers launching cloud agents, collecting artifacts, and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0" name=""/>
          <p:cNvSpPr txBox="1"/>
          <p:nvPr/>
        </p:nvSpPr>
        <p:spPr>
          <a:xfrm>
            <a:off x="1090440" y="3998560"/>
            <a:ext cx="32198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messaging integrations.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1" name=""/>
          <p:cNvSpPr txBox="1"/>
          <p:nvPr/>
        </p:nvSpPr>
        <p:spPr>
          <a:xfrm>
            <a:off x="747720" y="4418760"/>
            <a:ext cx="2220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End of Module 5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2" name=""/>
          <p:cNvSpPr txBox="1"/>
          <p:nvPr/>
        </p:nvSpPr>
        <p:spPr>
          <a:xfrm>
            <a:off x="285840" y="225720"/>
            <a:ext cx="3492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5 — Cursor CLI and Local Automation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3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4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LibreOffice/26.2.3.2$Windows_X86_64 LibreOffice_project/70e089b17412e4cb7773e41413306b17a2328c34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