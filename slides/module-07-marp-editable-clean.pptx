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291420" y="2674620"/>
            <a:ext cx="56091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API Foundations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33260" y="3320740"/>
            <a:ext cx="712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· Day 2 (Concept + 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Concept + 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account, basic API familiarity, Python 3.8+ installed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Understand the Cursor API ecosystem, authenticate securely, handle errors, and optimize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57200" y="1862640"/>
            <a:ext cx="650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the five Cursor APIs and their use cases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357200" y="2282840"/>
            <a:ext cx="555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 and securely manage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357200" y="2703040"/>
            <a:ext cx="6472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 rate limit handling and error recovery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57200" y="3123240"/>
            <a:ext cx="609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ETag caching for efficient repeat queries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357200" y="3543440"/>
            <a:ext cx="620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authentication by listing available models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743712" y="1442440"/>
          <a:ext cx="488916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33660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The Cursor API Landscape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and Error Handling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ETag Caching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Available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705960" y="3331520"/>
            <a:ext cx="4780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Cursor API Landscape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935180" y="3853960"/>
            <a:ext cx="232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 txBox="1"/>
          <p:nvPr/>
        </p:nvSpPr>
        <p:spPr>
          <a:xfrm>
            <a:off x="743712" y="850000"/>
            <a:ext cx="2599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Five APIs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24" name="Table 323"/>
          <p:cNvGraphicFramePr>
            <a:graphicFrameLocks noGrp="1"/>
          </p:cNvGraphicFramePr>
          <p:nvPr/>
        </p:nvGraphicFramePr>
        <p:xfrm>
          <a:off x="743712" y="1442440"/>
          <a:ext cx="8196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226980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/v1/chat/completions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OpenAI-compatible chat interface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manage Cloud 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Upload/download files for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/v1/admin/*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management, analytics, policies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Register and manage webhook endpoints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 txBox="1"/>
          <p:nvPr/>
        </p:nvSpPr>
        <p:spPr>
          <a:xfrm>
            <a:off x="743712" y="850000"/>
            <a:ext cx="4359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API Comparison Matrix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743712" y="1442440"/>
          <a:ext cx="97488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1736400"/>
                <a:gridCol w="2163120"/>
                <a:gridCol w="184308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Auth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Rate Limit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Primary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or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 token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Pay-per-token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Direct model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Per-run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Long-running tasks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Context upload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Higher limits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Included in plan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 txBox="1"/>
          <p:nvPr/>
        </p:nvSpPr>
        <p:spPr>
          <a:xfrm>
            <a:off x="743712" y="850000"/>
            <a:ext cx="4469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Which API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43712" y="1442440"/>
            <a:ext cx="9334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Call a model directly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Chat Completions API (OpenAI-compatible)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357200" y="1862640"/>
            <a:ext cx="667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 long task that writes 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Agents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357200" y="2282840"/>
            <a:ext cx="631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Manage team usage and limits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Admin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357200" y="2703040"/>
            <a:ext cx="741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 notified when agents complete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Webhooks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 txBox="1"/>
          <p:nvPr/>
        </p:nvSpPr>
        <p:spPr>
          <a:xfrm>
            <a:off x="743712" y="850000"/>
            <a:ext cx="4029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OpenAI Compatibility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43712" y="5056840"/>
            <a:ext cx="989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Understand five APIs · select correct API · understand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747720" y="5477040"/>
            <a:ext cx="27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OpenAI compatibility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923760" y="1442440"/>
            <a:ext cx="731392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from openai import OpenAI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client = OpenAI(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base_url="https://api.cursor.com/v1",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api_key="your-cursor-api-key"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client.chat.completions.create(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model="claude-4.6-sonnet",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messages=[{"role": "user", "content": "Hello!"}]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4839960" y="3331520"/>
            <a:ext cx="2512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Authentication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 txBox="1"/>
          <p:nvPr/>
        </p:nvSpPr>
        <p:spPr>
          <a:xfrm>
            <a:off x="743712" y="850000"/>
            <a:ext cx="4513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Authentication Methods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30" name="Table 629"/>
          <p:cNvGraphicFramePr>
            <a:graphicFrameLocks noGrp="1"/>
          </p:cNvGraphicFramePr>
          <p:nvPr/>
        </p:nvGraphicFramePr>
        <p:xfrm>
          <a:off x="743712" y="1442440"/>
          <a:ext cx="7236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301656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HTTP Basic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-u "api_key:"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CLI, curl, most SDKs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Bearer Token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Authorization: Bearer &lt;key&gt;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OAuth-style clients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Regular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Agents, Chat, Files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admin_ prefixed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only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 txBox="1"/>
          <p:nvPr/>
        </p:nvSpPr>
        <p:spPr>
          <a:xfrm>
            <a:off x="743712" y="850000"/>
            <a:ext cx="2753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API Key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747720" y="1442440"/>
            <a:ext cx="191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API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357200" y="186264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in: Cursor Settings →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357200" y="228284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2560320" y="2703040"/>
            <a:ext cx="2866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cursor_xxxxxxxxxxxx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357200" y="3057720"/>
            <a:ext cx="594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access: Agents, Chat, Files, Webhooks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747720" y="3477920"/>
            <a:ext cx="2185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 API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357200" y="3898120"/>
            <a:ext cx="6574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in: Organization Settings →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357200" y="431832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2560320" y="4738520"/>
            <a:ext cx="37713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cursor_admin_xxxxxxxxxxxx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1357200" y="5093200"/>
            <a:ext cx="626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access: Admin API + everything User can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 txBox="1"/>
          <p:nvPr/>
        </p:nvSpPr>
        <p:spPr>
          <a:xfrm>
            <a:off x="743712" y="850000"/>
            <a:ext cx="4405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Security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357200" y="1442440"/>
            <a:ext cx="3913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Never commit API keys to git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357200" y="1862640"/>
            <a:ext cx="631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environment variables or secret managers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357200" y="2282840"/>
            <a:ext cx="5404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Rotate keys periodically (every 90 days)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357200" y="2703040"/>
            <a:ext cx="555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different keys for dev and production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357200" y="3123240"/>
            <a:ext cx="454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Revoke unused keys immediately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357200" y="3543440"/>
            <a:ext cx="570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Admin API keys only when necessary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357200" y="3963640"/>
            <a:ext cx="433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Monitor key usage in 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743712" y="1442440"/>
            <a:ext cx="10418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 User API Key via Cursor Settings → API Keys → Generate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747720" y="1862640"/>
            <a:ext cx="122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47720" y="2282840"/>
            <a:ext cx="455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Set environment variable: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47720" y="3574240"/>
            <a:ext cx="298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curl: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TextBox 694"/>
          <p:cNvSpPr txBox="1"/>
          <p:nvPr/>
        </p:nvSpPr>
        <p:spPr>
          <a:xfrm>
            <a:off x="923760" y="270304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$CURSOR_USER_API_KEY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923760" y="3994440"/>
            <a:ext cx="6353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https://api.cursor.com/v1/models | head -20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747720" y="1442440"/>
            <a:ext cx="469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Python requests: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747720" y="3343440"/>
            <a:ext cx="4235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with OpenAI SDK: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TextBox 717"/>
          <p:cNvSpPr txBox="1"/>
          <p:nvPr/>
        </p:nvSpPr>
        <p:spPr>
          <a:xfrm>
            <a:off x="923760" y="1862640"/>
            <a:ext cx="56680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requests.get(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"https://api.cursor.com/v1/models",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auth=(API_KEY, "")  # Empty password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743712" y="3763640"/>
            <a:ext cx="978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client = OpenAI(base_url="https://api.cursor.com/v1", api_key=API_KEY)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client.chat.completions.create(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model="gpt-5-mini",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messages=[{"role": "user", "content": "Say 'API works!'"}],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max_tokens=10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7.2 — Steps 6–7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747720" y="144244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 and test Admin API Key: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743712" y="3038640"/>
            <a:ext cx="1058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Revoke compromised keys via API or Settings → API Keys → Revoke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743712" y="3458840"/>
            <a:ext cx="1053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Generated keys · tested curl, Python, OpenAI SDK · tested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747720" y="3879040"/>
            <a:ext cx="142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Admin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TextBox 733"/>
          <p:cNvSpPr txBox="1"/>
          <p:nvPr/>
        </p:nvSpPr>
        <p:spPr>
          <a:xfrm>
            <a:off x="923760" y="1862640"/>
            <a:ext cx="77254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CURSOR_ADMIN_API_KEY="cursor_admin_xxxxxxxxxxxx"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https://api.cursor.com/v1/admin/organization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3386820" y="3331520"/>
            <a:ext cx="5418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Limits and Error Handling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"/>
          <p:cNvSpPr txBox="1"/>
          <p:nvPr/>
        </p:nvSpPr>
        <p:spPr>
          <a:xfrm>
            <a:off x="743712" y="850000"/>
            <a:ext cx="347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Limits by API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49" name="Table 848"/>
          <p:cNvGraphicFramePr>
            <a:graphicFrameLocks noGrp="1"/>
          </p:cNvGraphicFramePr>
          <p:nvPr/>
        </p:nvGraphicFramePr>
        <p:xfrm>
          <a:off x="743712" y="1442440"/>
          <a:ext cx="5529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200"/>
                <a:gridCol w="152304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Limit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 Completions (tokens)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500k tokens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 (create)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2000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 minute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"/>
          <p:cNvSpPr txBox="1"/>
          <p:nvPr/>
        </p:nvSpPr>
        <p:spPr>
          <a:xfrm>
            <a:off x="743712" y="850000"/>
            <a:ext cx="5592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HTTP Status Codes to Handle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3344040" y="278280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3344040" y="32302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3344040" y="36874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401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3344040" y="414468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3344040" y="4592520"/>
            <a:ext cx="366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71" name="Table 970"/>
          <p:cNvGraphicFramePr>
            <a:graphicFrameLocks noGrp="1"/>
          </p:cNvGraphicFramePr>
          <p:nvPr/>
        </p:nvGraphicFramePr>
        <p:xfrm>
          <a:off x="743712" y="1442440"/>
          <a:ext cx="531588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0"/>
                <a:gridCol w="1949760"/>
                <a:gridCol w="24831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Process response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Bad Request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Fix request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Unauthorized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API key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permissions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429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 Many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 backoff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500/503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Server Error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Retry with backoff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"/>
          <p:cNvSpPr txBox="1"/>
          <p:nvPr/>
        </p:nvSpPr>
        <p:spPr>
          <a:xfrm>
            <a:off x="743712" y="850000"/>
            <a:ext cx="3589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Rate Limit Headers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8523720" y="3282840"/>
            <a:ext cx="43632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1000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8523720" y="3740040"/>
            <a:ext cx="3276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942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8523720" y="4187880"/>
            <a:ext cx="109008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1700000000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8523720" y="4645080"/>
            <a:ext cx="21852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69" name="Table 1068"/>
          <p:cNvGraphicFramePr>
            <a:graphicFrameLocks noGrp="1"/>
          </p:cNvGraphicFramePr>
          <p:nvPr/>
        </p:nvGraphicFramePr>
        <p:xfrm>
          <a:off x="743712" y="1442440"/>
          <a:ext cx="68094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480"/>
                <a:gridCol w="322992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X-RateLimit-Limit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requests per window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X-RateLimit-Remaining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Requests left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942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X-RateLimit-Reset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Window reset (Unix timestamp)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1700000000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Retry-After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Seconds to wait (on 429)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"/>
          <p:cNvSpPr txBox="1"/>
          <p:nvPr/>
        </p:nvSpPr>
        <p:spPr>
          <a:xfrm>
            <a:off x="743712" y="850000"/>
            <a:ext cx="6717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7.3 — Exponential Backoff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TextBox 1089"/>
          <p:cNvSpPr txBox="1"/>
          <p:nvPr/>
        </p:nvSpPr>
        <p:spPr>
          <a:xfrm>
            <a:off x="743712" y="1442440"/>
            <a:ext cx="85483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call_with_retry(url, max_retries=5, base_delay=1.0):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for attempt in range(max_retries):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response = requests.get(url, auth=AUTH)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response.status_code == 200: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return response.json()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400 &lt;= response.status_code &lt; 500: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return None  # Don't retry client errors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response.status_code in [429, 500, 502, 503, 504]: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delay = int(response.headers.get('Retry-After',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min(base_delay * (2 ** attempt), 60)))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time.sleep(delay)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None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"/>
          <p:cNvSpPr txBox="1"/>
          <p:nvPr/>
        </p:nvSpPr>
        <p:spPr>
          <a:xfrm>
            <a:off x="743712" y="850000"/>
            <a:ext cx="6805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7.3 — Rate Limiter &amp; 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747720" y="1442440"/>
            <a:ext cx="4116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Monitor headers: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warn when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743712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X-RateLimit-Remaining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8167680" y="1862640"/>
            <a:ext cx="192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&lt; 10% of limit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743712" y="2637520"/>
            <a:ext cx="1041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 bucket rate limiter: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space requests evenly across the minute window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743712" y="3057720"/>
            <a:ext cx="1057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CursorAPIClient: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combines rate limiting, retries on 429/5xx, timeout handling,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747720" y="3477920"/>
            <a:ext cx="3220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typed methods like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4035600" y="431832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get_models()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743712" y="389812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6660360" y="4673000"/>
            <a:ext cx="2112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create_agent()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743712" y="5027680"/>
            <a:ext cx="992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Backoff · header monitoring · rate limiter · robust client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747720" y="5447880"/>
            <a:ext cx="695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4840140" y="3331520"/>
            <a:ext cx="2511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ETag Caching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"/>
          <p:cNvSpPr txBox="1"/>
          <p:nvPr/>
        </p:nvSpPr>
        <p:spPr>
          <a:xfrm>
            <a:off x="743712" y="850000"/>
            <a:ext cx="3281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ETags?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747720" y="1442440"/>
            <a:ext cx="745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ETags are unique identifiers for API response versions.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1018440" y="1862640"/>
            <a:ext cx="1136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Send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2222280" y="27030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If-None-Match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743712" y="2282840"/>
            <a:ext cx="371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with previous ETag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1018440" y="3057720"/>
            <a:ext cx="235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Server returns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3441600" y="389812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304 Not Modified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743712" y="3477920"/>
            <a:ext cx="1830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if unchanged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1018440" y="4252800"/>
            <a:ext cx="6082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No data transfer, no rate limit consumption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"/>
          <p:cNvSpPr txBox="1"/>
          <p:nvPr/>
        </p:nvSpPr>
        <p:spPr>
          <a:xfrm>
            <a:off x="743712" y="850000"/>
            <a:ext cx="1981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ETag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923760" y="1442440"/>
            <a:ext cx="70396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1: GET /v1/analytics/usage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200 OK, ETag: "abc123", Body: { ... data ...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2: GET with If-None-Match: "abc123"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304 Not Modified (unchanged) 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200 OK, ETag: "def456" (updated data)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"/>
          <p:cNvSpPr txBox="1"/>
          <p:nvPr/>
        </p:nvSpPr>
        <p:spPr>
          <a:xfrm>
            <a:off x="743712" y="850000"/>
            <a:ext cx="545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Endpoints Supporting ETags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73" name="Table 1272"/>
          <p:cNvGraphicFramePr>
            <a:graphicFrameLocks noGrp="1"/>
          </p:cNvGraphicFramePr>
          <p:nvPr/>
        </p:nvGraphicFramePr>
        <p:xfrm>
          <a:off x="743712" y="1442440"/>
          <a:ext cx="584928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141636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ETag Support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Cache Freshness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rarely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/v1/admin/members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occasionally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during run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/v1/analytics/usage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changes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 (list)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⚠️ Partial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Changes frequently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"/>
          <p:cNvSpPr txBox="1"/>
          <p:nvPr/>
        </p:nvSpPr>
        <p:spPr>
          <a:xfrm>
            <a:off x="743712" y="850000"/>
            <a:ext cx="634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7.4 — Basic ETag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TextBox 1288"/>
          <p:cNvSpPr txBox="1"/>
          <p:nvPr/>
        </p:nvSpPr>
        <p:spPr>
          <a:xfrm>
            <a:off x="743712" y="1442440"/>
            <a:ext cx="99199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get_with_etag(url, previous_etag=None):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headers = {'If-None-Match': previous_etag} if previous_etag else {}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requests.get(url, auth=AUTH, headers=headers)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response.status_code == 304: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return None, response.headers.get('ETag')  # Use cached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response.status_code == 200: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return response.json(), response.headers.get('ETag')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"/>
          <p:cNvSpPr txBox="1"/>
          <p:nvPr/>
        </p:nvSpPr>
        <p:spPr>
          <a:xfrm>
            <a:off x="743712" y="850000"/>
            <a:ext cx="8105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7.4 — ETagCache &amp; CachedClient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747720" y="1442440"/>
            <a:ext cx="860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ETagCache: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persistent pickle-based cache keyed by URL hash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747720" y="1862640"/>
            <a:ext cx="304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CachedCursorClient: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1357200" y="2282840"/>
            <a:ext cx="369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 local cache → send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743712" y="27030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If-None-Match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1357200" y="3057720"/>
            <a:ext cx="576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304 → return cached data (Cache HIT)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1357200" y="3477920"/>
            <a:ext cx="5303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200 → update cache (Cache MISS)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743712" y="3898120"/>
            <a:ext cx="967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Batch analytics: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fetch 30 days of usage — unchanged days return 304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747720" y="4318320"/>
            <a:ext cx="111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instantly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743712" y="4738520"/>
            <a:ext cx="1048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Basic ETag request · persistent cache · analytics workload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747720" y="515872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7.5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3970200" y="3331520"/>
            <a:ext cx="4251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Available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"/>
          <p:cNvSpPr txBox="1"/>
          <p:nvPr/>
        </p:nvSpPr>
        <p:spPr>
          <a:xfrm>
            <a:off x="743712" y="850000"/>
            <a:ext cx="4006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Models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923760" y="1442440"/>
            <a:ext cx="1689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/v1/models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47720" y="1742400"/>
            <a:ext cx="2880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 includes: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1357200" y="2162600"/>
            <a:ext cx="6386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ID · Display name · Context window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1357200" y="2582800"/>
            <a:ext cx="482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Pricing (input/output per 1M tokens)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1357200" y="3003000"/>
            <a:ext cx="491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Capabilities (vision, tool calling, etc.)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743712" y="3423200"/>
            <a:ext cx="834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"Simplest API call — perfect for verifying your API key works."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7.5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747720" y="1442440"/>
            <a:ext cx="286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with curl: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743712" y="3038640"/>
            <a:ext cx="105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Format with Python tabulate — Model ID, Context, Input/Output Price,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747720" y="3458840"/>
            <a:ext cx="193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Vision support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743712" y="1862640"/>
            <a:ext cx="1097280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https://api.cursor.com/v1/models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'.data[] | {id: .id, context: .context_window, input_price: .pricing.input}'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7.5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747720" y="1442440"/>
            <a:ext cx="293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Filter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747720" y="3648240"/>
            <a:ext cx="423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Model selection helper: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743712" y="5244440"/>
            <a:ext cx="1048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Listed with curl · formatted table · filtered · selection helper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743712" y="1862640"/>
            <a:ext cx="104686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Models with 100k+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large_context = [m for m in models if m.get('context_window', 0) &gt;= 100000]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Cheapest by input price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cheapest = sorted(models, key=lambda x: x['pricing']['input'])[:5]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743712" y="4068440"/>
            <a:ext cx="86855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select_model("code_review", "balanced")  # → claude-4.6-sonnet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select_model("simple_fix", "low")        # → gpt-5-mini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select_model("frontend_ui", "high")      # → gemini-3.1-pro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480" name="Table 1479"/>
          <p:cNvGraphicFramePr>
            <a:graphicFrameLocks noGrp="1"/>
          </p:cNvGraphicFramePr>
          <p:nvPr/>
        </p:nvGraphicFramePr>
        <p:xfrm>
          <a:off x="743712" y="1442440"/>
          <a:ext cx="49958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269800"/>
                <a:gridCol w="1949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Landscape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selection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Key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&amp; Errors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Robust clients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ETag Caching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Efficient queries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Auth smoke-test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TextBox 1498"/>
          <p:cNvSpPr txBox="1"/>
          <p:nvPr/>
        </p:nvSpPr>
        <p:spPr>
          <a:xfrm>
            <a:off x="743712" y="1442440"/>
            <a:ext cx="950848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 URL: https://api.cursor.com/v1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AUTH:  -u "api_key:" (curl)  |  Bearer token  |  OpenAI SDK base_url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/models              List available models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POST /agents              Create cloud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/agents/{id}         Get agent status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/admin/members       List team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/admin/analytics/usage  Usage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ERRORS:  429/5xx → retry with backoff  |  4xx → fix request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CACHE:   If-None-Match → handle 304 Not Modified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8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743712" y="2565720"/>
            <a:ext cx="5881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API and Webhooks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743712" y="3158160"/>
            <a:ext cx="8098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 understand API foundations,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743712" y="3578360"/>
            <a:ext cx="9573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programmatically creating agents, streaming responses, and setting up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1090440" y="3998560"/>
            <a:ext cx="169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notifications.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285840" y="225720"/>
            <a:ext cx="2790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7 — Cursor API Foundations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