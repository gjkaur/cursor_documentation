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074160" y="2674620"/>
            <a:ext cx="604368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Admin and Analytics APIs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883820" y="3320740"/>
            <a:ext cx="8424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· Day 2 (Hands-On + Demonstrations)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~75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~75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demonstrations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Admin API key (not User key), Python 3.8+, Modules 7–8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team management, usage analytics, cost governance, and safe admin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357200" y="1862640"/>
            <a:ext cx="677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 and manage team members programmatically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43712" y="2282840"/>
            <a:ext cx="755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Retrieve daily usage data for cost tracking and reporting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357200" y="2703040"/>
            <a:ext cx="596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Set user spend limits for budget governance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57200" y="3123240"/>
            <a:ext cx="6828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model usage for cost optimization insights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357200" y="3543440"/>
            <a:ext cx="640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daily active users for leadership reporting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43712" y="3963640"/>
            <a:ext cx="764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responsible leaderboards without privacy violations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43712" y="4383840"/>
            <a:ext cx="806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Analyze conversation intent and complexity (demonstration)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3712" y="4804040"/>
            <a:ext cx="9063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Safely remove team members with proper patterns (demonstration)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03" name="Table 302"/>
          <p:cNvGraphicFramePr>
            <a:graphicFrameLocks noGrp="1"/>
          </p:cNvGraphicFramePr>
          <p:nvPr/>
        </p:nvGraphicFramePr>
        <p:xfrm>
          <a:off x="743712" y="1442440"/>
          <a:ext cx="566544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123240"/>
                <a:gridCol w="77628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Team Members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Usage Data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Setting User Spend Limits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Usage Analytics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Leaderboards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Conversation Insights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Destructive Admin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4080720" y="3331520"/>
            <a:ext cx="4030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Team Members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 txBox="1"/>
          <p:nvPr/>
        </p:nvSpPr>
        <p:spPr>
          <a:xfrm>
            <a:off x="743712" y="850000"/>
            <a:ext cx="449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User vs. Admin API Key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7720" y="4016040"/>
            <a:ext cx="211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932920" y="44362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/v1/admin/members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32" name="Table 431"/>
          <p:cNvGraphicFramePr>
            <a:graphicFrameLocks noGrp="1"/>
          </p:cNvGraphicFramePr>
          <p:nvPr/>
        </p:nvGraphicFramePr>
        <p:xfrm>
          <a:off x="743712" y="1442440"/>
          <a:ext cx="62760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160"/>
                <a:gridCol w="162972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User API Key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Admin API Key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user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Entire organization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list members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view others' usage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modify policies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cursor_xxx...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cursor_admin_xxx...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 txBox="1"/>
          <p:nvPr/>
        </p:nvSpPr>
        <p:spPr>
          <a:xfrm>
            <a:off x="743712" y="850000"/>
            <a:ext cx="5220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9.1 — Setup &amp; 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TextBox 447"/>
          <p:cNvSpPr txBox="1"/>
          <p:nvPr/>
        </p:nvSpPr>
        <p:spPr>
          <a:xfrm>
            <a:off x="923760" y="1442440"/>
            <a:ext cx="772540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CURSOR_ADMIN_API_KEY="cursor_admin_xxxxxxxxxxxx"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Verify admin access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https://api.cursor.com/v1/admin/organization | jq '.'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List all team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"https://api.cursor.com/v1/admin/members"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 txBox="1"/>
          <p:nvPr/>
        </p:nvSpPr>
        <p:spPr>
          <a:xfrm>
            <a:off x="743712" y="403280"/>
            <a:ext cx="6694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9.1 — Pagination &amp; Export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47720" y="995720"/>
            <a:ext cx="166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Pagination: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47720" y="2287120"/>
            <a:ext cx="655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loop with offset until empty → export to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366320" y="312752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team_roster.csv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9696960" y="2707320"/>
            <a:ext cx="167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(email, role,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47720" y="3482200"/>
            <a:ext cx="3660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status, joined, lastActiveAt)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47720" y="3902400"/>
            <a:ext cx="113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Helper: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950840" y="4742800"/>
            <a:ext cx="40730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get_user_id_by_email(email)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091560" y="4322600"/>
            <a:ext cx="3795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downstream admin calls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43712" y="5097480"/>
            <a:ext cx="981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Authenticated · listed members · handled pagination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47720" y="5517680"/>
            <a:ext cx="189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exported CSV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TextBox 470"/>
          <p:cNvSpPr txBox="1"/>
          <p:nvPr/>
        </p:nvSpPr>
        <p:spPr>
          <a:xfrm>
            <a:off x="743712" y="1415920"/>
            <a:ext cx="85483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"https://api.cursor.com/v1/admin/members?limit=10&amp;offset=0"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4553940" y="3331520"/>
            <a:ext cx="3084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Daily Usage Data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816120" y="1442440"/>
            <a:ext cx="52794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/v1/admin/analytics/usage/daily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747720" y="1797120"/>
            <a:ext cx="125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Returns: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357200" y="2217320"/>
            <a:ext cx="5422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Cost per day · Input/output token counts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43712" y="2637520"/>
            <a:ext cx="850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Active users per day · Breakdown by user and model (optional)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43712" y="3057720"/>
            <a:ext cx="952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"Finance asks: 'What did we spend yesterday?' Engineering leads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090440" y="3477920"/>
            <a:ext cx="277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'Who's using what?'"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 txBox="1"/>
          <p:nvPr/>
        </p:nvSpPr>
        <p:spPr>
          <a:xfrm>
            <a:off x="743712" y="850000"/>
            <a:ext cx="5573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9.2 — Weekly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743712" y="1442440"/>
            <a:ext cx="1097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END=$(date +%Y-%m-%d)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START=$(date -d "7 days ago" +%Y-%m-%d)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"https://api.cursor.com/v1/admin/analytics/usage/daily?startDate=$START&amp;endDate=$END"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'.daily[] | {date: .date, cost: .cost, tokens: .totalTokens, users: .activeUsers}'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 txBox="1"/>
          <p:nvPr/>
        </p:nvSpPr>
        <p:spPr>
          <a:xfrm>
            <a:off x="743712" y="850000"/>
            <a:ext cx="517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9.2 — Cost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47720" y="1442440"/>
            <a:ext cx="10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849680" y="228284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generate_cost_report()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43712" y="1862640"/>
            <a:ext cx="22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last 30 days: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357200" y="2637520"/>
            <a:ext cx="6709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Total cost · total tokens · average daily cost/users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357200" y="3057720"/>
            <a:ext cx="623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Week-over-week change · top 5 costliest days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357200" y="3477920"/>
            <a:ext cx="491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Daily breakdown table (last 14 days)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357200" y="3898120"/>
            <a:ext cx="532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Budget alerts at $300 / $500 thresholds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43712" y="4318320"/>
            <a:ext cx="964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date range · calculated trends · generated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47720" y="4738520"/>
            <a:ext cx="206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readable report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805140" y="3331520"/>
            <a:ext cx="4581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Setting User Spend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816120" y="1442440"/>
            <a:ext cx="69386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PATCH /v1/admin/policies/users/{userId}/limits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564360" y="1797120"/>
            <a:ext cx="6832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43712" y="2123000"/>
            <a:ext cx="939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Behavior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3613680" y="2774760"/>
            <a:ext cx="5454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alert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43712" y="2448880"/>
            <a:ext cx="3209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Send notification but allow usage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3613680" y="3379360"/>
            <a:ext cx="545400" cy="1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block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43712" y="3053480"/>
            <a:ext cx="4123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Prevent any further requests for the month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 txBox="1"/>
          <p:nvPr/>
        </p:nvSpPr>
        <p:spPr>
          <a:xfrm>
            <a:off x="743712" y="850000"/>
            <a:ext cx="4802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9.3 — Set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47720" y="3837640"/>
            <a:ext cx="269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 current limit: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43712" y="4257840"/>
            <a:ext cx="5731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.../policies/users/{userId}/limits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743712" y="1442440"/>
            <a:ext cx="10194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USER_ID=$(curl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"https://api.cursor.com/v1/admin/members?email=developer@company.com"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-r '.members[0].id')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PATCH ".../policies/users/$USER_ID/limits"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'{"monthlyLimit": 50.00, "exceedanceAction": "block"}'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"/>
          <p:cNvSpPr txBox="1"/>
          <p:nvPr/>
        </p:nvSpPr>
        <p:spPr>
          <a:xfrm>
            <a:off x="743712" y="850000"/>
            <a:ext cx="5043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9.3 — Bulk Limits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47720" y="1442440"/>
            <a:ext cx="204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CSV bulk set: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2865600" y="186264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email, monthly_limit, action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747720" y="3393320"/>
            <a:ext cx="352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Find heavy users: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query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43712" y="423372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/analytics/usage/users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726320" y="3813520"/>
            <a:ext cx="3456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current month → filter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47720" y="4588400"/>
            <a:ext cx="216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cost &gt; threshold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743712" y="5008600"/>
            <a:ext cx="931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user ID · set limit · verified · bulk setting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747720" y="5428800"/>
            <a:ext cx="174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TextBox 626"/>
          <p:cNvSpPr txBox="1"/>
          <p:nvPr/>
        </p:nvSpPr>
        <p:spPr>
          <a:xfrm>
            <a:off x="923760" y="2217320"/>
            <a:ext cx="4433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intern@company.com,20,block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contractor@company.com,50,alert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lead@company.com,200,alert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4080540" y="3331520"/>
            <a:ext cx="4030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Usage Analytics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 txBox="1"/>
          <p:nvPr/>
        </p:nvSpPr>
        <p:spPr>
          <a:xfrm>
            <a:off x="743712" y="850000"/>
            <a:ext cx="2554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816120" y="1442440"/>
            <a:ext cx="54302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/v1/admin/analytics/usage/models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743712" y="1797120"/>
            <a:ext cx="973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"Which models are actually being used? Is Opus worth the cost? Should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090440" y="2217320"/>
            <a:ext cx="570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train people on cheaper alternatives?"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 txBox="1"/>
          <p:nvPr/>
        </p:nvSpPr>
        <p:spPr>
          <a:xfrm>
            <a:off x="743712" y="850000"/>
            <a:ext cx="6298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9.4 — Model Breakdown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TextBox 663"/>
          <p:cNvSpPr txBox="1"/>
          <p:nvPr/>
        </p:nvSpPr>
        <p:spPr>
          <a:xfrm>
            <a:off x="743712" y="1442440"/>
            <a:ext cx="106057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".../analytics/usage/models?startDate=$START&amp;endDate=$END"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'.models[] | {model: .modelId, cost: .cost, requests: .requestCount}'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Find Opus overuse per user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".../analytics/usage/users?startDate=$START&amp;endDate=$END"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'.users[] | select(.modelBreakdown."claude-4.7-opus" != null)'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 txBox="1"/>
          <p:nvPr/>
        </p:nvSpPr>
        <p:spPr>
          <a:xfrm>
            <a:off x="743712" y="850000"/>
            <a:ext cx="6694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9.4 — Optimization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816120" y="1862640"/>
            <a:ext cx="4525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generate_optimization_report()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743712" y="14424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357200" y="221732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cost breakdown (% of total)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43712" y="2637520"/>
            <a:ext cx="847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Users on Claude Opus → suggest Sonnet for non-critical tasks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43712" y="3057720"/>
            <a:ext cx="835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Sonnet usage → suggest GPT-5.3 Codex (40% savings)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357200" y="3477920"/>
            <a:ext cx="6388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Estimated monthly savings if guidelines applied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43712" y="3898120"/>
            <a:ext cx="103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Retrieved model breakdown · identified expensive users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747720" y="4318320"/>
            <a:ext cx="388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generated recommendations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3883080" y="3331520"/>
            <a:ext cx="4425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Daily Active Users (DAU)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 txBox="1"/>
          <p:nvPr/>
        </p:nvSpPr>
        <p:spPr>
          <a:xfrm>
            <a:off x="743712" y="850000"/>
            <a:ext cx="3324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DAU Matters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357200" y="1442440"/>
            <a:ext cx="362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adoption after rollout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357200" y="1862640"/>
            <a:ext cx="533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unused licenses for reallocation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357200" y="2282840"/>
            <a:ext cx="486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Measure impact of training sessions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357200" y="2703040"/>
            <a:ext cx="4084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Justify renewal and expansion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747720" y="3123240"/>
            <a:ext cx="122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Source: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2035800" y="3963640"/>
            <a:ext cx="1659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activeUsers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763440" y="3543440"/>
            <a:ext cx="142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field from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5254560" y="4318320"/>
            <a:ext cx="4223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/admin/analytics/usage/daily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 txBox="1"/>
          <p:nvPr/>
        </p:nvSpPr>
        <p:spPr>
          <a:xfrm>
            <a:off x="743712" y="850000"/>
            <a:ext cx="5153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9.5 — DAU Report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47720" y="2923240"/>
            <a:ext cx="370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leadership report: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357200" y="3343440"/>
            <a:ext cx="740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Average/median/peak DAU · adoption rate (% of team)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357200" y="3763640"/>
            <a:ext cx="4896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WoW growth rate · weekly averages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743712" y="4183840"/>
            <a:ext cx="926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Health assessment: &gt;80% excellent · &gt;50% good · &lt;30% investigate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743712" y="4604040"/>
            <a:ext cx="106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Calculated DAU · adoption metrics · leadership-ready report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TextBox 734"/>
          <p:cNvSpPr txBox="1"/>
          <p:nvPr/>
        </p:nvSpPr>
        <p:spPr>
          <a:xfrm>
            <a:off x="743712" y="1442440"/>
            <a:ext cx="97828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"$CURSOR_ADMIN_API_KEY:"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".../analytics/usage/daily?startDate=$START&amp;endDate=$END"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| jq '{avg_weekly: ([.daily[-7:] | .[].activeUsers] | add / length),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peak: ([.daily[] | .activeUsers] | max)}'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4872900" y="3331520"/>
            <a:ext cx="2446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6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 txBox="1"/>
          <p:nvPr/>
        </p:nvSpPr>
        <p:spPr>
          <a:xfrm>
            <a:off x="743712" y="850000"/>
            <a:ext cx="687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Responsible Leaderboard Principles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8" name="Table 807"/>
          <p:cNvGraphicFramePr>
            <a:graphicFrameLocks noGrp="1"/>
          </p:cNvGraphicFramePr>
          <p:nvPr/>
        </p:nvGraphicFramePr>
        <p:xfrm>
          <a:off x="743712" y="1442440"/>
          <a:ext cx="74199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20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Principle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Anonymize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Roles or anonymized names, not full emails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Focus on positive metrics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Show savings, not spending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Opt-in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Allow users to choose public visibility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Show team size, role differences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"/>
          <p:cNvSpPr txBox="1"/>
          <p:nvPr/>
        </p:nvSpPr>
        <p:spPr>
          <a:xfrm>
            <a:off x="743712" y="850000"/>
            <a:ext cx="6717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9.6 — Three Leaderboards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743712" y="1442440"/>
            <a:ext cx="10299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Engagement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rank by request count (anonymized emails)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747720" y="1862640"/>
            <a:ext cx="716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Efficiency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tokens per dollar spent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743712" y="2282840"/>
            <a:ext cx="1069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Savings leaderboard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users who saved by choosing efficient models over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747720" y="2703040"/>
            <a:ext cx="729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43712" y="4299240"/>
            <a:ext cx="943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Anonymized · efficiency-focused · savings-focused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47720" y="4719440"/>
            <a:ext cx="177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TextBox 825"/>
          <p:cNvSpPr txBox="1"/>
          <p:nvPr/>
        </p:nvSpPr>
        <p:spPr>
          <a:xfrm>
            <a:off x="923760" y="3123240"/>
            <a:ext cx="58051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anonymize_email(email):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local = email.split('@')[0]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local[:2] + "..." + local[-2:]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9.7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190520" y="3331520"/>
            <a:ext cx="381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Conversation Insights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3893520" y="3853960"/>
            <a:ext cx="440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"/>
          <p:cNvSpPr txBox="1"/>
          <p:nvPr/>
        </p:nvSpPr>
        <p:spPr>
          <a:xfrm>
            <a:off x="743712" y="850000"/>
            <a:ext cx="6627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Conversation Insights Reveal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1357200" y="1442440"/>
            <a:ext cx="545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 questions vs. complex refactors?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357200" y="1862640"/>
            <a:ext cx="4049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common task categories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357200" y="2282840"/>
            <a:ext cx="3033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Where users get stuck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1357200" y="2703040"/>
            <a:ext cx="6471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Which models perform best for which task types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47720" y="3123240"/>
            <a:ext cx="150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2322720" y="3963640"/>
            <a:ext cx="55810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GET /v1/admin/analytics/conversations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971840" y="3543440"/>
            <a:ext cx="3269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(may require Enterprise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747720" y="431832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"/>
          <p:cNvSpPr txBox="1"/>
          <p:nvPr/>
        </p:nvSpPr>
        <p:spPr>
          <a:xfrm>
            <a:off x="743712" y="850000"/>
            <a:ext cx="4161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Intent Analysis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176120" y="1442440"/>
            <a:ext cx="349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CONVERSATION INTENT ANALYSIS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TextBox 879"/>
          <p:cNvSpPr txBox="1"/>
          <p:nvPr/>
        </p:nvSpPr>
        <p:spPr>
          <a:xfrm>
            <a:off x="923760" y="1742400"/>
            <a:ext cx="553084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🎯 CONVERSATION INTENT ANALYSIS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debug              ████████████ 35.2%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refactor           ████████ 22.1%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document           ██████ 16.8%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test               ████ 11.5%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feature            ███ 8.9%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understand         ██ 5.5%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"/>
          <p:cNvSpPr txBox="1"/>
          <p:nvPr/>
        </p:nvSpPr>
        <p:spPr>
          <a:xfrm>
            <a:off x="743712" y="850000"/>
            <a:ext cx="6033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Complexity &amp; Categories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747720" y="1442440"/>
            <a:ext cx="3506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Complexity distribution: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743712" y="1862640"/>
            <a:ext cx="8386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 45% · moderate 33% · complex 15% · architectural 7%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747720" y="2282840"/>
            <a:ext cx="271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Category analysis: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743712" y="2703040"/>
            <a:ext cx="9946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backend 40% · frontend 29% · database 15% · devops 10% · security 6%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747720" y="3123240"/>
            <a:ext cx="590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Stuck patterns: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conversations &gt;5 min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6719760" y="3963640"/>
            <a:ext cx="2112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success: false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8899560" y="3543440"/>
            <a:ext cx="154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→ suggest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747720" y="4318320"/>
            <a:ext cx="1729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training/docs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743712" y="4738520"/>
            <a:ext cx="10690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capabilities · intent/complexity/category tracking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47720" y="5158720"/>
            <a:ext cx="208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· stuck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9.8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3464040" y="3331520"/>
            <a:ext cx="526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Destructive Admin Operations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3893520" y="3853960"/>
            <a:ext cx="4404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"/>
          <p:cNvSpPr txBox="1"/>
          <p:nvPr/>
        </p:nvSpPr>
        <p:spPr>
          <a:xfrm>
            <a:off x="743712" y="850000"/>
            <a:ext cx="4471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Safe Removal Playbook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1018440" y="1442440"/>
            <a:ext cx="6183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Audit first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active agents, runs, API keys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43712" y="1862640"/>
            <a:ext cx="847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 delete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deactivate (no new agents; existing continue)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1018440" y="2282840"/>
            <a:ext cx="704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Transfer ownership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critical agents, webhooks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1018440" y="2703040"/>
            <a:ext cx="586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 everything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compliance audit trail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1018440" y="3123240"/>
            <a:ext cx="736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Confirm before hard delete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GDPR/security only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"/>
          <p:cNvSpPr txBox="1"/>
          <p:nvPr/>
        </p:nvSpPr>
        <p:spPr>
          <a:xfrm>
            <a:off x="743712" y="850000"/>
            <a:ext cx="682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SafeRemovalDemo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743712" y="3532840"/>
            <a:ext cx="942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Bulk deactivation: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find users inactive 90+ days → review → notify 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747720" y="3953040"/>
            <a:ext cx="139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deactivate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743712" y="4373240"/>
            <a:ext cx="1019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5-step pattern · audit-first · soft vs hard delete · resource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747720" y="4793440"/>
            <a:ext cx="103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TextBox 939"/>
          <p:cNvSpPr txBox="1"/>
          <p:nvPr/>
        </p:nvSpPr>
        <p:spPr>
          <a:xfrm>
            <a:off x="923760" y="1442440"/>
            <a:ext cx="60794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find_user(email) → user_id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audit_resources() → agents, runs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deactivate() → status: inactive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4: transfer_resources(new_owner_email)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5: hard_delete() → permanent (rare)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generate_audit_report()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94" name="Table 1093"/>
          <p:cNvGraphicFramePr>
            <a:graphicFrameLocks noGrp="1"/>
          </p:cNvGraphicFramePr>
          <p:nvPr/>
        </p:nvGraphicFramePr>
        <p:xfrm>
          <a:off x="743712" y="1442440"/>
          <a:ext cx="456912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803200"/>
                <a:gridCol w="989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Team Members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Usage Data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Setting User Spend Limits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Usage Analytics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Active Users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Leaderboards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Conversation Insights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Destructive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TextBox 1111"/>
          <p:cNvSpPr txBox="1"/>
          <p:nvPr/>
        </p:nvSpPr>
        <p:spPr>
          <a:xfrm>
            <a:off x="743712" y="1442440"/>
            <a:ext cx="93713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/admin/members                    List members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/admin/analytics/usage/daily      Daily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/admin/analytics/usage/models     Model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/admin/analytics/usage/users      Per-user 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PATCH /admin/policies/users/{id}/limits Set spend limits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 /admin/members/{id}/resources     User resources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LEADERBOARDS:  Anonymize · positive metrics · opt-in · role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REMOVAL:       Audit → Deactivate → Transfer → Log → Confirm delete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"/>
          <p:cNvSpPr txBox="1"/>
          <p:nvPr/>
        </p:nvSpPr>
        <p:spPr>
          <a:xfrm>
            <a:off x="743712" y="850000"/>
            <a:ext cx="452592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10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743712" y="2565720"/>
            <a:ext cx="5661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AI Code Tracking and Reporting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743712" y="3158160"/>
            <a:ext cx="9285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 can manage your team and analyze usage,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743712" y="3578360"/>
            <a:ext cx="9300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covers attributing AI contributions per commit, exporting metrics to BI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1090440" y="3998560"/>
            <a:ext cx="5541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tools, and building complete dashboards.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285840" y="225720"/>
            <a:ext cx="292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9 — Admin and Analytics APIs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