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2370000" y="2674620"/>
            <a:ext cx="7452000" cy="54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40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AI Code Tracking and Reporting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1454520" y="3320740"/>
            <a:ext cx="92829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10 · Day 2 (Hands-On + Take-Home Project)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2843220" y="3843180"/>
            <a:ext cx="6505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~20 min + take-home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10 — AI Code Tracking and Reporting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 txBox="1"/>
          <p:nvPr/>
        </p:nvSpPr>
        <p:spPr>
          <a:xfrm>
            <a:off x="743712" y="850000"/>
            <a:ext cx="32598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Overview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10 — AI Code Tracking and Reporting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79" name="Table 78"/>
          <p:cNvGraphicFramePr>
            <a:graphicFrameLocks noGrp="1"/>
          </p:cNvGraphicFramePr>
          <p:nvPr/>
        </p:nvGraphicFramePr>
        <p:xfrm>
          <a:off x="743712" y="1442440"/>
          <a:ext cx="6353160" cy="291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040"/>
                <a:gridCol w="48301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Details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Duration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~20 minutes (plus take-home project)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Format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Hands-on exercise + take-home project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Prerequisites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Admin API key, Git repository access, Modules 8–9 completed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9744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Module Goal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Track AI vs. human contributions, export metrics to BI tools, build compliance dashboards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 txBox="1"/>
          <p:nvPr/>
        </p:nvSpPr>
        <p:spPr>
          <a:xfrm>
            <a:off x="743712" y="850000"/>
            <a:ext cx="37882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Learning Objectives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747720" y="1442440"/>
            <a:ext cx="7184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By the end of this module, participants will be able to: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1357200" y="1862640"/>
            <a:ext cx="6404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Attribute AI vs. human contributions per commit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1357200" y="2282840"/>
            <a:ext cx="56073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Stream metrics to BI tools via CSV export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1357200" y="2703040"/>
            <a:ext cx="66927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Access granular AI change events for compliance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743712" y="3123240"/>
            <a:ext cx="8760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Build a complete reporting dashboard combining all data sources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10 — AI Code Tracking and Reporting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"/>
          <p:cNvSpPr txBox="1"/>
          <p:nvPr/>
        </p:nvSpPr>
        <p:spPr>
          <a:xfrm>
            <a:off x="743712" y="850000"/>
            <a:ext cx="14536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Agenda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10 — AI Code Tracking and Reporting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85" name="Table 184"/>
          <p:cNvGraphicFramePr>
            <a:graphicFrameLocks noGrp="1"/>
          </p:cNvGraphicFramePr>
          <p:nvPr/>
        </p:nvGraphicFramePr>
        <p:xfrm>
          <a:off x="743712" y="1442440"/>
          <a:ext cx="6276000" cy="20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280"/>
                <a:gridCol w="3549960"/>
                <a:gridCol w="194976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Lesson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Topic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Time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10.1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AI Commit Metrics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8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10.2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Bulk Export via CSV Streaming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7 min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10.3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Granular AI Change Events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7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10.4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Reporting Dashboard Architecture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4 min + take-home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"/>
          <p:cNvSpPr txBox="1"/>
          <p:nvPr/>
        </p:nvSpPr>
        <p:spPr>
          <a:xfrm>
            <a:off x="4699560" y="2663840"/>
            <a:ext cx="279288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10.1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4477620" y="3331520"/>
            <a:ext cx="32367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AI Commit Metrics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3792000" y="3853960"/>
            <a:ext cx="4608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3 min · Exercise · 5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10 — AI Code Tracking and Reporting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"/>
          <p:cNvSpPr txBox="1"/>
          <p:nvPr/>
        </p:nvSpPr>
        <p:spPr>
          <a:xfrm>
            <a:off x="743712" y="850000"/>
            <a:ext cx="25542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Key Endpoint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816120" y="1442440"/>
            <a:ext cx="467604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GET /v1/admin/analytics/commits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747720" y="1797120"/>
            <a:ext cx="2981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What this measures: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1357200" y="2217320"/>
            <a:ext cx="3931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Lines added by AI vs. human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1357200" y="2637520"/>
            <a:ext cx="46936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Files modified by agent vs. manual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1357200" y="3057720"/>
            <a:ext cx="6963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Commit-level attribution · Per-developer breakdown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743712" y="3477920"/>
            <a:ext cx="9677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"The 'ROI of AI' metric — how much code was AI-generated vs. human-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1090440" y="3898120"/>
            <a:ext cx="1091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written."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10 — AI Code Tracking and Reporting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"/>
          <p:cNvSpPr txBox="1"/>
          <p:nvPr/>
        </p:nvSpPr>
        <p:spPr>
          <a:xfrm>
            <a:off x="743712" y="850000"/>
            <a:ext cx="56829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10.1 — Fetch Metrics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923760" y="3186000"/>
            <a:ext cx="21650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8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END=$(</a:t>
            </a:r>
            <a:r>
              <a:rPr lang="en-US" sz="148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date</a:t>
            </a:r>
            <a:r>
              <a:rPr lang="en-US" sz="148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+%Y-%m-%d)</a:t>
            </a:r>
            <a:endParaRPr lang="en-US" sz="1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923760" y="3406320"/>
            <a:ext cx="41230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8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START=$(</a:t>
            </a:r>
            <a:r>
              <a:rPr lang="en-US" sz="148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date</a:t>
            </a:r>
            <a:r>
              <a:rPr lang="en-US" sz="148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-d </a:t>
            </a:r>
            <a:r>
              <a:rPr lang="en-US" sz="148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"30 days ago"</a:t>
            </a:r>
            <a:r>
              <a:rPr lang="en-US" sz="148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+%Y-%m-%d)</a:t>
            </a:r>
            <a:endParaRPr lang="en-US" sz="1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923760" y="3839400"/>
            <a:ext cx="38142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8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curl -s -u </a:t>
            </a:r>
            <a:r>
              <a:rPr lang="en-US" sz="148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"</a:t>
            </a:r>
            <a:r>
              <a:rPr lang="en-US" sz="148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$CURSOR_ADMIN_API_KEY</a:t>
            </a:r>
            <a:r>
              <a:rPr lang="en-US" sz="148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:"</a:t>
            </a:r>
            <a:r>
              <a:rPr lang="en-US" sz="148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\</a:t>
            </a:r>
            <a:endParaRPr lang="en-US" sz="1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923760" y="4051440"/>
            <a:ext cx="1030716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8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 </a:t>
            </a:r>
            <a:r>
              <a:rPr lang="en-US" sz="148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".../analytics/commits?startDate=</a:t>
            </a:r>
            <a:r>
              <a:rPr lang="en-US" sz="148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$START</a:t>
            </a:r>
            <a:r>
              <a:rPr lang="en-US" sz="148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&amp;endDate=</a:t>
            </a:r>
            <a:r>
              <a:rPr lang="en-US" sz="148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$END</a:t>
            </a:r>
            <a:r>
              <a:rPr lang="en-US" sz="148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&amp;repo=https://github.com/YOUR_ORG/YOUR_REPO"</a:t>
            </a:r>
            <a:r>
              <a:rPr lang="en-US" sz="148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\</a:t>
            </a:r>
            <a:endParaRPr lang="en-US" sz="1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923760" y="4272120"/>
            <a:ext cx="10314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8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 | jq </a:t>
            </a:r>
            <a:r>
              <a:rPr lang="en-US" sz="148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'.'</a:t>
            </a:r>
            <a:endParaRPr lang="en-US" sz="1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10 — AI Code Tracking and Reporting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"/>
          <p:cNvSpPr txBox="1"/>
          <p:nvPr/>
        </p:nvSpPr>
        <p:spPr>
          <a:xfrm>
            <a:off x="743712" y="850000"/>
            <a:ext cx="64742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10.1 — AI Contribution %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10 — AI Code Tracking and Reporting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TextBox 243"/>
          <p:cNvSpPr txBox="1"/>
          <p:nvPr/>
        </p:nvSpPr>
        <p:spPr>
          <a:xfrm>
            <a:off x="743712" y="1442440"/>
            <a:ext cx="10972800" cy="2620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curl -s -u "$CURSOR_ADMIN_API_KEY:"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".../analytics/commits?startDate=$START&amp;endDate=$END"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| jq '{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total_commits: .summary.totalCommits,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ai_commits: .summary.aiAuthoredCommits,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ai_percentage: (.summary.aiAuthoredCommits / .summary.totalCommits * 100),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lines_saved: .summary.aiGeneratedLines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}'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"/>
          <p:cNvSpPr txBox="1"/>
          <p:nvPr/>
        </p:nvSpPr>
        <p:spPr>
          <a:xfrm>
            <a:off x="743712" y="850000"/>
            <a:ext cx="55731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10.1 — ROI Analysis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747720" y="1442440"/>
            <a:ext cx="1034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Python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1849680" y="2282840"/>
            <a:ext cx="271548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calculate_ai_roi()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4633200" y="186264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816120" y="4538520"/>
            <a:ext cx="346968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contributor_breakdown()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4353840" y="4118320"/>
            <a:ext cx="5540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AI %, AI lines, commits per developer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743712" y="4893200"/>
            <a:ext cx="9588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Retrieved metrics · calculated AI % · generated ROI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747720" y="5313400"/>
            <a:ext cx="1101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analysis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10 — AI Code Tracking and Reporting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TextBox 265"/>
          <p:cNvSpPr txBox="1"/>
          <p:nvPr/>
        </p:nvSpPr>
        <p:spPr>
          <a:xfrm>
            <a:off x="923760" y="2637520"/>
            <a:ext cx="6490960" cy="14008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AI-generated lines vs. human-written lines (%)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Estimated time saved (10 lines/min assumption)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Estimated cost saved ($100/hr developer cost)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AI usage cost → Net ROI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"/>
          <p:cNvSpPr txBox="1"/>
          <p:nvPr/>
        </p:nvSpPr>
        <p:spPr>
          <a:xfrm>
            <a:off x="4699560" y="2663840"/>
            <a:ext cx="279288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10.2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3353880" y="3331520"/>
            <a:ext cx="54842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Bulk Export via CSV Streaming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3792000" y="3853960"/>
            <a:ext cx="4608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3 min · Exercise · 4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10 — AI Code Tracking and Reporting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"/>
          <p:cNvSpPr txBox="1"/>
          <p:nvPr/>
        </p:nvSpPr>
        <p:spPr>
          <a:xfrm>
            <a:off x="743712" y="850000"/>
            <a:ext cx="25542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Key Endpoint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816120" y="1862640"/>
            <a:ext cx="512856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GET /v1/admin/analytics/export/csv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743712" y="1442440"/>
            <a:ext cx="16268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(streaming)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743712" y="2217320"/>
            <a:ext cx="9849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"Wire metrics into BI tools (Tableau, PowerBI, Looker, Metabase) without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1090440" y="2637520"/>
            <a:ext cx="13456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timeouts."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747720" y="3057720"/>
            <a:ext cx="20329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Export types: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2848680" y="4318320"/>
            <a:ext cx="105660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commits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3972960" y="347792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·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4312080" y="4673000"/>
            <a:ext cx="90576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events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743712" y="389812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·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743712" y="5027680"/>
            <a:ext cx="7549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usage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10 — AI Code Tracking and Reporting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1166904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"/>
          <p:cNvSpPr txBox="1"/>
          <p:nvPr/>
        </p:nvSpPr>
        <p:spPr>
          <a:xfrm>
            <a:off x="743712" y="850000"/>
            <a:ext cx="57492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10.2 — Stream to File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10 — AI Code Tracking and Reporting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TextBox 309"/>
          <p:cNvSpPr txBox="1"/>
          <p:nvPr/>
        </p:nvSpPr>
        <p:spPr>
          <a:xfrm>
            <a:off x="743712" y="1442440"/>
            <a:ext cx="10194280" cy="17056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curl -N -u "$CURSOR_ADMIN_API_KEY:"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".../analytics/export/csv?startDate=$START&amp;endDate=$END&amp;type=commits"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-o cursor_commits_export.csv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head -10 cursor_commits_export.csv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"/>
          <p:cNvSpPr txBox="1"/>
          <p:nvPr/>
        </p:nvSpPr>
        <p:spPr>
          <a:xfrm>
            <a:off x="743712" y="850000"/>
            <a:ext cx="56822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10.2 — BI Integration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747720" y="1442440"/>
            <a:ext cx="1034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Python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1849680" y="2282840"/>
            <a:ext cx="316800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stream_to_dataframe()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743712" y="1862640"/>
            <a:ext cx="3168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→ pandas DataFrame: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747720" y="4118320"/>
            <a:ext cx="7793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Upload to Metabase, PowerBI, or Tableau via CSV import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743712" y="4538520"/>
            <a:ext cx="10504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Streamed CSV · loaded into DataFrame · created BI-ready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 txBox="1"/>
          <p:nvPr/>
        </p:nvSpPr>
        <p:spPr>
          <a:xfrm>
            <a:off x="747720" y="4958720"/>
            <a:ext cx="542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files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10 — AI Code Tracking and Reporting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TextBox 329"/>
          <p:cNvSpPr txBox="1"/>
          <p:nvPr/>
        </p:nvSpPr>
        <p:spPr>
          <a:xfrm>
            <a:off x="923760" y="2637520"/>
            <a:ext cx="4570720" cy="14008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export_for_bi():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bi_commits.csv   # commit data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bi_events.csv    # event data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bi_usage.csv     # usage data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"/>
          <p:cNvSpPr txBox="1"/>
          <p:nvPr/>
        </p:nvSpPr>
        <p:spPr>
          <a:xfrm>
            <a:off x="4699560" y="2663840"/>
            <a:ext cx="279288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10.3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3672840" y="3331520"/>
            <a:ext cx="48463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Granular AI Change Events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3792000" y="3853960"/>
            <a:ext cx="4608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3 min · Exercise · 4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10 — AI Code Tracking and Reporting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"/>
          <p:cNvSpPr txBox="1"/>
          <p:nvPr/>
        </p:nvSpPr>
        <p:spPr>
          <a:xfrm>
            <a:off x="743712" y="850000"/>
            <a:ext cx="25542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Key Endpoint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816120" y="1442440"/>
            <a:ext cx="452556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GET /v1/admin/analytics/events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747720" y="1797120"/>
            <a:ext cx="2525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Tracks per event: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1357200" y="2217320"/>
            <a:ext cx="53204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File, line range, model used, timestamp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1357200" y="2637520"/>
            <a:ext cx="41176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User, accepted/rejected status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 txBox="1"/>
          <p:nvPr/>
        </p:nvSpPr>
        <p:spPr>
          <a:xfrm>
            <a:off x="1090440" y="3057720"/>
            <a:ext cx="6248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"Essential for SOC2, ISO, and internal audits."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10 — AI Code Tracking and Reporting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"/>
          <p:cNvSpPr txBox="1"/>
          <p:nvPr/>
        </p:nvSpPr>
        <p:spPr>
          <a:xfrm>
            <a:off x="743712" y="850000"/>
            <a:ext cx="56836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10.3 — Query Events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 txBox="1"/>
          <p:nvPr/>
        </p:nvSpPr>
        <p:spPr>
          <a:xfrm>
            <a:off x="743712" y="2618440"/>
            <a:ext cx="97426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Acceptance rate by model: group events → total vs. accepted per model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10 — AI Code Tracking and Reporting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TextBox 367"/>
          <p:cNvSpPr txBox="1"/>
          <p:nvPr/>
        </p:nvSpPr>
        <p:spPr>
          <a:xfrm>
            <a:off x="743712" y="1442440"/>
            <a:ext cx="10972800" cy="1096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curl -s -u "$CURSOR_ADMIN_API_KEY:"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".../analytics/events?startDate=$START&amp;endDate=$END&amp;limit=100"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| jq '.events[] | {user: .user.email, file: .filePath, model: .modelId, accepted: .accepted}'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"/>
          <p:cNvSpPr txBox="1"/>
          <p:nvPr/>
        </p:nvSpPr>
        <p:spPr>
          <a:xfrm>
            <a:off x="743712" y="850000"/>
            <a:ext cx="67615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10.3 — Compliance Report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816120" y="1862640"/>
            <a:ext cx="422388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generate_compliance_report()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743712" y="1442440"/>
            <a:ext cx="2237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for last 90 days: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 txBox="1"/>
          <p:nvPr/>
        </p:nvSpPr>
        <p:spPr>
          <a:xfrm>
            <a:off x="1357200" y="2217320"/>
            <a:ext cx="44733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Acceptance rate by model (table)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1357200" y="2637520"/>
            <a:ext cx="6641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Top 10 files with most AI changes (needs review)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1357200" y="3057720"/>
            <a:ext cx="966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Export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 txBox="1"/>
          <p:nvPr/>
        </p:nvSpPr>
        <p:spPr>
          <a:xfrm>
            <a:off x="2391480" y="3898120"/>
            <a:ext cx="316800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compliance_export.csv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743712" y="3477920"/>
            <a:ext cx="1694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for auditors: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743712" y="4252800"/>
            <a:ext cx="8607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timestamp, user_email, model_id, file_path, line_start, line_end,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 txBox="1"/>
          <p:nvPr/>
        </p:nvSpPr>
        <p:spPr>
          <a:xfrm>
            <a:off x="1967040" y="4673000"/>
            <a:ext cx="12376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accepted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743712" y="5093200"/>
            <a:ext cx="9098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Retrieved events · calculated acceptance rates ·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747720" y="5513400"/>
            <a:ext cx="2474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compliance export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10 — AI Code Tracking and Reporting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"/>
          <p:cNvSpPr txBox="1"/>
          <p:nvPr/>
        </p:nvSpPr>
        <p:spPr>
          <a:xfrm>
            <a:off x="4699560" y="2663840"/>
            <a:ext cx="279288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10.4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3100260" y="3331520"/>
            <a:ext cx="59914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Reporting Dashboard Architecture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 txBox="1"/>
          <p:nvPr/>
        </p:nvSpPr>
        <p:spPr>
          <a:xfrm>
            <a:off x="3571680" y="3853960"/>
            <a:ext cx="5048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4 min · Take-Home Project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10 — AI Code Tracking and Reporting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"/>
          <p:cNvSpPr txBox="1"/>
          <p:nvPr/>
        </p:nvSpPr>
        <p:spPr>
          <a:xfrm>
            <a:off x="743712" y="850000"/>
            <a:ext cx="46018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Dashboard Components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10 — AI Code Tracking and Reporting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507" name="Table 506"/>
          <p:cNvGraphicFramePr>
            <a:graphicFrameLocks noGrp="1"/>
          </p:cNvGraphicFramePr>
          <p:nvPr/>
        </p:nvGraphicFramePr>
        <p:xfrm>
          <a:off x="743712" y="1442440"/>
          <a:ext cx="6702720" cy="249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9760"/>
                <a:gridCol w="1629720"/>
                <a:gridCol w="312324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Component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Data Source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Usage Overview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Usage API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Cost, tokens, active users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AI Contribution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Commits API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ROI, adoption metrics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Model Performance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Events API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Acceptance rates, efficiency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Team Activity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Members API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Onboarding, licensing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Compliance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Events + Audit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Audit trail, security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"/>
          <p:cNvSpPr txBox="1"/>
          <p:nvPr/>
        </p:nvSpPr>
        <p:spPr>
          <a:xfrm>
            <a:off x="743712" y="850000"/>
            <a:ext cx="62539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Take-Home: Streamlit Dashboard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 txBox="1"/>
          <p:nvPr/>
        </p:nvSpPr>
        <p:spPr>
          <a:xfrm>
            <a:off x="747720" y="1442440"/>
            <a:ext cx="1356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Run with: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 txBox="1"/>
          <p:nvPr/>
        </p:nvSpPr>
        <p:spPr>
          <a:xfrm>
            <a:off x="2171520" y="1862640"/>
            <a:ext cx="49777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streamlit run cursor_dashboard.py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 txBox="1"/>
          <p:nvPr/>
        </p:nvSpPr>
        <p:spPr>
          <a:xfrm>
            <a:off x="747720" y="2217320"/>
            <a:ext cx="13219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 panels: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1018440" y="2637520"/>
            <a:ext cx="7369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Executive Summary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cost, DAU, AI %, team size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 txBox="1"/>
          <p:nvPr/>
        </p:nvSpPr>
        <p:spPr>
          <a:xfrm>
            <a:off x="1018440" y="3057720"/>
            <a:ext cx="7572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Usage Analytics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daily cost trend (Plotly line chart)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 txBox="1"/>
          <p:nvPr/>
        </p:nvSpPr>
        <p:spPr>
          <a:xfrm>
            <a:off x="743712" y="3477920"/>
            <a:ext cx="9241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AI Code Impact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AI vs human bar chart + acceptance by model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 txBox="1"/>
          <p:nvPr/>
        </p:nvSpPr>
        <p:spPr>
          <a:xfrm>
            <a:off x="1018440" y="3898120"/>
            <a:ext cx="5420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Team Management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member table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 txBox="1"/>
          <p:nvPr/>
        </p:nvSpPr>
        <p:spPr>
          <a:xfrm>
            <a:off x="1018440" y="4318320"/>
            <a:ext cx="6590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Compliance Export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download events CSV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10 — AI Code Tracking and Reporting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"/>
          <p:cNvSpPr txBox="1"/>
          <p:nvPr/>
        </p:nvSpPr>
        <p:spPr>
          <a:xfrm>
            <a:off x="743712" y="850000"/>
            <a:ext cx="37890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Project Deliverables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 txBox="1"/>
          <p:nvPr/>
        </p:nvSpPr>
        <p:spPr>
          <a:xfrm>
            <a:off x="743712" y="3879840"/>
            <a:ext cx="10638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Bonus: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cost alerts · spend limit UI · model A/B comparison · cloud deployment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10 — AI Code Tracking and Reporting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588" name="Table 587"/>
          <p:cNvGraphicFramePr>
            <a:graphicFrameLocks noGrp="1"/>
          </p:cNvGraphicFramePr>
          <p:nvPr/>
        </p:nvGraphicFramePr>
        <p:xfrm>
          <a:off x="743712" y="1442440"/>
          <a:ext cx="6779880" cy="23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9760"/>
                <a:gridCol w="48301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Deliverable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Working dashboard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Streamlit, Metabase, or custom frontend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Documentation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Setup instructions and data source descriptions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One insight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Key finding from your team's data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Export script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Automated CSV export for compliance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"/>
          <p:cNvSpPr txBox="1"/>
          <p:nvPr/>
        </p:nvSpPr>
        <p:spPr>
          <a:xfrm>
            <a:off x="743712" y="850000"/>
            <a:ext cx="33033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Summary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10 — AI Code Tracking and Reporting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678" name="Table 677"/>
          <p:cNvGraphicFramePr>
            <a:graphicFrameLocks noGrp="1"/>
          </p:cNvGraphicFramePr>
          <p:nvPr/>
        </p:nvGraphicFramePr>
        <p:xfrm>
          <a:off x="743712" y="1442440"/>
          <a:ext cx="5529240" cy="20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280"/>
                <a:gridCol w="2483160"/>
                <a:gridCol w="226980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Lesson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Topic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Key Skill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10.1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AI Commit Metrics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ROI calculation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10.2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Bulk Export via CSV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BI integration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10.3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Granular Change Events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Compliance reporting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10.4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Dashboard Architecture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Complete dashboard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"/>
          <p:cNvSpPr txBox="1"/>
          <p:nvPr/>
        </p:nvSpPr>
        <p:spPr>
          <a:xfrm>
            <a:off x="743712" y="850000"/>
            <a:ext cx="41410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Quick Reference Card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10 — AI Code Tracking and Reporting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6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7" name="TextBox 696"/>
          <p:cNvSpPr txBox="1"/>
          <p:nvPr/>
        </p:nvSpPr>
        <p:spPr>
          <a:xfrm>
            <a:off x="923760" y="1442440"/>
            <a:ext cx="7588240" cy="3839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ENDPOINTS: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GET /admin/analytics/commits      AI per commit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GET /admin/analytics/export/csv   Bulk CSV export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GET /admin/analytics/events       Granular events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KEY METRICS: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Adoption:  DAU / total team size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ROI:       (Hours saved × rate) - AI cost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Quality:   Acceptance rate by model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Compliance: Complete change audit trail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DEPLOY:  Streamlit · Metabase · PowerBI · Custom React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"/>
          <p:cNvSpPr txBox="1"/>
          <p:nvPr/>
        </p:nvSpPr>
        <p:spPr>
          <a:xfrm>
            <a:off x="743712" y="850000"/>
            <a:ext cx="403848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Course Complete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"/>
          <p:cNvSpPr txBox="1"/>
          <p:nvPr/>
        </p:nvSpPr>
        <p:spPr>
          <a:xfrm>
            <a:off x="743712" y="1567680"/>
            <a:ext cx="6012360" cy="38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— Day 2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"/>
          <p:cNvSpPr txBox="1"/>
          <p:nvPr/>
        </p:nvSpPr>
        <p:spPr>
          <a:xfrm>
            <a:off x="747720" y="2032480"/>
            <a:ext cx="1981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You can now: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5" name=""/>
          <p:cNvSpPr txBox="1"/>
          <p:nvPr/>
        </p:nvSpPr>
        <p:spPr>
          <a:xfrm>
            <a:off x="1357200" y="2452680"/>
            <a:ext cx="7014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Create and manage Cloud Agents programmatically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"/>
          <p:cNvSpPr txBox="1"/>
          <p:nvPr/>
        </p:nvSpPr>
        <p:spPr>
          <a:xfrm>
            <a:off x="743712" y="2872880"/>
            <a:ext cx="9504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Stream agent responses with SSE · Webhooks with HMAC verification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"/>
          <p:cNvSpPr txBox="1"/>
          <p:nvPr/>
        </p:nvSpPr>
        <p:spPr>
          <a:xfrm>
            <a:off x="1357200" y="3293080"/>
            <a:ext cx="6472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Administer teams and enforce spending policies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"/>
          <p:cNvSpPr txBox="1"/>
          <p:nvPr/>
        </p:nvSpPr>
        <p:spPr>
          <a:xfrm>
            <a:off x="1357200" y="3713280"/>
            <a:ext cx="69649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Analyze usage, model adoption, and AI contribution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"/>
          <p:cNvSpPr txBox="1"/>
          <p:nvPr/>
        </p:nvSpPr>
        <p:spPr>
          <a:xfrm>
            <a:off x="1357200" y="4133480"/>
            <a:ext cx="6201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Track AI vs. human code changes per commit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"/>
          <p:cNvSpPr txBox="1"/>
          <p:nvPr/>
        </p:nvSpPr>
        <p:spPr>
          <a:xfrm>
            <a:off x="1357200" y="4553680"/>
            <a:ext cx="5575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Build reporting dashboards for leadership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5" name=""/>
          <p:cNvSpPr txBox="1"/>
          <p:nvPr/>
        </p:nvSpPr>
        <p:spPr>
          <a:xfrm>
            <a:off x="743712" y="4973880"/>
            <a:ext cx="9928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Next steps: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Complete take-home dashboard · set up scheduled exports ·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6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10 — AI Code Tracking and Reporting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7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LibreOffice/26.2.3.2$Windows_X86_64 LibreOffice_project/70e089b17412e4cb7773e41413306b17a2328c34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